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59"/>
  </p:notesMasterIdLst>
  <p:handoutMasterIdLst>
    <p:handoutMasterId r:id="rId60"/>
  </p:handoutMasterIdLst>
  <p:sldIdLst>
    <p:sldId id="256" r:id="rId2"/>
    <p:sldId id="295" r:id="rId3"/>
    <p:sldId id="267" r:id="rId4"/>
    <p:sldId id="268" r:id="rId5"/>
    <p:sldId id="329" r:id="rId6"/>
    <p:sldId id="328" r:id="rId7"/>
    <p:sldId id="257" r:id="rId8"/>
    <p:sldId id="296" r:id="rId9"/>
    <p:sldId id="297" r:id="rId10"/>
    <p:sldId id="298" r:id="rId11"/>
    <p:sldId id="258" r:id="rId12"/>
    <p:sldId id="299" r:id="rId13"/>
    <p:sldId id="303" r:id="rId14"/>
    <p:sldId id="304" r:id="rId15"/>
    <p:sldId id="305" r:id="rId16"/>
    <p:sldId id="330" r:id="rId17"/>
    <p:sldId id="300" r:id="rId18"/>
    <p:sldId id="306" r:id="rId19"/>
    <p:sldId id="307" r:id="rId20"/>
    <p:sldId id="308" r:id="rId21"/>
    <p:sldId id="309" r:id="rId22"/>
    <p:sldId id="301" r:id="rId23"/>
    <p:sldId id="311" r:id="rId24"/>
    <p:sldId id="310" r:id="rId25"/>
    <p:sldId id="331" r:id="rId26"/>
    <p:sldId id="335" r:id="rId27"/>
    <p:sldId id="284" r:id="rId28"/>
    <p:sldId id="285" r:id="rId29"/>
    <p:sldId id="286" r:id="rId30"/>
    <p:sldId id="287" r:id="rId31"/>
    <p:sldId id="315" r:id="rId32"/>
    <p:sldId id="259" r:id="rId33"/>
    <p:sldId id="316" r:id="rId34"/>
    <p:sldId id="334" r:id="rId35"/>
    <p:sldId id="292" r:id="rId36"/>
    <p:sldId id="302" r:id="rId37"/>
    <p:sldId id="317" r:id="rId38"/>
    <p:sldId id="260" r:id="rId39"/>
    <p:sldId id="261" r:id="rId40"/>
    <p:sldId id="318" r:id="rId41"/>
    <p:sldId id="319" r:id="rId42"/>
    <p:sldId id="320" r:id="rId43"/>
    <p:sldId id="321" r:id="rId44"/>
    <p:sldId id="262" r:id="rId45"/>
    <p:sldId id="323" r:id="rId46"/>
    <p:sldId id="324" r:id="rId47"/>
    <p:sldId id="322" r:id="rId48"/>
    <p:sldId id="263" r:id="rId49"/>
    <p:sldId id="325" r:id="rId50"/>
    <p:sldId id="326" r:id="rId51"/>
    <p:sldId id="327" r:id="rId52"/>
    <p:sldId id="339" r:id="rId53"/>
    <p:sldId id="337" r:id="rId54"/>
    <p:sldId id="336" r:id="rId55"/>
    <p:sldId id="338" r:id="rId56"/>
    <p:sldId id="332" r:id="rId57"/>
    <p:sldId id="333" r:id="rId5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7/28/2026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7/28/2026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tr-TR"/>
              <a:t>Bölüm 1 Giriş</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tr-TR"/>
              <a:t>Bölüm 1 Giriş</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tr-TR" dirty="0"/>
              <a:t>Bölüm 1 - Giriş</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2" name="Footer Placeholder 1"/>
          <p:cNvSpPr>
            <a:spLocks noGrp="1"/>
          </p:cNvSpPr>
          <p:nvPr>
            <p:ph type="ftr" sz="quarter" idx="10"/>
          </p:nvPr>
        </p:nvSpPr>
        <p:spPr/>
        <p:txBody>
          <a:bodyPr/>
          <a:lstStyle/>
          <a:p>
            <a:r>
              <a:rPr lang="tr-TR"/>
              <a:t>Bölüm 1 Giriş</a:t>
            </a:r>
            <a:endParaRPr lang="en-US" dirty="0"/>
          </a:p>
        </p:txBody>
      </p:sp>
      <p:sp>
        <p:nvSpPr>
          <p:cNvPr id="4" name="Date Placeholder 3"/>
          <p:cNvSpPr>
            <a:spLocks noGrp="1"/>
          </p:cNvSpPr>
          <p:nvPr>
            <p:ph type="dt" sz="half" idx="11"/>
          </p:nvPr>
        </p:nvSpPr>
        <p:spPr/>
        <p:txBody>
          <a:bodyPr/>
          <a:lstStyle/>
          <a:p>
            <a:r>
              <a:rPr lang="en-GB"/>
              <a:t>30/10/2014</a:t>
            </a:r>
            <a:endParaRPr lang="en-US"/>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Ele alınan konular</a:t>
            </a:r>
          </a:p>
        </p:txBody>
      </p:sp>
      <p:sp>
        <p:nvSpPr>
          <p:cNvPr id="3" name="Content Placeholder 2"/>
          <p:cNvSpPr>
            <a:spLocks noGrp="1"/>
          </p:cNvSpPr>
          <p:nvPr>
            <p:ph idx="1"/>
          </p:nvPr>
        </p:nvSpPr>
        <p:spPr/>
        <p:txBody>
          <a:bodyPr/>
          <a:lstStyle/>
          <a:p>
            <a:r>
              <a:rPr lang="en-US" dirty="0" err="1"/>
              <a:t>Profesyonel</a:t>
            </a:r>
            <a:r>
              <a:rPr lang="en-US" dirty="0"/>
              <a:t> </a:t>
            </a:r>
            <a:r>
              <a:rPr lang="en-US" dirty="0" err="1"/>
              <a:t>yazılım</a:t>
            </a:r>
            <a:r>
              <a:rPr lang="en-US" dirty="0"/>
              <a:t> </a:t>
            </a:r>
            <a:r>
              <a:rPr lang="en-US" dirty="0" err="1"/>
              <a:t>geliştirme</a:t>
            </a:r>
            <a:endParaRPr lang="en-US" dirty="0"/>
          </a:p>
          <a:p>
            <a:pPr lvl="1"/>
            <a:r>
              <a:rPr lang="en-US" dirty="0" err="1"/>
              <a:t>Yazılım</a:t>
            </a:r>
            <a:r>
              <a:rPr lang="en-US" dirty="0"/>
              <a:t> </a:t>
            </a:r>
            <a:r>
              <a:rPr lang="en-US" dirty="0" err="1"/>
              <a:t>mühendisliği</a:t>
            </a:r>
            <a:r>
              <a:rPr lang="en-US" dirty="0"/>
              <a:t> </a:t>
            </a:r>
            <a:r>
              <a:rPr lang="en-US" dirty="0" err="1"/>
              <a:t>ile</a:t>
            </a:r>
            <a:r>
              <a:rPr lang="en-US" dirty="0"/>
              <a:t> ne </a:t>
            </a:r>
            <a:r>
              <a:rPr lang="en-US" dirty="0" err="1"/>
              <a:t>kastedildiği</a:t>
            </a:r>
            <a:r>
              <a:rPr lang="en-US" dirty="0"/>
              <a:t>.</a:t>
            </a:r>
          </a:p>
          <a:p>
            <a:r>
              <a:rPr lang="en-US" dirty="0" err="1"/>
              <a:t>Yazılım</a:t>
            </a:r>
            <a:r>
              <a:rPr lang="en-US" dirty="0"/>
              <a:t> </a:t>
            </a:r>
            <a:r>
              <a:rPr lang="en-US" dirty="0" err="1"/>
              <a:t>mühendisliği</a:t>
            </a:r>
            <a:r>
              <a:rPr lang="en-US" dirty="0"/>
              <a:t> </a:t>
            </a:r>
            <a:r>
              <a:rPr lang="en-US" dirty="0" err="1"/>
              <a:t>etiği</a:t>
            </a:r>
            <a:endParaRPr lang="en-US" dirty="0"/>
          </a:p>
          <a:p>
            <a:pPr lvl="1"/>
            <a:r>
              <a:rPr lang="en-US" dirty="0" err="1"/>
              <a:t>Yazılım</a:t>
            </a:r>
            <a:r>
              <a:rPr lang="en-US" dirty="0"/>
              <a:t> </a:t>
            </a:r>
            <a:r>
              <a:rPr lang="en-US" dirty="0" err="1"/>
              <a:t>mühendisliğini</a:t>
            </a:r>
            <a:r>
              <a:rPr lang="en-US" dirty="0"/>
              <a:t> </a:t>
            </a:r>
            <a:r>
              <a:rPr lang="en-US" dirty="0" err="1"/>
              <a:t>etkileyen</a:t>
            </a:r>
            <a:r>
              <a:rPr lang="en-US" dirty="0"/>
              <a:t> </a:t>
            </a:r>
            <a:r>
              <a:rPr lang="en-US" dirty="0" err="1"/>
              <a:t>etik</a:t>
            </a:r>
            <a:r>
              <a:rPr lang="en-US" dirty="0"/>
              <a:t> </a:t>
            </a:r>
            <a:r>
              <a:rPr lang="en-US" dirty="0" err="1"/>
              <a:t>sorunlara</a:t>
            </a:r>
            <a:r>
              <a:rPr lang="en-US" dirty="0"/>
              <a:t> </a:t>
            </a:r>
            <a:r>
              <a:rPr lang="en-US" dirty="0" err="1"/>
              <a:t>kısa</a:t>
            </a:r>
            <a:r>
              <a:rPr lang="en-US" dirty="0"/>
              <a:t> </a:t>
            </a:r>
            <a:r>
              <a:rPr lang="en-US" dirty="0" err="1"/>
              <a:t>bir</a:t>
            </a:r>
            <a:r>
              <a:rPr lang="en-US" dirty="0"/>
              <a:t> </a:t>
            </a:r>
            <a:r>
              <a:rPr lang="en-US" dirty="0" err="1"/>
              <a:t>giriş</a:t>
            </a:r>
            <a:r>
              <a:rPr lang="en-US" dirty="0"/>
              <a:t>.</a:t>
            </a:r>
          </a:p>
          <a:p>
            <a:r>
              <a:rPr lang="tr-TR" dirty="0"/>
              <a:t>Vaka çalışmaları:</a:t>
            </a:r>
            <a:endParaRPr lang="en-US" dirty="0"/>
          </a:p>
          <a:p>
            <a:pPr lvl="1"/>
            <a:r>
              <a:rPr lang="en-US" dirty="0" err="1"/>
              <a:t>Kitabın</a:t>
            </a:r>
            <a:r>
              <a:rPr lang="en-US" dirty="0"/>
              <a:t> </a:t>
            </a:r>
            <a:r>
              <a:rPr lang="en-US" dirty="0" err="1"/>
              <a:t>ileriki</a:t>
            </a:r>
            <a:r>
              <a:rPr lang="en-US" dirty="0"/>
              <a:t> </a:t>
            </a:r>
            <a:r>
              <a:rPr lang="en-US" dirty="0" err="1"/>
              <a:t>bölümlerinde</a:t>
            </a:r>
            <a:r>
              <a:rPr lang="en-US" dirty="0"/>
              <a:t> </a:t>
            </a:r>
            <a:r>
              <a:rPr lang="en-US" dirty="0" err="1"/>
              <a:t>kullanılan</a:t>
            </a:r>
            <a:r>
              <a:rPr lang="en-US" dirty="0"/>
              <a:t> </a:t>
            </a:r>
            <a:r>
              <a:rPr lang="en-US" dirty="0" err="1"/>
              <a:t>üç</a:t>
            </a:r>
            <a:r>
              <a:rPr lang="en-US" dirty="0"/>
              <a:t> </a:t>
            </a:r>
            <a:r>
              <a:rPr lang="en-US" dirty="0" err="1"/>
              <a:t>örneğe</a:t>
            </a:r>
            <a:r>
              <a:rPr lang="en-US" dirty="0"/>
              <a:t> </a:t>
            </a:r>
            <a:r>
              <a:rPr lang="en-US" dirty="0" err="1"/>
              <a:t>giriş</a:t>
            </a:r>
            <a:r>
              <a:rPr lang="en-US" dirty="0"/>
              <a:t>.</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tr-TR" dirty="0"/>
              <a:t>Yazılım mühendisliği</a:t>
            </a:r>
          </a:p>
        </p:txBody>
      </p:sp>
      <p:sp>
        <p:nvSpPr>
          <p:cNvPr id="64517" name="Rectangle 5"/>
          <p:cNvSpPr>
            <a:spLocks noGrp="1" noChangeArrowheads="1"/>
          </p:cNvSpPr>
          <p:nvPr>
            <p:ph idx="1"/>
          </p:nvPr>
        </p:nvSpPr>
        <p:spPr/>
        <p:txBody>
          <a:bodyPr/>
          <a:lstStyle/>
          <a:p>
            <a:r>
              <a:rPr lang="en-GB" dirty="0"/>
              <a:t>TÜM </a:t>
            </a:r>
            <a:r>
              <a:rPr lang="en-GB" dirty="0" err="1"/>
              <a:t>gelişmiş</a:t>
            </a:r>
            <a:r>
              <a:rPr lang="en-GB" dirty="0"/>
              <a:t> </a:t>
            </a:r>
            <a:r>
              <a:rPr lang="en-GB" dirty="0" err="1"/>
              <a:t>ülkelerin</a:t>
            </a:r>
            <a:r>
              <a:rPr lang="en-GB" dirty="0"/>
              <a:t> </a:t>
            </a:r>
            <a:r>
              <a:rPr lang="en-GB" dirty="0" err="1"/>
              <a:t>ekonomileri</a:t>
            </a:r>
            <a:r>
              <a:rPr lang="en-GB" dirty="0"/>
              <a:t> </a:t>
            </a:r>
            <a:r>
              <a:rPr lang="en-GB" dirty="0" err="1"/>
              <a:t>yazılıma</a:t>
            </a:r>
            <a:r>
              <a:rPr lang="en-GB" dirty="0"/>
              <a:t> </a:t>
            </a:r>
            <a:r>
              <a:rPr lang="en-GB" dirty="0" err="1"/>
              <a:t>bağımlıdır</a:t>
            </a:r>
            <a:endParaRPr lang="en-GB" dirty="0"/>
          </a:p>
          <a:p>
            <a:r>
              <a:rPr lang="tr-TR" dirty="0"/>
              <a:t>Giderek daha fazla sistem yazılım kontrollü hale gelmektedir</a:t>
            </a:r>
            <a:endParaRPr lang="en-GB" dirty="0"/>
          </a:p>
          <a:p>
            <a:r>
              <a:rPr lang="en-GB" dirty="0" err="1"/>
              <a:t>Yazılım</a:t>
            </a:r>
            <a:r>
              <a:rPr lang="en-GB" dirty="0"/>
              <a:t> </a:t>
            </a:r>
            <a:r>
              <a:rPr lang="en-GB" dirty="0" err="1"/>
              <a:t>mühendisliği</a:t>
            </a:r>
            <a:r>
              <a:rPr lang="en-GB" dirty="0"/>
              <a:t>, </a:t>
            </a:r>
            <a:r>
              <a:rPr lang="en-GB" dirty="0" err="1"/>
              <a:t>profesyonel</a:t>
            </a:r>
            <a:r>
              <a:rPr lang="en-GB" dirty="0"/>
              <a:t> </a:t>
            </a:r>
            <a:r>
              <a:rPr lang="en-GB" dirty="0" err="1"/>
              <a:t>yazılım</a:t>
            </a:r>
            <a:r>
              <a:rPr lang="en-GB" dirty="0"/>
              <a:t> </a:t>
            </a:r>
            <a:r>
              <a:rPr lang="en-GB" dirty="0" err="1"/>
              <a:t>geliştirmeye</a:t>
            </a:r>
            <a:r>
              <a:rPr lang="en-GB" dirty="0"/>
              <a:t> </a:t>
            </a:r>
            <a:r>
              <a:rPr lang="en-GB" dirty="0" err="1"/>
              <a:t>yönelik</a:t>
            </a:r>
            <a:r>
              <a:rPr lang="en-GB" dirty="0"/>
              <a:t> </a:t>
            </a:r>
            <a:r>
              <a:rPr lang="en-GB" dirty="0" err="1"/>
              <a:t>teoriler</a:t>
            </a:r>
            <a:r>
              <a:rPr lang="en-GB" dirty="0"/>
              <a:t>, </a:t>
            </a:r>
            <a:r>
              <a:rPr lang="en-GB" dirty="0" err="1"/>
              <a:t>yöntemler</a:t>
            </a:r>
            <a:r>
              <a:rPr lang="en-GB" dirty="0"/>
              <a:t> </a:t>
            </a:r>
            <a:r>
              <a:rPr lang="en-GB" dirty="0" err="1"/>
              <a:t>ve</a:t>
            </a:r>
            <a:r>
              <a:rPr lang="en-GB" dirty="0"/>
              <a:t> </a:t>
            </a:r>
            <a:r>
              <a:rPr lang="en-GB" dirty="0" err="1"/>
              <a:t>araçlarla</a:t>
            </a:r>
            <a:r>
              <a:rPr lang="en-GB" dirty="0"/>
              <a:t> </a:t>
            </a:r>
            <a:r>
              <a:rPr lang="en-GB" dirty="0" err="1"/>
              <a:t>ilgilenir</a:t>
            </a:r>
            <a:endParaRPr lang="en-GB" dirty="0"/>
          </a:p>
          <a:p>
            <a:r>
              <a:rPr lang="en-GB" dirty="0" err="1"/>
              <a:t>Yazılıma</a:t>
            </a:r>
            <a:r>
              <a:rPr lang="en-GB" dirty="0"/>
              <a:t> </a:t>
            </a:r>
            <a:r>
              <a:rPr lang="en-GB" dirty="0" err="1"/>
              <a:t>yapılan</a:t>
            </a:r>
            <a:r>
              <a:rPr lang="en-GB" dirty="0"/>
              <a:t> </a:t>
            </a:r>
            <a:r>
              <a:rPr lang="en-GB" dirty="0" err="1"/>
              <a:t>harcamalar</a:t>
            </a:r>
            <a:r>
              <a:rPr lang="en-GB" dirty="0"/>
              <a:t>, </a:t>
            </a:r>
            <a:r>
              <a:rPr lang="en-GB" dirty="0" err="1"/>
              <a:t>tüm</a:t>
            </a:r>
            <a:r>
              <a:rPr lang="en-GB" dirty="0"/>
              <a:t> </a:t>
            </a:r>
            <a:r>
              <a:rPr lang="en-GB" dirty="0" err="1"/>
              <a:t>gelişmiş</a:t>
            </a:r>
            <a:r>
              <a:rPr lang="en-GB" dirty="0"/>
              <a:t> </a:t>
            </a:r>
            <a:r>
              <a:rPr lang="en-GB" dirty="0" err="1"/>
              <a:t>ülkelerde</a:t>
            </a:r>
            <a:r>
              <a:rPr lang="en-GB" dirty="0"/>
              <a:t> </a:t>
            </a:r>
            <a:r>
              <a:rPr lang="en-GB" dirty="0" err="1"/>
              <a:t>Gayrisafi</a:t>
            </a:r>
            <a:r>
              <a:rPr lang="en-GB" dirty="0"/>
              <a:t> Milli </a:t>
            </a:r>
            <a:r>
              <a:rPr lang="en-GB" dirty="0" err="1"/>
              <a:t>Hasıla'nın</a:t>
            </a:r>
            <a:r>
              <a:rPr lang="en-GB" dirty="0"/>
              <a:t> (GSMH) </a:t>
            </a:r>
            <a:r>
              <a:rPr lang="en-GB" dirty="0" err="1"/>
              <a:t>önemli</a:t>
            </a:r>
            <a:r>
              <a:rPr lang="en-GB" dirty="0"/>
              <a:t> </a:t>
            </a:r>
            <a:r>
              <a:rPr lang="en-GB" dirty="0" err="1"/>
              <a:t>bir</a:t>
            </a:r>
            <a:r>
              <a:rPr lang="en-GB" dirty="0"/>
              <a:t> </a:t>
            </a:r>
            <a:r>
              <a:rPr lang="en-GB" dirty="0" err="1"/>
              <a:t>bölümünü</a:t>
            </a:r>
            <a:r>
              <a:rPr lang="en-GB" dirty="0"/>
              <a:t> </a:t>
            </a:r>
            <a:r>
              <a:rPr lang="en-GB" dirty="0" err="1"/>
              <a:t>temsil</a:t>
            </a:r>
            <a:r>
              <a:rPr lang="en-GB" dirty="0"/>
              <a:t> </a:t>
            </a:r>
            <a:r>
              <a:rPr lang="en-GB" dirty="0" err="1"/>
              <a:t>eder</a:t>
            </a:r>
            <a:endParaRPr lang="en-GB" dirty="0"/>
          </a:p>
        </p:txBody>
      </p:sp>
      <p:sp>
        <p:nvSpPr>
          <p:cNvPr id="5" name="Footer Placeholder 4"/>
          <p:cNvSpPr>
            <a:spLocks noGrp="1"/>
          </p:cNvSpPr>
          <p:nvPr>
            <p:ph type="ftr" sz="quarter" idx="10"/>
          </p:nvPr>
        </p:nvSpPr>
        <p:spPr/>
        <p:txBody>
          <a:bodyPr/>
          <a:lstStyle/>
          <a:p>
            <a:r>
              <a:rPr lang="tr-TR"/>
              <a:t>Bölüm 1 Giriş</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tr-TR"/>
              <a:t>Yazılım maliyetleri</a:t>
            </a:r>
          </a:p>
        </p:txBody>
      </p:sp>
      <p:sp>
        <p:nvSpPr>
          <p:cNvPr id="66565" name="Rectangle 5"/>
          <p:cNvSpPr>
            <a:spLocks noGrp="1" noChangeArrowheads="1"/>
          </p:cNvSpPr>
          <p:nvPr>
            <p:ph idx="1"/>
          </p:nvPr>
        </p:nvSpPr>
        <p:spPr/>
        <p:txBody>
          <a:bodyPr/>
          <a:lstStyle/>
          <a:p>
            <a:r>
              <a:rPr lang="en-GB" dirty="0" err="1"/>
              <a:t>Yazılım</a:t>
            </a:r>
            <a:r>
              <a:rPr lang="en-GB" dirty="0"/>
              <a:t> </a:t>
            </a:r>
            <a:r>
              <a:rPr lang="en-GB" dirty="0" err="1"/>
              <a:t>maliyetleri</a:t>
            </a:r>
            <a:r>
              <a:rPr lang="en-GB" dirty="0"/>
              <a:t> </a:t>
            </a:r>
            <a:r>
              <a:rPr lang="en-GB" dirty="0" err="1"/>
              <a:t>genellikle</a:t>
            </a:r>
            <a:r>
              <a:rPr lang="en-GB" dirty="0"/>
              <a:t> </a:t>
            </a:r>
            <a:r>
              <a:rPr lang="en-GB" dirty="0" err="1"/>
              <a:t>bilgisayar</a:t>
            </a:r>
            <a:r>
              <a:rPr lang="en-GB" dirty="0"/>
              <a:t> </a:t>
            </a:r>
            <a:r>
              <a:rPr lang="en-GB" dirty="0" err="1"/>
              <a:t>sistemi</a:t>
            </a:r>
            <a:r>
              <a:rPr lang="en-GB" dirty="0"/>
              <a:t> </a:t>
            </a:r>
            <a:r>
              <a:rPr lang="en-GB" dirty="0" err="1"/>
              <a:t>maliyetlerine</a:t>
            </a:r>
            <a:r>
              <a:rPr lang="en-GB" dirty="0"/>
              <a:t> </a:t>
            </a:r>
            <a:r>
              <a:rPr lang="en-GB" dirty="0" err="1"/>
              <a:t>baskın</a:t>
            </a:r>
            <a:r>
              <a:rPr lang="en-GB" dirty="0"/>
              <a:t> </a:t>
            </a:r>
            <a:r>
              <a:rPr lang="en-GB" dirty="0" err="1"/>
              <a:t>çıkar</a:t>
            </a:r>
            <a:r>
              <a:rPr lang="en-GB" dirty="0"/>
              <a:t>. Bir </a:t>
            </a:r>
            <a:r>
              <a:rPr lang="en-GB" dirty="0" err="1"/>
              <a:t>bilgisayardaki</a:t>
            </a:r>
            <a:r>
              <a:rPr lang="en-GB" dirty="0"/>
              <a:t> (PC) </a:t>
            </a:r>
            <a:r>
              <a:rPr lang="en-GB" dirty="0" err="1"/>
              <a:t>yazılımın</a:t>
            </a:r>
            <a:r>
              <a:rPr lang="en-GB" dirty="0"/>
              <a:t> </a:t>
            </a:r>
            <a:r>
              <a:rPr lang="en-GB" dirty="0" err="1"/>
              <a:t>maliyeti</a:t>
            </a:r>
            <a:r>
              <a:rPr lang="en-GB" dirty="0"/>
              <a:t> </a:t>
            </a:r>
            <a:r>
              <a:rPr lang="en-GB" dirty="0" err="1"/>
              <a:t>çoğunlukla</a:t>
            </a:r>
            <a:r>
              <a:rPr lang="en-GB" dirty="0"/>
              <a:t> </a:t>
            </a:r>
            <a:r>
              <a:rPr lang="en-GB" dirty="0" err="1"/>
              <a:t>donanım</a:t>
            </a:r>
            <a:r>
              <a:rPr lang="en-GB" dirty="0"/>
              <a:t> </a:t>
            </a:r>
            <a:r>
              <a:rPr lang="en-GB" dirty="0" err="1"/>
              <a:t>maliyetinden</a:t>
            </a:r>
            <a:r>
              <a:rPr lang="en-GB" dirty="0"/>
              <a:t> </a:t>
            </a:r>
            <a:r>
              <a:rPr lang="en-GB" dirty="0" err="1"/>
              <a:t>daha</a:t>
            </a:r>
            <a:r>
              <a:rPr lang="en-GB" dirty="0"/>
              <a:t> </a:t>
            </a:r>
            <a:r>
              <a:rPr lang="en-GB" dirty="0" err="1"/>
              <a:t>büyüktür</a:t>
            </a:r>
            <a:r>
              <a:rPr lang="en-GB" dirty="0"/>
              <a:t>.</a:t>
            </a:r>
          </a:p>
          <a:p>
            <a:r>
              <a:rPr lang="en-GB" dirty="0" err="1"/>
              <a:t>Yazılımın</a:t>
            </a:r>
            <a:r>
              <a:rPr lang="en-GB" dirty="0"/>
              <a:t> </a:t>
            </a:r>
            <a:r>
              <a:rPr lang="en-GB" dirty="0" err="1"/>
              <a:t>bakımını</a:t>
            </a:r>
            <a:r>
              <a:rPr lang="en-GB" dirty="0"/>
              <a:t> </a:t>
            </a:r>
            <a:r>
              <a:rPr lang="en-GB" dirty="0" err="1"/>
              <a:t>yapmak</a:t>
            </a:r>
            <a:r>
              <a:rPr lang="en-GB" dirty="0"/>
              <a:t>, </a:t>
            </a:r>
            <a:r>
              <a:rPr lang="en-GB" dirty="0" err="1"/>
              <a:t>onu</a:t>
            </a:r>
            <a:r>
              <a:rPr lang="en-GB" dirty="0"/>
              <a:t> </a:t>
            </a:r>
            <a:r>
              <a:rPr lang="en-GB" dirty="0" err="1"/>
              <a:t>geliştirmekten</a:t>
            </a:r>
            <a:r>
              <a:rPr lang="en-GB" dirty="0"/>
              <a:t> </a:t>
            </a:r>
            <a:r>
              <a:rPr lang="en-GB" dirty="0" err="1"/>
              <a:t>daha</a:t>
            </a:r>
            <a:r>
              <a:rPr lang="en-GB" dirty="0"/>
              <a:t> </a:t>
            </a:r>
            <a:r>
              <a:rPr lang="en-GB" dirty="0" err="1"/>
              <a:t>maliyetlidir</a:t>
            </a:r>
            <a:r>
              <a:rPr lang="en-GB" dirty="0"/>
              <a:t>. </a:t>
            </a:r>
            <a:r>
              <a:rPr lang="en-GB" dirty="0" err="1"/>
              <a:t>Uzun</a:t>
            </a:r>
            <a:r>
              <a:rPr lang="en-GB" dirty="0"/>
              <a:t> </a:t>
            </a:r>
            <a:r>
              <a:rPr lang="en-GB" dirty="0" err="1"/>
              <a:t>ömürlü</a:t>
            </a:r>
            <a:r>
              <a:rPr lang="en-GB" dirty="0"/>
              <a:t> </a:t>
            </a:r>
            <a:r>
              <a:rPr lang="en-GB" dirty="0" err="1"/>
              <a:t>sistemlerde</a:t>
            </a:r>
            <a:r>
              <a:rPr lang="en-GB" dirty="0"/>
              <a:t> </a:t>
            </a:r>
            <a:r>
              <a:rPr lang="en-GB" dirty="0" err="1"/>
              <a:t>bakım</a:t>
            </a:r>
            <a:r>
              <a:rPr lang="en-GB" dirty="0"/>
              <a:t> </a:t>
            </a:r>
            <a:r>
              <a:rPr lang="en-GB" dirty="0" err="1"/>
              <a:t>maliyetleri</a:t>
            </a:r>
            <a:r>
              <a:rPr lang="en-GB" dirty="0"/>
              <a:t>, </a:t>
            </a:r>
            <a:r>
              <a:rPr lang="en-GB" dirty="0" err="1"/>
              <a:t>geliştirme</a:t>
            </a:r>
            <a:r>
              <a:rPr lang="en-GB" dirty="0"/>
              <a:t> </a:t>
            </a:r>
            <a:r>
              <a:rPr lang="en-GB" dirty="0" err="1"/>
              <a:t>maliyetlerinin</a:t>
            </a:r>
            <a:r>
              <a:rPr lang="en-GB" dirty="0"/>
              <a:t> </a:t>
            </a:r>
            <a:r>
              <a:rPr lang="en-GB" dirty="0" err="1"/>
              <a:t>birkaç</a:t>
            </a:r>
            <a:r>
              <a:rPr lang="en-GB" dirty="0"/>
              <a:t> </a:t>
            </a:r>
            <a:r>
              <a:rPr lang="en-GB" dirty="0" err="1"/>
              <a:t>katı</a:t>
            </a:r>
            <a:r>
              <a:rPr lang="en-GB" dirty="0"/>
              <a:t> </a:t>
            </a:r>
            <a:r>
              <a:rPr lang="en-GB" dirty="0" err="1"/>
              <a:t>olabilir</a:t>
            </a:r>
            <a:r>
              <a:rPr lang="en-GB" dirty="0"/>
              <a:t>.</a:t>
            </a:r>
          </a:p>
          <a:p>
            <a:r>
              <a:rPr lang="en-GB" dirty="0" err="1"/>
              <a:t>Yazılım</a:t>
            </a:r>
            <a:r>
              <a:rPr lang="en-GB" dirty="0"/>
              <a:t> </a:t>
            </a:r>
            <a:r>
              <a:rPr lang="en-GB" dirty="0" err="1"/>
              <a:t>mühendisliği</a:t>
            </a:r>
            <a:r>
              <a:rPr lang="en-GB" dirty="0"/>
              <a:t>, </a:t>
            </a:r>
            <a:r>
              <a:rPr lang="en-GB" dirty="0" err="1"/>
              <a:t>uygun</a:t>
            </a:r>
            <a:r>
              <a:rPr lang="en-GB" dirty="0"/>
              <a:t> </a:t>
            </a:r>
            <a:r>
              <a:rPr lang="en-GB" dirty="0" err="1"/>
              <a:t>maliyetli</a:t>
            </a:r>
            <a:r>
              <a:rPr lang="en-GB" dirty="0"/>
              <a:t> (</a:t>
            </a:r>
            <a:r>
              <a:rPr lang="en-GB" dirty="0" err="1"/>
              <a:t>maliyet-etkin</a:t>
            </a:r>
            <a:r>
              <a:rPr lang="en-GB" dirty="0"/>
              <a:t>) </a:t>
            </a:r>
            <a:r>
              <a:rPr lang="en-GB" dirty="0" err="1"/>
              <a:t>yazılım</a:t>
            </a:r>
            <a:r>
              <a:rPr lang="en-GB" dirty="0"/>
              <a:t> </a:t>
            </a:r>
            <a:r>
              <a:rPr lang="en-GB" dirty="0" err="1"/>
              <a:t>geliştirme</a:t>
            </a:r>
            <a:r>
              <a:rPr lang="en-GB" dirty="0"/>
              <a:t> </a:t>
            </a:r>
            <a:r>
              <a:rPr lang="en-GB" dirty="0" err="1"/>
              <a:t>ile</a:t>
            </a:r>
            <a:r>
              <a:rPr lang="en-GB" dirty="0"/>
              <a:t> </a:t>
            </a:r>
            <a:r>
              <a:rPr lang="en-GB" dirty="0" err="1"/>
              <a:t>ilgilenir</a:t>
            </a:r>
            <a:r>
              <a:rPr lang="en-GB" dirty="0"/>
              <a:t>.</a:t>
            </a:r>
          </a:p>
        </p:txBody>
      </p:sp>
      <p:sp>
        <p:nvSpPr>
          <p:cNvPr id="5" name="Footer Placeholder 4"/>
          <p:cNvSpPr>
            <a:spLocks noGrp="1"/>
          </p:cNvSpPr>
          <p:nvPr>
            <p:ph type="ftr" sz="quarter" idx="10"/>
          </p:nvPr>
        </p:nvSpPr>
        <p:spPr/>
        <p:txBody>
          <a:bodyPr/>
          <a:lstStyle/>
          <a:p>
            <a:r>
              <a:rPr lang="tr-TR"/>
              <a:t>Bölüm 1 Giriş</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 projelerinin başarısızlığı</a:t>
            </a:r>
          </a:p>
        </p:txBody>
      </p:sp>
      <p:sp>
        <p:nvSpPr>
          <p:cNvPr id="3" name="Content Placeholder 2"/>
          <p:cNvSpPr>
            <a:spLocks noGrp="1"/>
          </p:cNvSpPr>
          <p:nvPr>
            <p:ph idx="1"/>
          </p:nvPr>
        </p:nvSpPr>
        <p:spPr/>
        <p:txBody>
          <a:bodyPr/>
          <a:lstStyle/>
          <a:p>
            <a:pPr algn="just"/>
            <a:r>
              <a:rPr lang="en-GB" sz="1800" dirty="0" err="1"/>
              <a:t>Artan</a:t>
            </a:r>
            <a:r>
              <a:rPr lang="en-GB" sz="1800" dirty="0"/>
              <a:t> </a:t>
            </a:r>
            <a:r>
              <a:rPr lang="en-GB" sz="1800" dirty="0" err="1"/>
              <a:t>sistem</a:t>
            </a:r>
            <a:r>
              <a:rPr lang="en-GB" sz="1800" dirty="0"/>
              <a:t> </a:t>
            </a:r>
            <a:r>
              <a:rPr lang="en-GB" sz="1800" dirty="0" err="1"/>
              <a:t>karmaşıklığı</a:t>
            </a:r>
            <a:r>
              <a:rPr lang="en-GB" sz="1800" dirty="0"/>
              <a:t>:</a:t>
            </a:r>
          </a:p>
          <a:p>
            <a:pPr lvl="1" algn="just"/>
            <a:r>
              <a:rPr lang="en-GB" sz="1800" dirty="0" err="1"/>
              <a:t>Artan</a:t>
            </a:r>
            <a:r>
              <a:rPr lang="en-GB" sz="1800" dirty="0"/>
              <a:t> </a:t>
            </a:r>
            <a:r>
              <a:rPr lang="en-GB" sz="1800" dirty="0" err="1"/>
              <a:t>sistem</a:t>
            </a:r>
            <a:r>
              <a:rPr lang="en-GB" sz="1800" dirty="0"/>
              <a:t> </a:t>
            </a:r>
            <a:r>
              <a:rPr lang="en-GB" sz="1800" dirty="0" err="1"/>
              <a:t>karmaşıklığı</a:t>
            </a:r>
            <a:r>
              <a:rPr lang="en-GB" sz="1800" dirty="0"/>
              <a:t>: Yeni </a:t>
            </a:r>
            <a:r>
              <a:rPr lang="en-GB" sz="1800" dirty="0" err="1"/>
              <a:t>yazılım</a:t>
            </a:r>
            <a:r>
              <a:rPr lang="en-GB" sz="1800" dirty="0"/>
              <a:t> </a:t>
            </a:r>
            <a:r>
              <a:rPr lang="en-GB" sz="1800" dirty="0" err="1"/>
              <a:t>mühendisliği</a:t>
            </a:r>
            <a:r>
              <a:rPr lang="en-GB" sz="1800" dirty="0"/>
              <a:t> </a:t>
            </a:r>
            <a:r>
              <a:rPr lang="en-GB" sz="1800" dirty="0" err="1"/>
              <a:t>teknikleri</a:t>
            </a:r>
            <a:r>
              <a:rPr lang="en-GB" sz="1800" dirty="0"/>
              <a:t> </a:t>
            </a:r>
            <a:r>
              <a:rPr lang="en-GB" sz="1800" dirty="0" err="1"/>
              <a:t>daha</a:t>
            </a:r>
            <a:r>
              <a:rPr lang="en-GB" sz="1800" dirty="0"/>
              <a:t> </a:t>
            </a:r>
            <a:r>
              <a:rPr lang="en-GB" sz="1800" dirty="0" err="1"/>
              <a:t>büyük</a:t>
            </a:r>
            <a:r>
              <a:rPr lang="en-GB" sz="1800" dirty="0"/>
              <a:t>, </a:t>
            </a:r>
            <a:r>
              <a:rPr lang="en-GB" sz="1800" dirty="0" err="1"/>
              <a:t>daha</a:t>
            </a:r>
            <a:r>
              <a:rPr lang="en-GB" sz="1800" dirty="0"/>
              <a:t> </a:t>
            </a:r>
            <a:r>
              <a:rPr lang="en-GB" sz="1800" dirty="0" err="1"/>
              <a:t>karmaşık</a:t>
            </a:r>
            <a:r>
              <a:rPr lang="en-GB" sz="1800" dirty="0"/>
              <a:t> </a:t>
            </a:r>
            <a:r>
              <a:rPr lang="en-GB" sz="1800" dirty="0" err="1"/>
              <a:t>sistemler</a:t>
            </a:r>
            <a:r>
              <a:rPr lang="en-GB" sz="1800" dirty="0"/>
              <a:t> </a:t>
            </a:r>
            <a:r>
              <a:rPr lang="en-GB" sz="1800" dirty="0" err="1"/>
              <a:t>inşa</a:t>
            </a:r>
            <a:r>
              <a:rPr lang="en-GB" sz="1800" dirty="0"/>
              <a:t> </a:t>
            </a:r>
            <a:r>
              <a:rPr lang="en-GB" sz="1800" dirty="0" err="1"/>
              <a:t>etmemize</a:t>
            </a:r>
            <a:r>
              <a:rPr lang="en-GB" sz="1800" dirty="0"/>
              <a:t> </a:t>
            </a:r>
            <a:r>
              <a:rPr lang="en-GB" sz="1800" dirty="0" err="1"/>
              <a:t>yardımcı</a:t>
            </a:r>
            <a:r>
              <a:rPr lang="en-GB" sz="1800" dirty="0"/>
              <a:t> </a:t>
            </a:r>
            <a:r>
              <a:rPr lang="en-GB" sz="1800" dirty="0" err="1"/>
              <a:t>oldukça</a:t>
            </a:r>
            <a:r>
              <a:rPr lang="en-GB" sz="1800" dirty="0"/>
              <a:t> </a:t>
            </a:r>
            <a:r>
              <a:rPr lang="en-GB" sz="1800" dirty="0" err="1"/>
              <a:t>talepler</a:t>
            </a:r>
            <a:r>
              <a:rPr lang="en-GB" sz="1800" dirty="0"/>
              <a:t> de </a:t>
            </a:r>
            <a:r>
              <a:rPr lang="en-GB" sz="1800" dirty="0" err="1"/>
              <a:t>değişir</a:t>
            </a:r>
            <a:r>
              <a:rPr lang="en-GB" sz="1800" dirty="0"/>
              <a:t>. </a:t>
            </a:r>
            <a:r>
              <a:rPr lang="en-GB" sz="1800" dirty="0" err="1"/>
              <a:t>Sistemlerin</a:t>
            </a:r>
            <a:r>
              <a:rPr lang="en-GB" sz="1800" dirty="0"/>
              <a:t> </a:t>
            </a:r>
            <a:r>
              <a:rPr lang="en-GB" sz="1800" dirty="0" err="1"/>
              <a:t>daha</a:t>
            </a:r>
            <a:r>
              <a:rPr lang="en-GB" sz="1800" dirty="0"/>
              <a:t> </a:t>
            </a:r>
            <a:r>
              <a:rPr lang="en-GB" sz="1800" dirty="0" err="1"/>
              <a:t>hızlı</a:t>
            </a:r>
            <a:r>
              <a:rPr lang="en-GB" sz="1800" dirty="0"/>
              <a:t> </a:t>
            </a:r>
            <a:r>
              <a:rPr lang="en-GB" sz="1800" dirty="0" err="1"/>
              <a:t>inşa</a:t>
            </a:r>
            <a:r>
              <a:rPr lang="en-GB" sz="1800" dirty="0"/>
              <a:t> </a:t>
            </a:r>
            <a:r>
              <a:rPr lang="en-GB" sz="1800" dirty="0" err="1"/>
              <a:t>edilmesi</a:t>
            </a:r>
            <a:r>
              <a:rPr lang="en-GB" sz="1800" dirty="0"/>
              <a:t> </a:t>
            </a:r>
            <a:r>
              <a:rPr lang="en-GB" sz="1800" dirty="0" err="1"/>
              <a:t>ve</a:t>
            </a:r>
            <a:r>
              <a:rPr lang="en-GB" sz="1800" dirty="0"/>
              <a:t> </a:t>
            </a:r>
            <a:r>
              <a:rPr lang="en-GB" sz="1800" dirty="0" err="1"/>
              <a:t>teslim</a:t>
            </a:r>
            <a:r>
              <a:rPr lang="en-GB" sz="1800" dirty="0"/>
              <a:t> </a:t>
            </a:r>
            <a:r>
              <a:rPr lang="en-GB" sz="1800" dirty="0" err="1"/>
              <a:t>edilmesi</a:t>
            </a:r>
            <a:r>
              <a:rPr lang="en-GB" sz="1800" dirty="0"/>
              <a:t> </a:t>
            </a:r>
            <a:r>
              <a:rPr lang="en-GB" sz="1800" dirty="0" err="1"/>
              <a:t>gerekir</a:t>
            </a:r>
            <a:r>
              <a:rPr lang="en-GB" sz="1800" dirty="0"/>
              <a:t>; </a:t>
            </a:r>
            <a:r>
              <a:rPr lang="en-GB" sz="1800" dirty="0" err="1"/>
              <a:t>daha</a:t>
            </a:r>
            <a:r>
              <a:rPr lang="en-GB" sz="1800" dirty="0"/>
              <a:t> </a:t>
            </a:r>
            <a:r>
              <a:rPr lang="en-GB" sz="1800" dirty="0" err="1"/>
              <a:t>büyük</a:t>
            </a:r>
            <a:r>
              <a:rPr lang="en-GB" sz="1800" dirty="0"/>
              <a:t>, </a:t>
            </a:r>
            <a:r>
              <a:rPr lang="en-GB" sz="1800" dirty="0" err="1"/>
              <a:t>hatta</a:t>
            </a:r>
            <a:r>
              <a:rPr lang="en-GB" sz="1800" dirty="0"/>
              <a:t> </a:t>
            </a:r>
            <a:r>
              <a:rPr lang="en-GB" sz="1800" dirty="0" err="1"/>
              <a:t>çok</a:t>
            </a:r>
            <a:r>
              <a:rPr lang="en-GB" sz="1800" dirty="0"/>
              <a:t> </a:t>
            </a:r>
            <a:r>
              <a:rPr lang="en-GB" sz="1800" dirty="0" err="1"/>
              <a:t>daha</a:t>
            </a:r>
            <a:r>
              <a:rPr lang="en-GB" sz="1800" dirty="0"/>
              <a:t> </a:t>
            </a:r>
            <a:r>
              <a:rPr lang="en-GB" sz="1800" dirty="0" err="1"/>
              <a:t>karmaşık</a:t>
            </a:r>
            <a:r>
              <a:rPr lang="en-GB" sz="1800" dirty="0"/>
              <a:t> </a:t>
            </a:r>
            <a:r>
              <a:rPr lang="en-GB" sz="1800" dirty="0" err="1"/>
              <a:t>sistemler</a:t>
            </a:r>
            <a:r>
              <a:rPr lang="en-GB" sz="1800" dirty="0"/>
              <a:t> </a:t>
            </a:r>
            <a:r>
              <a:rPr lang="en-GB" sz="1800" dirty="0" err="1"/>
              <a:t>talep</a:t>
            </a:r>
            <a:r>
              <a:rPr lang="en-GB" sz="1800" dirty="0"/>
              <a:t> </a:t>
            </a:r>
            <a:r>
              <a:rPr lang="en-GB" sz="1800" dirty="0" err="1"/>
              <a:t>edilir</a:t>
            </a:r>
            <a:r>
              <a:rPr lang="en-GB" sz="1800" dirty="0"/>
              <a:t>; </a:t>
            </a:r>
            <a:r>
              <a:rPr lang="en-GB" sz="1800" dirty="0" err="1"/>
              <a:t>sistemlerin</a:t>
            </a:r>
            <a:r>
              <a:rPr lang="en-GB" sz="1800" dirty="0"/>
              <a:t> </a:t>
            </a:r>
            <a:r>
              <a:rPr lang="en-GB" sz="1800" dirty="0" err="1"/>
              <a:t>daha</a:t>
            </a:r>
            <a:r>
              <a:rPr lang="en-GB" sz="1800" dirty="0"/>
              <a:t> </a:t>
            </a:r>
            <a:r>
              <a:rPr lang="en-GB" sz="1800" dirty="0" err="1"/>
              <a:t>önce</a:t>
            </a:r>
            <a:r>
              <a:rPr lang="en-GB" sz="1800" dirty="0"/>
              <a:t> </a:t>
            </a:r>
            <a:r>
              <a:rPr lang="en-GB" sz="1800" dirty="0" err="1"/>
              <a:t>imkansız</a:t>
            </a:r>
            <a:r>
              <a:rPr lang="en-GB" sz="1800" dirty="0"/>
              <a:t> </a:t>
            </a:r>
            <a:r>
              <a:rPr lang="en-GB" sz="1800" dirty="0" err="1"/>
              <a:t>olduğu</a:t>
            </a:r>
            <a:r>
              <a:rPr lang="en-GB" sz="1800" dirty="0"/>
              <a:t> </a:t>
            </a:r>
            <a:r>
              <a:rPr lang="en-GB" sz="1800" dirty="0" err="1"/>
              <a:t>düşünülen</a:t>
            </a:r>
            <a:r>
              <a:rPr lang="en-GB" sz="1800" dirty="0"/>
              <a:t> yeni </a:t>
            </a:r>
            <a:r>
              <a:rPr lang="en-GB" sz="1800" dirty="0" err="1"/>
              <a:t>yeteneklere</a:t>
            </a:r>
            <a:r>
              <a:rPr lang="en-GB" sz="1800" dirty="0"/>
              <a:t> </a:t>
            </a:r>
            <a:r>
              <a:rPr lang="en-GB" sz="1800" dirty="0" err="1"/>
              <a:t>sahip</a:t>
            </a:r>
            <a:r>
              <a:rPr lang="en-GB" sz="1800" dirty="0"/>
              <a:t> </a:t>
            </a:r>
            <a:r>
              <a:rPr lang="en-GB" sz="1800" dirty="0" err="1"/>
              <a:t>olması</a:t>
            </a:r>
            <a:r>
              <a:rPr lang="en-GB" sz="1800" dirty="0"/>
              <a:t> </a:t>
            </a:r>
            <a:r>
              <a:rPr lang="en-GB" sz="1800" dirty="0" err="1"/>
              <a:t>gerekir</a:t>
            </a:r>
            <a:r>
              <a:rPr lang="en-GB" sz="1800" dirty="0"/>
              <a:t>. </a:t>
            </a:r>
          </a:p>
          <a:p>
            <a:pPr algn="just"/>
            <a:r>
              <a:rPr lang="en-GB" sz="1800" dirty="0" err="1"/>
              <a:t>Yazılım</a:t>
            </a:r>
            <a:r>
              <a:rPr lang="en-GB" sz="1800" dirty="0"/>
              <a:t> </a:t>
            </a:r>
            <a:r>
              <a:rPr lang="en-GB" sz="1800" dirty="0" err="1"/>
              <a:t>mühendisliği</a:t>
            </a:r>
            <a:r>
              <a:rPr lang="en-GB" sz="1800" dirty="0"/>
              <a:t> </a:t>
            </a:r>
            <a:r>
              <a:rPr lang="en-GB" sz="1800" dirty="0" err="1"/>
              <a:t>yöntemlerini</a:t>
            </a:r>
            <a:r>
              <a:rPr lang="en-GB" sz="1800" dirty="0"/>
              <a:t> </a:t>
            </a:r>
            <a:r>
              <a:rPr lang="en-GB" sz="1800" dirty="0" err="1"/>
              <a:t>kullanmama</a:t>
            </a:r>
            <a:r>
              <a:rPr lang="en-GB" sz="1800" dirty="0"/>
              <a:t> </a:t>
            </a:r>
            <a:r>
              <a:rPr lang="en-GB" sz="1800" dirty="0" err="1"/>
              <a:t>başarısızlığı</a:t>
            </a:r>
            <a:endParaRPr lang="en-GB" sz="1800" dirty="0"/>
          </a:p>
          <a:p>
            <a:pPr lvl="1" algn="just"/>
            <a:r>
              <a:rPr lang="tr-TR" sz="1800" dirty="0"/>
              <a:t>Yazılım </a:t>
            </a:r>
            <a:r>
              <a:rPr lang="en-GB" sz="1800" dirty="0" err="1"/>
              <a:t>mühendisliği</a:t>
            </a:r>
            <a:r>
              <a:rPr lang="en-GB" sz="1800" dirty="0"/>
              <a:t> </a:t>
            </a:r>
            <a:r>
              <a:rPr lang="en-GB" sz="1800" dirty="0" err="1"/>
              <a:t>yöntem</a:t>
            </a:r>
            <a:r>
              <a:rPr lang="en-GB" sz="1800" dirty="0"/>
              <a:t> </a:t>
            </a:r>
            <a:r>
              <a:rPr lang="en-GB" sz="1800" dirty="0" err="1"/>
              <a:t>ve</a:t>
            </a:r>
            <a:r>
              <a:rPr lang="en-GB" sz="1800" dirty="0"/>
              <a:t> </a:t>
            </a:r>
            <a:r>
              <a:rPr lang="en-GB" sz="1800" dirty="0" err="1"/>
              <a:t>tekniklerini</a:t>
            </a:r>
            <a:r>
              <a:rPr lang="en-GB" sz="1800" dirty="0"/>
              <a:t> </a:t>
            </a:r>
            <a:r>
              <a:rPr lang="en-GB" sz="1800" dirty="0" err="1"/>
              <a:t>kullanmadan</a:t>
            </a:r>
            <a:r>
              <a:rPr lang="en-GB" sz="1800" dirty="0"/>
              <a:t> </a:t>
            </a:r>
            <a:r>
              <a:rPr lang="en-GB" sz="1800" dirty="0" err="1"/>
              <a:t>bilgisayar</a:t>
            </a:r>
            <a:r>
              <a:rPr lang="en-GB" sz="1800" dirty="0"/>
              <a:t> </a:t>
            </a:r>
            <a:r>
              <a:rPr lang="en-GB" sz="1800" dirty="0" err="1"/>
              <a:t>programları</a:t>
            </a:r>
            <a:r>
              <a:rPr lang="en-GB" sz="1800" dirty="0"/>
              <a:t> </a:t>
            </a:r>
            <a:r>
              <a:rPr lang="en-GB" sz="1800" dirty="0" err="1"/>
              <a:t>yazmak</a:t>
            </a:r>
            <a:r>
              <a:rPr lang="en-GB" sz="1800" dirty="0"/>
              <a:t> </a:t>
            </a:r>
            <a:r>
              <a:rPr lang="en-GB" sz="1800" dirty="0" err="1"/>
              <a:t>oldukça</a:t>
            </a:r>
            <a:r>
              <a:rPr lang="en-GB" sz="1800" dirty="0"/>
              <a:t> </a:t>
            </a:r>
            <a:r>
              <a:rPr lang="en-GB" sz="1800" dirty="0" err="1"/>
              <a:t>kolaydır</a:t>
            </a:r>
            <a:r>
              <a:rPr lang="en-GB" sz="1800" dirty="0"/>
              <a:t>. </a:t>
            </a:r>
            <a:r>
              <a:rPr lang="en-GB" sz="1800" dirty="0" err="1"/>
              <a:t>Birçok</a:t>
            </a:r>
            <a:r>
              <a:rPr lang="en-GB" sz="1800" dirty="0"/>
              <a:t> </a:t>
            </a:r>
            <a:r>
              <a:rPr lang="en-GB" sz="1800" dirty="0" err="1"/>
              <a:t>şirket</a:t>
            </a:r>
            <a:r>
              <a:rPr lang="en-GB" sz="1800" dirty="0"/>
              <a:t>, </a:t>
            </a:r>
            <a:r>
              <a:rPr lang="en-GB" sz="1800" dirty="0" err="1"/>
              <a:t>ürünleri</a:t>
            </a:r>
            <a:r>
              <a:rPr lang="en-GB" sz="1800" dirty="0"/>
              <a:t> </a:t>
            </a:r>
            <a:r>
              <a:rPr lang="en-GB" sz="1800" dirty="0" err="1"/>
              <a:t>ve</a:t>
            </a:r>
            <a:r>
              <a:rPr lang="en-GB" sz="1800" dirty="0"/>
              <a:t> </a:t>
            </a:r>
            <a:r>
              <a:rPr lang="en-GB" sz="1800" dirty="0" err="1"/>
              <a:t>hizmetleri</a:t>
            </a:r>
            <a:r>
              <a:rPr lang="en-GB" sz="1800" dirty="0"/>
              <a:t> </a:t>
            </a:r>
            <a:r>
              <a:rPr lang="en-GB" sz="1800" dirty="0" err="1"/>
              <a:t>evrildikçe</a:t>
            </a:r>
            <a:r>
              <a:rPr lang="en-GB" sz="1800" dirty="0"/>
              <a:t> </a:t>
            </a:r>
            <a:r>
              <a:rPr lang="en-GB" sz="1800" dirty="0" err="1"/>
              <a:t>yazılım</a:t>
            </a:r>
            <a:r>
              <a:rPr lang="en-GB" sz="1800" dirty="0"/>
              <a:t> </a:t>
            </a:r>
            <a:r>
              <a:rPr lang="en-GB" sz="1800" dirty="0" err="1"/>
              <a:t>geliştirmeye</a:t>
            </a:r>
            <a:r>
              <a:rPr lang="en-GB" sz="1800" dirty="0"/>
              <a:t> </a:t>
            </a:r>
            <a:r>
              <a:rPr lang="en-GB" sz="1800" dirty="0" err="1"/>
              <a:t>sürüklenmiştir</a:t>
            </a:r>
            <a:r>
              <a:rPr lang="en-GB" sz="1800" dirty="0"/>
              <a:t>. </a:t>
            </a:r>
            <a:r>
              <a:rPr lang="en-GB" sz="1800" dirty="0" err="1"/>
              <a:t>Günlük</a:t>
            </a:r>
            <a:r>
              <a:rPr lang="en-GB" sz="1800" dirty="0"/>
              <a:t> </a:t>
            </a:r>
            <a:r>
              <a:rPr lang="en-GB" sz="1800" dirty="0" err="1"/>
              <a:t>işlerinde</a:t>
            </a:r>
            <a:r>
              <a:rPr lang="en-GB" sz="1800" dirty="0"/>
              <a:t> </a:t>
            </a:r>
            <a:r>
              <a:rPr lang="en-GB" sz="1800" dirty="0" err="1"/>
              <a:t>yazılım</a:t>
            </a:r>
            <a:r>
              <a:rPr lang="en-GB" sz="1800" dirty="0"/>
              <a:t> </a:t>
            </a:r>
            <a:r>
              <a:rPr lang="en-GB" sz="1800" dirty="0" err="1"/>
              <a:t>mühendisliği</a:t>
            </a:r>
            <a:r>
              <a:rPr lang="en-GB" sz="1800" dirty="0"/>
              <a:t> </a:t>
            </a:r>
            <a:r>
              <a:rPr lang="en-GB" sz="1800" dirty="0" err="1"/>
              <a:t>yöntemlerini</a:t>
            </a:r>
            <a:r>
              <a:rPr lang="en-GB" sz="1800" dirty="0"/>
              <a:t> </a:t>
            </a:r>
            <a:r>
              <a:rPr lang="en-GB" sz="1800" dirty="0" err="1"/>
              <a:t>kullanmazlar</a:t>
            </a:r>
            <a:r>
              <a:rPr lang="en-GB" sz="1800" dirty="0"/>
              <a:t>. </a:t>
            </a:r>
            <a:r>
              <a:rPr lang="en-GB" sz="1800" dirty="0" err="1"/>
              <a:t>Sonuç</a:t>
            </a:r>
            <a:r>
              <a:rPr lang="en-GB" sz="1800" dirty="0"/>
              <a:t> </a:t>
            </a:r>
            <a:r>
              <a:rPr lang="en-GB" sz="1800" dirty="0" err="1"/>
              <a:t>olarak</a:t>
            </a:r>
            <a:r>
              <a:rPr lang="en-GB" sz="1800" dirty="0"/>
              <a:t>, </a:t>
            </a:r>
            <a:r>
              <a:rPr lang="en-GB" sz="1800" dirty="0" err="1"/>
              <a:t>yazılımları</a:t>
            </a:r>
            <a:r>
              <a:rPr lang="en-GB" sz="1800" dirty="0"/>
              <a:t> </a:t>
            </a:r>
            <a:r>
              <a:rPr lang="en-GB" sz="1800" dirty="0" err="1"/>
              <a:t>genellikle</a:t>
            </a:r>
            <a:r>
              <a:rPr lang="en-GB" sz="1800" dirty="0"/>
              <a:t> </a:t>
            </a:r>
            <a:r>
              <a:rPr lang="en-GB" sz="1800" dirty="0" err="1"/>
              <a:t>olması</a:t>
            </a:r>
            <a:r>
              <a:rPr lang="en-GB" sz="1800" dirty="0"/>
              <a:t> </a:t>
            </a:r>
            <a:r>
              <a:rPr lang="en-GB" sz="1800" dirty="0" err="1"/>
              <a:t>gerektiğinden</a:t>
            </a:r>
            <a:r>
              <a:rPr lang="en-GB" sz="1800" dirty="0"/>
              <a:t> </a:t>
            </a:r>
            <a:r>
              <a:rPr lang="en-GB" sz="1800" dirty="0" err="1"/>
              <a:t>daha</a:t>
            </a:r>
            <a:r>
              <a:rPr lang="en-GB" sz="1800" dirty="0"/>
              <a:t> </a:t>
            </a:r>
            <a:r>
              <a:rPr lang="en-GB" sz="1800" dirty="0" err="1"/>
              <a:t>pahalı</a:t>
            </a:r>
            <a:r>
              <a:rPr lang="en-GB" sz="1800" dirty="0"/>
              <a:t> </a:t>
            </a:r>
            <a:r>
              <a:rPr lang="en-GB" sz="1800" dirty="0" err="1"/>
              <a:t>ve</a:t>
            </a:r>
            <a:r>
              <a:rPr lang="en-GB" sz="1800" dirty="0"/>
              <a:t> </a:t>
            </a:r>
            <a:r>
              <a:rPr lang="en-GB" sz="1800" dirty="0" err="1"/>
              <a:t>daha</a:t>
            </a:r>
            <a:r>
              <a:rPr lang="en-GB" sz="1800" dirty="0"/>
              <a:t> </a:t>
            </a:r>
            <a:r>
              <a:rPr lang="en-GB" sz="1800" dirty="0" err="1"/>
              <a:t>az</a:t>
            </a:r>
            <a:r>
              <a:rPr lang="en-GB" sz="1800" dirty="0"/>
              <a:t> </a:t>
            </a:r>
            <a:r>
              <a:rPr lang="en-GB" sz="1800" dirty="0" err="1"/>
              <a:t>güvenilirdir</a:t>
            </a:r>
            <a:r>
              <a:rPr lang="en-GB" sz="1800" dirty="0"/>
              <a:t>.</a:t>
            </a:r>
            <a:endParaRPr lang="en-US" sz="1800"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tr-TR" dirty="0"/>
              <a:t>Profesyonel yazılım geliştirme</a:t>
            </a:r>
          </a:p>
        </p:txBody>
      </p:sp>
      <p:sp>
        <p:nvSpPr>
          <p:cNvPr id="6" name="Footer Placeholder 5"/>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tr-TR" dirty="0" sz="2100"/>
              <a:t>Yazılım mühendisliği hakkında sık sorulan sorular</a:t>
            </a:r>
            <a:br>
              <a:rPr lang="tr-TR" dirty="0" sz="2100"/>
            </a:b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491969841"/>
              </p:ext>
            </p:extLst>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tr-TR" sz="1400" dirty="0">
                          <a:latin typeface="Arial"/>
                          <a:cs typeface="Arial"/>
                        </a:rPr>
                        <a:t>Soru</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tr-TR" sz="1400" dirty="0">
                          <a:latin typeface="Arial"/>
                          <a:cs typeface="Arial"/>
                        </a:rPr>
                        <a:t>Yanıt</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tr-TR" sz="1400" dirty="0">
                          <a:latin typeface="Arial"/>
                          <a:cs typeface="Arial"/>
                        </a:rPr>
                        <a:t>Yazılım nedir?</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 </a:t>
                      </a:r>
                      <a:r>
                        <a:rPr lang="en-GB" sz="1400" dirty="0" err="1">
                          <a:latin typeface="Arial"/>
                          <a:cs typeface="Arial"/>
                        </a:rPr>
                        <a:t>Bilgisayar</a:t>
                      </a:r>
                      <a:r>
                        <a:rPr lang="en-GB" sz="1400" dirty="0">
                          <a:latin typeface="Arial"/>
                          <a:cs typeface="Arial"/>
                        </a:rPr>
                        <a:t> </a:t>
                      </a:r>
                      <a:r>
                        <a:rPr lang="en-GB" sz="1400" dirty="0" err="1">
                          <a:latin typeface="Arial"/>
                          <a:cs typeface="Arial"/>
                        </a:rPr>
                        <a:t>programları</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bunlarla</a:t>
                      </a:r>
                      <a:r>
                        <a:rPr lang="en-GB" sz="1400" dirty="0">
                          <a:latin typeface="Arial"/>
                          <a:cs typeface="Arial"/>
                        </a:rPr>
                        <a:t> </a:t>
                      </a:r>
                      <a:r>
                        <a:rPr lang="en-GB" sz="1400" dirty="0" err="1">
                          <a:latin typeface="Arial"/>
                          <a:cs typeface="Arial"/>
                        </a:rPr>
                        <a:t>ilişkili</a:t>
                      </a:r>
                      <a:r>
                        <a:rPr lang="en-GB" sz="1400" dirty="0">
                          <a:latin typeface="Arial"/>
                          <a:cs typeface="Arial"/>
                        </a:rPr>
                        <a:t> </a:t>
                      </a:r>
                      <a:r>
                        <a:rPr lang="en-GB" sz="1400" dirty="0" err="1">
                          <a:latin typeface="Arial"/>
                          <a:cs typeface="Arial"/>
                        </a:rPr>
                        <a:t>belgelerdir</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ürünleri</a:t>
                      </a:r>
                      <a:r>
                        <a:rPr lang="en-GB" sz="1400" dirty="0">
                          <a:latin typeface="Arial"/>
                          <a:cs typeface="Arial"/>
                        </a:rPr>
                        <a:t> </a:t>
                      </a:r>
                      <a:r>
                        <a:rPr lang="en-GB" sz="1400" dirty="0" err="1">
                          <a:latin typeface="Arial"/>
                          <a:cs typeface="Arial"/>
                        </a:rPr>
                        <a:t>belirli</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müşteri</a:t>
                      </a:r>
                      <a:r>
                        <a:rPr lang="en-GB" sz="1400" dirty="0">
                          <a:latin typeface="Arial"/>
                          <a:cs typeface="Arial"/>
                        </a:rPr>
                        <a:t> </a:t>
                      </a:r>
                      <a:r>
                        <a:rPr lang="en-GB" sz="1400" dirty="0" err="1">
                          <a:latin typeface="Arial"/>
                          <a:cs typeface="Arial"/>
                        </a:rPr>
                        <a:t>için</a:t>
                      </a:r>
                      <a:r>
                        <a:rPr lang="en-GB" sz="1400" dirty="0">
                          <a:latin typeface="Arial"/>
                          <a:cs typeface="Arial"/>
                        </a:rPr>
                        <a:t> </a:t>
                      </a:r>
                      <a:r>
                        <a:rPr lang="en-GB" sz="1400" dirty="0" err="1">
                          <a:latin typeface="Arial"/>
                          <a:cs typeface="Arial"/>
                        </a:rPr>
                        <a:t>veya</a:t>
                      </a:r>
                      <a:r>
                        <a:rPr lang="en-GB" sz="1400" dirty="0">
                          <a:latin typeface="Arial"/>
                          <a:cs typeface="Arial"/>
                        </a:rPr>
                        <a:t> </a:t>
                      </a:r>
                      <a:r>
                        <a:rPr lang="en-GB" sz="1400" dirty="0" err="1">
                          <a:latin typeface="Arial"/>
                          <a:cs typeface="Arial"/>
                        </a:rPr>
                        <a:t>genel</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pazar</a:t>
                      </a:r>
                      <a:r>
                        <a:rPr lang="en-GB" sz="1400" dirty="0">
                          <a:latin typeface="Arial"/>
                          <a:cs typeface="Arial"/>
                        </a:rPr>
                        <a:t> </a:t>
                      </a:r>
                      <a:r>
                        <a:rPr lang="en-GB" sz="1400" dirty="0" err="1">
                          <a:latin typeface="Arial"/>
                          <a:cs typeface="Arial"/>
                        </a:rPr>
                        <a:t>için</a:t>
                      </a:r>
                      <a:r>
                        <a:rPr lang="en-GB" sz="1400" dirty="0">
                          <a:latin typeface="Arial"/>
                          <a:cs typeface="Arial"/>
                        </a:rPr>
                        <a:t> </a:t>
                      </a:r>
                      <a:r>
                        <a:rPr lang="en-GB" sz="1400" dirty="0" err="1">
                          <a:latin typeface="Arial"/>
                          <a:cs typeface="Arial"/>
                        </a:rPr>
                        <a:t>geliştirilebilir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tr-TR" sz="1400" dirty="0">
                          <a:latin typeface="Arial"/>
                          <a:cs typeface="Arial"/>
                        </a:rPr>
                        <a:t>İyi yazılımın özellikleri nelerdir?</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İyi </a:t>
                      </a:r>
                      <a:r>
                        <a:rPr lang="en-GB" sz="1400" dirty="0" err="1">
                          <a:latin typeface="Arial"/>
                          <a:cs typeface="Arial"/>
                        </a:rPr>
                        <a:t>bir</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kullanıcıya</a:t>
                      </a:r>
                      <a:r>
                        <a:rPr lang="en-GB" sz="1400" dirty="0">
                          <a:latin typeface="Arial"/>
                          <a:cs typeface="Arial"/>
                        </a:rPr>
                        <a:t> </a:t>
                      </a:r>
                      <a:r>
                        <a:rPr lang="en-GB" sz="1400" dirty="0" err="1">
                          <a:latin typeface="Arial"/>
                          <a:cs typeface="Arial"/>
                        </a:rPr>
                        <a:t>istenen</a:t>
                      </a:r>
                      <a:r>
                        <a:rPr lang="en-GB" sz="1400" dirty="0">
                          <a:latin typeface="Arial"/>
                          <a:cs typeface="Arial"/>
                        </a:rPr>
                        <a:t> </a:t>
                      </a:r>
                      <a:r>
                        <a:rPr lang="en-GB" sz="1400" dirty="0" err="1">
                          <a:latin typeface="Arial"/>
                          <a:cs typeface="Arial"/>
                        </a:rPr>
                        <a:t>işlevselliği</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performansı</a:t>
                      </a:r>
                      <a:r>
                        <a:rPr lang="en-GB" sz="1400" dirty="0">
                          <a:latin typeface="Arial"/>
                          <a:cs typeface="Arial"/>
                        </a:rPr>
                        <a:t> </a:t>
                      </a:r>
                      <a:r>
                        <a:rPr lang="en-GB" sz="1400" dirty="0" err="1">
                          <a:latin typeface="Arial"/>
                          <a:cs typeface="Arial"/>
                        </a:rPr>
                        <a:t>sunmalı</a:t>
                      </a:r>
                      <a:r>
                        <a:rPr lang="en-GB" sz="1400" dirty="0">
                          <a:latin typeface="Arial"/>
                          <a:cs typeface="Arial"/>
                        </a:rPr>
                        <a:t>; </a:t>
                      </a:r>
                      <a:r>
                        <a:rPr lang="en-GB" sz="1400" dirty="0" err="1">
                          <a:latin typeface="Arial"/>
                          <a:cs typeface="Arial"/>
                        </a:rPr>
                        <a:t>bakımı</a:t>
                      </a:r>
                      <a:r>
                        <a:rPr lang="en-GB" sz="1400" dirty="0">
                          <a:latin typeface="Arial"/>
                          <a:cs typeface="Arial"/>
                        </a:rPr>
                        <a:t> </a:t>
                      </a:r>
                      <a:r>
                        <a:rPr lang="en-GB" sz="1400" dirty="0" err="1">
                          <a:latin typeface="Arial"/>
                          <a:cs typeface="Arial"/>
                        </a:rPr>
                        <a:t>yapılabilir</a:t>
                      </a:r>
                      <a:r>
                        <a:rPr lang="en-GB" sz="1400" dirty="0">
                          <a:latin typeface="Arial"/>
                          <a:cs typeface="Arial"/>
                        </a:rPr>
                        <a:t>, </a:t>
                      </a:r>
                      <a:r>
                        <a:rPr lang="en-GB" sz="1400" dirty="0" err="1">
                          <a:latin typeface="Arial"/>
                          <a:cs typeface="Arial"/>
                        </a:rPr>
                        <a:t>güvenilir</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kullanılabilir</a:t>
                      </a:r>
                      <a:r>
                        <a:rPr lang="en-GB" sz="1400" dirty="0">
                          <a:latin typeface="Arial"/>
                          <a:cs typeface="Arial"/>
                        </a:rPr>
                        <a:t> </a:t>
                      </a:r>
                      <a:r>
                        <a:rPr lang="en-GB" sz="1400" dirty="0" err="1">
                          <a:latin typeface="Arial"/>
                          <a:cs typeface="Arial"/>
                        </a:rPr>
                        <a:t>olmalıdır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tr-TR" sz="1400" dirty="0">
                          <a:latin typeface="Arial"/>
                          <a:cs typeface="Arial"/>
                        </a:rPr>
                        <a:t>Yazılım mühendisliği nedir?</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err="1">
                          <a:latin typeface="Arial"/>
                          <a:cs typeface="Arial"/>
                        </a:rPr>
                        <a:t>Yazılım</a:t>
                      </a:r>
                      <a:r>
                        <a:rPr lang="en-GB" sz="1400" dirty="0">
                          <a:latin typeface="Arial"/>
                          <a:cs typeface="Arial"/>
                        </a:rPr>
                        <a:t> </a:t>
                      </a:r>
                      <a:r>
                        <a:rPr lang="en-GB" sz="1400" dirty="0" err="1">
                          <a:latin typeface="Arial"/>
                          <a:cs typeface="Arial"/>
                        </a:rPr>
                        <a:t>üretiminin</a:t>
                      </a:r>
                      <a:r>
                        <a:rPr lang="en-GB" sz="1400" dirty="0">
                          <a:latin typeface="Arial"/>
                          <a:cs typeface="Arial"/>
                        </a:rPr>
                        <a:t> </a:t>
                      </a:r>
                      <a:r>
                        <a:rPr lang="en-GB" sz="1400" dirty="0" err="1">
                          <a:latin typeface="Arial"/>
                          <a:cs typeface="Arial"/>
                        </a:rPr>
                        <a:t>tüm</a:t>
                      </a:r>
                      <a:r>
                        <a:rPr lang="en-GB" sz="1400" dirty="0">
                          <a:latin typeface="Arial"/>
                          <a:cs typeface="Arial"/>
                        </a:rPr>
                        <a:t> </a:t>
                      </a:r>
                      <a:r>
                        <a:rPr lang="en-GB" sz="1400" dirty="0" err="1">
                          <a:latin typeface="Arial"/>
                          <a:cs typeface="Arial"/>
                        </a:rPr>
                        <a:t>yönleriyle</a:t>
                      </a:r>
                      <a:r>
                        <a:rPr lang="en-GB" sz="1400" dirty="0">
                          <a:latin typeface="Arial"/>
                          <a:cs typeface="Arial"/>
                        </a:rPr>
                        <a:t> </a:t>
                      </a:r>
                      <a:r>
                        <a:rPr lang="en-GB" sz="1400" dirty="0" err="1">
                          <a:latin typeface="Arial"/>
                          <a:cs typeface="Arial"/>
                        </a:rPr>
                        <a:t>ilgilenen</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mühendislik</a:t>
                      </a:r>
                      <a:r>
                        <a:rPr lang="en-GB" sz="1400" dirty="0">
                          <a:latin typeface="Arial"/>
                          <a:cs typeface="Arial"/>
                        </a:rPr>
                        <a:t> </a:t>
                      </a:r>
                      <a:r>
                        <a:rPr lang="en-GB" sz="1400" dirty="0" err="1">
                          <a:latin typeface="Arial"/>
                          <a:cs typeface="Arial"/>
                        </a:rPr>
                        <a:t>disiplinidir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tr-TR" sz="1400">
                          <a:latin typeface="Arial"/>
                          <a:cs typeface="Arial"/>
                        </a:rPr>
                        <a:t>Temel yazılım mühendisliği faaliyetleri nelerdir?</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err="1">
                          <a:latin typeface="Arial"/>
                          <a:cs typeface="Arial"/>
                        </a:rPr>
                        <a:t>Yazılım</a:t>
                      </a:r>
                      <a:r>
                        <a:rPr lang="en-GB" sz="1400" dirty="0">
                          <a:latin typeface="Arial"/>
                          <a:cs typeface="Arial"/>
                        </a:rPr>
                        <a:t> </a:t>
                      </a:r>
                      <a:r>
                        <a:rPr lang="en-GB" sz="1400" dirty="0" err="1">
                          <a:latin typeface="Arial"/>
                          <a:cs typeface="Arial"/>
                        </a:rPr>
                        <a:t>belirtimi</a:t>
                      </a:r>
                      <a:r>
                        <a:rPr lang="en-GB" sz="1400" dirty="0">
                          <a:latin typeface="Arial"/>
                          <a:cs typeface="Arial"/>
                        </a:rPr>
                        <a:t> (</a:t>
                      </a:r>
                      <a:r>
                        <a:rPr lang="en-GB" sz="1400" dirty="0" err="1">
                          <a:latin typeface="Arial"/>
                          <a:cs typeface="Arial"/>
                        </a:rPr>
                        <a:t>şartnamesi</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geliştirme</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doğrulama</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evrimi</a:t>
                      </a:r>
                      <a:r>
                        <a:rPr lang="en-GB" sz="1400" dirty="0">
                          <a:latin typeface="Arial"/>
                          <a:cs typeface="Arial"/>
                        </a:rPr>
                        <a:t> (</a:t>
                      </a:r>
                      <a:r>
                        <a:rPr lang="en-GB" sz="1400" dirty="0" err="1">
                          <a:latin typeface="Arial"/>
                          <a:cs typeface="Arial"/>
                        </a:rPr>
                        <a:t>gelişimi</a:t>
                      </a:r>
                      <a:r>
                        <a:rPr lang="en-GB" sz="1400" dirty="0">
                          <a:latin typeface="Arial"/>
                          <a:cs typeface="Arial"/>
                        </a:rPr>
                        <a: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tr-TR" sz="1400">
                          <a:latin typeface="Arial"/>
                          <a:cs typeface="Arial"/>
                        </a:rPr>
                        <a:t>Yazılım mühendisliği ile bilgisayar bilimi arasındaki fark nedir?</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 </a:t>
                      </a:r>
                      <a:r>
                        <a:rPr lang="en-GB" sz="1400" dirty="0" err="1">
                          <a:latin typeface="Arial"/>
                          <a:cs typeface="Arial"/>
                        </a:rPr>
                        <a:t>Bilgisayar</a:t>
                      </a:r>
                      <a:r>
                        <a:rPr lang="en-GB" sz="1400" dirty="0">
                          <a:latin typeface="Arial"/>
                          <a:cs typeface="Arial"/>
                        </a:rPr>
                        <a:t> </a:t>
                      </a:r>
                      <a:r>
                        <a:rPr lang="en-GB" sz="1400" dirty="0" err="1">
                          <a:latin typeface="Arial"/>
                          <a:cs typeface="Arial"/>
                        </a:rPr>
                        <a:t>bilimi</a:t>
                      </a:r>
                      <a:r>
                        <a:rPr lang="en-GB" sz="1400" dirty="0">
                          <a:latin typeface="Arial"/>
                          <a:cs typeface="Arial"/>
                        </a:rPr>
                        <a:t> </a:t>
                      </a:r>
                      <a:r>
                        <a:rPr lang="en-GB" sz="1400" dirty="0" err="1">
                          <a:latin typeface="Arial"/>
                          <a:cs typeface="Arial"/>
                        </a:rPr>
                        <a:t>teori</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temellere</a:t>
                      </a:r>
                      <a:r>
                        <a:rPr lang="en-GB" sz="1400" dirty="0">
                          <a:latin typeface="Arial"/>
                          <a:cs typeface="Arial"/>
                        </a:rPr>
                        <a:t> </a:t>
                      </a:r>
                      <a:r>
                        <a:rPr lang="en-GB" sz="1400" dirty="0" err="1">
                          <a:latin typeface="Arial"/>
                          <a:cs typeface="Arial"/>
                        </a:rPr>
                        <a:t>odaklanır</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mühendisliği</a:t>
                      </a:r>
                      <a:r>
                        <a:rPr lang="en-GB" sz="1400" dirty="0">
                          <a:latin typeface="Arial"/>
                          <a:cs typeface="Arial"/>
                        </a:rPr>
                        <a:t> </a:t>
                      </a:r>
                      <a:r>
                        <a:rPr lang="en-GB" sz="1400" dirty="0" err="1">
                          <a:latin typeface="Arial"/>
                          <a:cs typeface="Arial"/>
                        </a:rPr>
                        <a:t>ise</a:t>
                      </a:r>
                      <a:r>
                        <a:rPr lang="en-GB" sz="1400" dirty="0">
                          <a:latin typeface="Arial"/>
                          <a:cs typeface="Arial"/>
                        </a:rPr>
                        <a:t> </a:t>
                      </a:r>
                      <a:r>
                        <a:rPr lang="en-GB" sz="1400" dirty="0" err="1">
                          <a:latin typeface="Arial"/>
                          <a:cs typeface="Arial"/>
                        </a:rPr>
                        <a:t>kullanışlı</a:t>
                      </a:r>
                      <a:r>
                        <a:rPr lang="en-GB" sz="1400" dirty="0">
                          <a:latin typeface="Arial"/>
                          <a:cs typeface="Arial"/>
                        </a:rPr>
                        <a:t> </a:t>
                      </a:r>
                      <a:r>
                        <a:rPr lang="en-GB" sz="1400" dirty="0" err="1">
                          <a:latin typeface="Arial"/>
                          <a:cs typeface="Arial"/>
                        </a:rPr>
                        <a:t>yazılımlar</a:t>
                      </a:r>
                      <a:r>
                        <a:rPr lang="en-GB" sz="1400" dirty="0">
                          <a:latin typeface="Arial"/>
                          <a:cs typeface="Arial"/>
                        </a:rPr>
                        <a:t> </a:t>
                      </a:r>
                      <a:r>
                        <a:rPr lang="en-GB" sz="1400" dirty="0" err="1">
                          <a:latin typeface="Arial"/>
                          <a:cs typeface="Arial"/>
                        </a:rPr>
                        <a:t>geliştirmenin</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sunmanın</a:t>
                      </a:r>
                      <a:r>
                        <a:rPr lang="en-GB" sz="1400" dirty="0">
                          <a:latin typeface="Arial"/>
                          <a:cs typeface="Arial"/>
                        </a:rPr>
                        <a:t> </a:t>
                      </a:r>
                      <a:r>
                        <a:rPr lang="en-GB" sz="1400" dirty="0" err="1">
                          <a:latin typeface="Arial"/>
                          <a:cs typeface="Arial"/>
                        </a:rPr>
                        <a:t>pratik</a:t>
                      </a:r>
                      <a:r>
                        <a:rPr lang="en-GB" sz="1400" dirty="0">
                          <a:latin typeface="Arial"/>
                          <a:cs typeface="Arial"/>
                        </a:rPr>
                        <a:t> </a:t>
                      </a:r>
                      <a:r>
                        <a:rPr lang="en-GB" sz="1400" dirty="0" err="1">
                          <a:latin typeface="Arial"/>
                          <a:cs typeface="Arial"/>
                        </a:rPr>
                        <a:t>yönleriyle</a:t>
                      </a:r>
                      <a:r>
                        <a:rPr lang="en-GB" sz="1400" dirty="0">
                          <a:latin typeface="Arial"/>
                          <a:cs typeface="Arial"/>
                        </a:rPr>
                        <a:t> </a:t>
                      </a:r>
                      <a:r>
                        <a:rPr lang="en-GB" sz="1400" dirty="0" err="1">
                          <a:latin typeface="Arial"/>
                          <a:cs typeface="Arial"/>
                        </a:rPr>
                        <a:t>ilgilenir</a:t>
                      </a:r>
                      <a:r>
                        <a:rPr lang="tr-TR" sz="1400" dirty="0">
                          <a:latin typeface="Arial"/>
                          <a:cs typeface="Arial"/>
                        </a:rPr>
                        <a: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tr-TR" sz="1400">
                          <a:latin typeface="Arial"/>
                          <a:cs typeface="Arial"/>
                        </a:rPr>
                        <a:t>Yazılım mühendisliği ile sistem mühendisliği arasındaki fark nedir?</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err="1">
                          <a:latin typeface="Arial"/>
                          <a:cs typeface="Arial"/>
                        </a:rPr>
                        <a:t>Sistem</a:t>
                      </a:r>
                      <a:r>
                        <a:rPr lang="en-GB" sz="1400" dirty="0">
                          <a:latin typeface="Arial"/>
                          <a:cs typeface="Arial"/>
                        </a:rPr>
                        <a:t> </a:t>
                      </a:r>
                      <a:r>
                        <a:rPr lang="en-GB" sz="1400" dirty="0" err="1">
                          <a:latin typeface="Arial"/>
                          <a:cs typeface="Arial"/>
                        </a:rPr>
                        <a:t>mühendisliği</a:t>
                      </a:r>
                      <a:r>
                        <a:rPr lang="en-GB" sz="1400" dirty="0">
                          <a:latin typeface="Arial"/>
                          <a:cs typeface="Arial"/>
                        </a:rPr>
                        <a:t>, </a:t>
                      </a:r>
                      <a:r>
                        <a:rPr lang="en-GB" sz="1400" dirty="0" err="1">
                          <a:latin typeface="Arial"/>
                          <a:cs typeface="Arial"/>
                        </a:rPr>
                        <a:t>donanım</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süreç</a:t>
                      </a:r>
                      <a:r>
                        <a:rPr lang="en-GB" sz="1400" dirty="0">
                          <a:latin typeface="Arial"/>
                          <a:cs typeface="Arial"/>
                        </a:rPr>
                        <a:t> </a:t>
                      </a:r>
                      <a:r>
                        <a:rPr lang="en-GB" sz="1400" dirty="0" err="1">
                          <a:latin typeface="Arial"/>
                          <a:cs typeface="Arial"/>
                        </a:rPr>
                        <a:t>mühendisliği</a:t>
                      </a:r>
                      <a:r>
                        <a:rPr lang="en-GB" sz="1400" dirty="0">
                          <a:latin typeface="Arial"/>
                          <a:cs typeface="Arial"/>
                        </a:rPr>
                        <a:t> de </a:t>
                      </a:r>
                      <a:r>
                        <a:rPr lang="en-GB" sz="1400" dirty="0" err="1">
                          <a:latin typeface="Arial"/>
                          <a:cs typeface="Arial"/>
                        </a:rPr>
                        <a:t>dahil</a:t>
                      </a:r>
                      <a:r>
                        <a:rPr lang="en-GB" sz="1400" dirty="0">
                          <a:latin typeface="Arial"/>
                          <a:cs typeface="Arial"/>
                        </a:rPr>
                        <a:t> </a:t>
                      </a:r>
                      <a:r>
                        <a:rPr lang="en-GB" sz="1400" dirty="0" err="1">
                          <a:latin typeface="Arial"/>
                          <a:cs typeface="Arial"/>
                        </a:rPr>
                        <a:t>olmak</a:t>
                      </a:r>
                      <a:r>
                        <a:rPr lang="en-GB" sz="1400" dirty="0">
                          <a:latin typeface="Arial"/>
                          <a:cs typeface="Arial"/>
                        </a:rPr>
                        <a:t> </a:t>
                      </a:r>
                      <a:r>
                        <a:rPr lang="en-GB" sz="1400" dirty="0" err="1">
                          <a:latin typeface="Arial"/>
                          <a:cs typeface="Arial"/>
                        </a:rPr>
                        <a:t>üzere</a:t>
                      </a:r>
                      <a:r>
                        <a:rPr lang="en-GB" sz="1400" dirty="0">
                          <a:latin typeface="Arial"/>
                          <a:cs typeface="Arial"/>
                        </a:rPr>
                        <a:t> </a:t>
                      </a:r>
                      <a:r>
                        <a:rPr lang="en-GB" sz="1400" dirty="0" err="1">
                          <a:latin typeface="Arial"/>
                          <a:cs typeface="Arial"/>
                        </a:rPr>
                        <a:t>bilgisayar</a:t>
                      </a:r>
                      <a:r>
                        <a:rPr lang="en-GB" sz="1400" dirty="0">
                          <a:latin typeface="Arial"/>
                          <a:cs typeface="Arial"/>
                        </a:rPr>
                        <a:t> </a:t>
                      </a:r>
                      <a:r>
                        <a:rPr lang="en-GB" sz="1400" dirty="0" err="1">
                          <a:latin typeface="Arial"/>
                          <a:cs typeface="Arial"/>
                        </a:rPr>
                        <a:t>tabanlı</a:t>
                      </a:r>
                      <a:r>
                        <a:rPr lang="en-GB" sz="1400" dirty="0">
                          <a:latin typeface="Arial"/>
                          <a:cs typeface="Arial"/>
                        </a:rPr>
                        <a:t> </a:t>
                      </a:r>
                      <a:r>
                        <a:rPr lang="en-GB" sz="1400" dirty="0" err="1">
                          <a:latin typeface="Arial"/>
                          <a:cs typeface="Arial"/>
                        </a:rPr>
                        <a:t>sistem</a:t>
                      </a:r>
                      <a:r>
                        <a:rPr lang="en-GB" sz="1400" dirty="0">
                          <a:latin typeface="Arial"/>
                          <a:cs typeface="Arial"/>
                        </a:rPr>
                        <a:t> </a:t>
                      </a:r>
                      <a:r>
                        <a:rPr lang="en-GB" sz="1400" dirty="0" err="1">
                          <a:latin typeface="Arial"/>
                          <a:cs typeface="Arial"/>
                        </a:rPr>
                        <a:t>geliştirmenin</a:t>
                      </a:r>
                      <a:r>
                        <a:rPr lang="en-GB" sz="1400" dirty="0">
                          <a:latin typeface="Arial"/>
                          <a:cs typeface="Arial"/>
                        </a:rPr>
                        <a:t> </a:t>
                      </a:r>
                      <a:r>
                        <a:rPr lang="en-GB" sz="1400" dirty="0" err="1">
                          <a:latin typeface="Arial"/>
                          <a:cs typeface="Arial"/>
                        </a:rPr>
                        <a:t>tüm</a:t>
                      </a:r>
                      <a:r>
                        <a:rPr lang="en-GB" sz="1400" dirty="0">
                          <a:latin typeface="Arial"/>
                          <a:cs typeface="Arial"/>
                        </a:rPr>
                        <a:t> </a:t>
                      </a:r>
                      <a:r>
                        <a:rPr lang="en-GB" sz="1400" dirty="0" err="1">
                          <a:latin typeface="Arial"/>
                          <a:cs typeface="Arial"/>
                        </a:rPr>
                        <a:t>yönleriyle</a:t>
                      </a:r>
                      <a:r>
                        <a:rPr lang="en-GB" sz="1400" dirty="0">
                          <a:latin typeface="Arial"/>
                          <a:cs typeface="Arial"/>
                        </a:rPr>
                        <a:t> </a:t>
                      </a:r>
                      <a:r>
                        <a:rPr lang="en-GB" sz="1400" dirty="0" err="1">
                          <a:latin typeface="Arial"/>
                          <a:cs typeface="Arial"/>
                        </a:rPr>
                        <a:t>ilgilenir</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mühendisliği</a:t>
                      </a:r>
                      <a:r>
                        <a:rPr lang="en-GB" sz="1400" dirty="0">
                          <a:latin typeface="Arial"/>
                          <a:cs typeface="Arial"/>
                        </a:rPr>
                        <a:t>, </a:t>
                      </a:r>
                      <a:r>
                        <a:rPr lang="en-GB" sz="1400" dirty="0" err="1">
                          <a:latin typeface="Arial"/>
                          <a:cs typeface="Arial"/>
                        </a:rPr>
                        <a:t>bu</a:t>
                      </a:r>
                      <a:r>
                        <a:rPr lang="en-GB" sz="1400" dirty="0">
                          <a:latin typeface="Arial"/>
                          <a:cs typeface="Arial"/>
                        </a:rPr>
                        <a:t> </a:t>
                      </a:r>
                      <a:r>
                        <a:rPr lang="en-GB" sz="1400" dirty="0" err="1">
                          <a:latin typeface="Arial"/>
                          <a:cs typeface="Arial"/>
                        </a:rPr>
                        <a:t>daha</a:t>
                      </a:r>
                      <a:r>
                        <a:rPr lang="en-GB" sz="1400" dirty="0">
                          <a:latin typeface="Arial"/>
                          <a:cs typeface="Arial"/>
                        </a:rPr>
                        <a:t> </a:t>
                      </a:r>
                      <a:r>
                        <a:rPr lang="en-GB" sz="1400" dirty="0" err="1">
                          <a:latin typeface="Arial"/>
                          <a:cs typeface="Arial"/>
                        </a:rPr>
                        <a:t>genel</a:t>
                      </a:r>
                      <a:r>
                        <a:rPr lang="en-GB" sz="1400" dirty="0">
                          <a:latin typeface="Arial"/>
                          <a:cs typeface="Arial"/>
                        </a:rPr>
                        <a:t> </a:t>
                      </a:r>
                      <a:r>
                        <a:rPr lang="en-GB" sz="1400" dirty="0" err="1">
                          <a:latin typeface="Arial"/>
                          <a:cs typeface="Arial"/>
                        </a:rPr>
                        <a:t>sürecin</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parçasıdır</a:t>
                      </a:r>
                      <a:r>
                        <a:rPr lang="en-GB" sz="1400" dirty="0">
                          <a:latin typeface="Arial"/>
                          <a:cs typeface="Arial"/>
                        </a:rPr>
                        <a: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z="2100"/>
              <a:t>Yazılım mühendisliği hakkında sık sorulan sorular</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604524505"/>
              </p:ext>
            </p:extLst>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tr-TR" sz="1400" dirty="0">
                          <a:latin typeface="Arial"/>
                          <a:cs typeface="Arial"/>
                        </a:rPr>
                        <a:t>Soru</a:t>
                      </a:r>
                    </a:p>
                  </a:txBody>
                  <a:tcPr/>
                </a:tc>
                <a:tc>
                  <a:txBody>
                    <a:bodyPr/>
                    <a:lstStyle/>
                    <a:p>
                      <a:r>
                        <a:rPr lang="tr-TR" sz="1400" dirty="0">
                          <a:latin typeface="Arial"/>
                          <a:cs typeface="Arial"/>
                        </a:rPr>
                        <a:t>Yanıt</a:t>
                      </a:r>
                    </a:p>
                  </a:txBody>
                  <a:tcPr/>
                </a:tc>
                <a:extLst>
                  <a:ext uri="{0D108BD9-81ED-4DB2-BD59-A6C34878D82A}">
                    <a16:rowId xmlns:a16="http://schemas.microsoft.com/office/drawing/2014/main" val="10000"/>
                  </a:ext>
                </a:extLst>
              </a:tr>
              <a:tr h="370840">
                <a:tc>
                  <a:txBody>
                    <a:bodyPr/>
                    <a:lstStyle/>
                    <a:p>
                      <a:pPr algn="just">
                        <a:spcAft>
                          <a:spcPts val="0"/>
                        </a:spcAft>
                      </a:pPr>
                      <a:r>
                        <a:rPr lang="tr-TR" sz="1400" dirty="0">
                          <a:latin typeface="Arial"/>
                          <a:cs typeface="Arial"/>
                        </a:rPr>
                        <a:t>Yazılım mühendisliğinin karşılaştığı başlıca zorluklar nelerdir?</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err="1">
                          <a:latin typeface="Arial"/>
                          <a:cs typeface="Arial"/>
                        </a:rPr>
                        <a:t>Artan</a:t>
                      </a:r>
                      <a:r>
                        <a:rPr lang="en-GB" sz="1400" dirty="0">
                          <a:latin typeface="Arial"/>
                          <a:cs typeface="Arial"/>
                        </a:rPr>
                        <a:t> </a:t>
                      </a:r>
                      <a:r>
                        <a:rPr lang="en-GB" sz="1400" dirty="0" err="1">
                          <a:latin typeface="Arial"/>
                          <a:cs typeface="Arial"/>
                        </a:rPr>
                        <a:t>çeşitlilikle</a:t>
                      </a:r>
                      <a:r>
                        <a:rPr lang="en-GB" sz="1400" dirty="0">
                          <a:latin typeface="Arial"/>
                          <a:cs typeface="Arial"/>
                        </a:rPr>
                        <a:t> </a:t>
                      </a:r>
                      <a:r>
                        <a:rPr lang="en-GB" sz="1400" dirty="0" err="1">
                          <a:latin typeface="Arial"/>
                          <a:cs typeface="Arial"/>
                        </a:rPr>
                        <a:t>başa</a:t>
                      </a:r>
                      <a:r>
                        <a:rPr lang="en-GB" sz="1400" dirty="0">
                          <a:latin typeface="Arial"/>
                          <a:cs typeface="Arial"/>
                        </a:rPr>
                        <a:t> </a:t>
                      </a:r>
                      <a:r>
                        <a:rPr lang="en-GB" sz="1400" dirty="0" err="1">
                          <a:latin typeface="Arial"/>
                          <a:cs typeface="Arial"/>
                        </a:rPr>
                        <a:t>çıkmak</a:t>
                      </a:r>
                      <a:r>
                        <a:rPr lang="en-GB" sz="1400" dirty="0">
                          <a:latin typeface="Arial"/>
                          <a:cs typeface="Arial"/>
                        </a:rPr>
                        <a:t>, </a:t>
                      </a:r>
                      <a:r>
                        <a:rPr lang="en-GB" sz="1400" dirty="0" err="1">
                          <a:latin typeface="Arial"/>
                          <a:cs typeface="Arial"/>
                        </a:rPr>
                        <a:t>daha</a:t>
                      </a:r>
                      <a:r>
                        <a:rPr lang="en-GB" sz="1400" dirty="0">
                          <a:latin typeface="Arial"/>
                          <a:cs typeface="Arial"/>
                        </a:rPr>
                        <a:t> </a:t>
                      </a:r>
                      <a:r>
                        <a:rPr lang="en-GB" sz="1400" dirty="0" err="1">
                          <a:latin typeface="Arial"/>
                          <a:cs typeface="Arial"/>
                        </a:rPr>
                        <a:t>kısa</a:t>
                      </a:r>
                      <a:r>
                        <a:rPr lang="en-GB" sz="1400" dirty="0">
                          <a:latin typeface="Arial"/>
                          <a:cs typeface="Arial"/>
                        </a:rPr>
                        <a:t> </a:t>
                      </a:r>
                      <a:r>
                        <a:rPr lang="en-GB" sz="1400" dirty="0" err="1">
                          <a:latin typeface="Arial"/>
                          <a:cs typeface="Arial"/>
                        </a:rPr>
                        <a:t>teslimat</a:t>
                      </a:r>
                      <a:r>
                        <a:rPr lang="en-GB" sz="1400" dirty="0">
                          <a:latin typeface="Arial"/>
                          <a:cs typeface="Arial"/>
                        </a:rPr>
                        <a:t> </a:t>
                      </a:r>
                      <a:r>
                        <a:rPr lang="en-GB" sz="1400" dirty="0" err="1">
                          <a:latin typeface="Arial"/>
                          <a:cs typeface="Arial"/>
                        </a:rPr>
                        <a:t>süreleri</a:t>
                      </a:r>
                      <a:r>
                        <a:rPr lang="en-GB" sz="1400" dirty="0">
                          <a:latin typeface="Arial"/>
                          <a:cs typeface="Arial"/>
                        </a:rPr>
                        <a:t> </a:t>
                      </a:r>
                      <a:r>
                        <a:rPr lang="en-GB" sz="1400" dirty="0" err="1">
                          <a:latin typeface="Arial"/>
                          <a:cs typeface="Arial"/>
                        </a:rPr>
                        <a:t>taleplerini</a:t>
                      </a:r>
                      <a:r>
                        <a:rPr lang="en-GB" sz="1400" dirty="0">
                          <a:latin typeface="Arial"/>
                          <a:cs typeface="Arial"/>
                        </a:rPr>
                        <a:t> </a:t>
                      </a:r>
                      <a:r>
                        <a:rPr lang="en-GB" sz="1400" dirty="0" err="1">
                          <a:latin typeface="Arial"/>
                          <a:cs typeface="Arial"/>
                        </a:rPr>
                        <a:t>karşılamak</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güvenilir</a:t>
                      </a:r>
                      <a:r>
                        <a:rPr lang="en-GB" sz="1400" dirty="0">
                          <a:latin typeface="Arial"/>
                          <a:cs typeface="Arial"/>
                        </a:rPr>
                        <a:t> </a:t>
                      </a:r>
                      <a:r>
                        <a:rPr lang="en-GB" sz="1400" dirty="0" err="1">
                          <a:latin typeface="Arial"/>
                          <a:cs typeface="Arial"/>
                        </a:rPr>
                        <a:t>yazılımlar</a:t>
                      </a:r>
                      <a:r>
                        <a:rPr lang="en-GB" sz="1400" dirty="0">
                          <a:latin typeface="Arial"/>
                          <a:cs typeface="Arial"/>
                        </a:rPr>
                        <a:t> </a:t>
                      </a:r>
                      <a:r>
                        <a:rPr lang="en-GB" sz="1400" dirty="0" err="1">
                          <a:latin typeface="Arial"/>
                          <a:cs typeface="Arial"/>
                        </a:rPr>
                        <a:t>geliştirmek</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tr-TR" sz="1400" dirty="0">
                          <a:latin typeface="Arial"/>
                          <a:cs typeface="Arial"/>
                        </a:rPr>
                        <a:t>Yazılım mühendisliğinin maliyetleri nelerdir?</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err="1">
                          <a:latin typeface="Arial"/>
                          <a:cs typeface="Arial"/>
                        </a:rPr>
                        <a:t>Yazılım</a:t>
                      </a:r>
                      <a:r>
                        <a:rPr lang="en-GB" sz="1400" dirty="0">
                          <a:latin typeface="Arial"/>
                          <a:cs typeface="Arial"/>
                        </a:rPr>
                        <a:t> </a:t>
                      </a:r>
                      <a:r>
                        <a:rPr lang="en-GB" sz="1400" dirty="0" err="1">
                          <a:latin typeface="Arial"/>
                          <a:cs typeface="Arial"/>
                        </a:rPr>
                        <a:t>maliyetlerinin</a:t>
                      </a:r>
                      <a:r>
                        <a:rPr lang="en-GB" sz="1400" dirty="0">
                          <a:latin typeface="Arial"/>
                          <a:cs typeface="Arial"/>
                        </a:rPr>
                        <a:t> </a:t>
                      </a:r>
                      <a:r>
                        <a:rPr lang="en-GB" sz="1400" dirty="0" err="1">
                          <a:latin typeface="Arial"/>
                          <a:cs typeface="Arial"/>
                        </a:rPr>
                        <a:t>kabaca</a:t>
                      </a:r>
                      <a:r>
                        <a:rPr lang="en-GB" sz="1400" dirty="0">
                          <a:latin typeface="Arial"/>
                          <a:cs typeface="Arial"/>
                        </a:rPr>
                        <a:t> %60'ı </a:t>
                      </a:r>
                      <a:r>
                        <a:rPr lang="en-GB" sz="1400" dirty="0" err="1">
                          <a:latin typeface="Arial"/>
                          <a:cs typeface="Arial"/>
                        </a:rPr>
                        <a:t>geliştirme</a:t>
                      </a:r>
                      <a:r>
                        <a:rPr lang="en-GB" sz="1400" dirty="0">
                          <a:latin typeface="Arial"/>
                          <a:cs typeface="Arial"/>
                        </a:rPr>
                        <a:t> </a:t>
                      </a:r>
                      <a:r>
                        <a:rPr lang="en-GB" sz="1400" dirty="0" err="1">
                          <a:latin typeface="Arial"/>
                          <a:cs typeface="Arial"/>
                        </a:rPr>
                        <a:t>maliyetleri</a:t>
                      </a:r>
                      <a:r>
                        <a:rPr lang="en-GB" sz="1400" dirty="0">
                          <a:latin typeface="Arial"/>
                          <a:cs typeface="Arial"/>
                        </a:rPr>
                        <a:t>, %40'ı </a:t>
                      </a:r>
                      <a:r>
                        <a:rPr lang="en-GB" sz="1400" dirty="0" err="1">
                          <a:latin typeface="Arial"/>
                          <a:cs typeface="Arial"/>
                        </a:rPr>
                        <a:t>ise</a:t>
                      </a:r>
                      <a:r>
                        <a:rPr lang="en-GB" sz="1400" dirty="0">
                          <a:latin typeface="Arial"/>
                          <a:cs typeface="Arial"/>
                        </a:rPr>
                        <a:t> test </a:t>
                      </a:r>
                      <a:r>
                        <a:rPr lang="en-GB" sz="1400" dirty="0" err="1">
                          <a:latin typeface="Arial"/>
                          <a:cs typeface="Arial"/>
                        </a:rPr>
                        <a:t>maliyetleridir</a:t>
                      </a:r>
                      <a:r>
                        <a:rPr lang="en-GB" sz="1400" dirty="0">
                          <a:latin typeface="Arial"/>
                          <a:cs typeface="Arial"/>
                        </a:rPr>
                        <a:t>. </a:t>
                      </a:r>
                      <a:r>
                        <a:rPr lang="en-GB" sz="1400" dirty="0" err="1">
                          <a:latin typeface="Arial"/>
                          <a:cs typeface="Arial"/>
                        </a:rPr>
                        <a:t>Özelleştirilmiş</a:t>
                      </a:r>
                      <a:r>
                        <a:rPr lang="en-GB" sz="1400" dirty="0">
                          <a:latin typeface="Arial"/>
                          <a:cs typeface="Arial"/>
                        </a:rPr>
                        <a:t> </a:t>
                      </a:r>
                      <a:r>
                        <a:rPr lang="en-GB" sz="1400" dirty="0" err="1">
                          <a:latin typeface="Arial"/>
                          <a:cs typeface="Arial"/>
                        </a:rPr>
                        <a:t>yazılımlarda</a:t>
                      </a:r>
                      <a:r>
                        <a:rPr lang="en-GB" sz="1400" dirty="0">
                          <a:latin typeface="Arial"/>
                          <a:cs typeface="Arial"/>
                        </a:rPr>
                        <a:t>, </a:t>
                      </a:r>
                      <a:r>
                        <a:rPr lang="en-GB" sz="1400" dirty="0" err="1">
                          <a:latin typeface="Arial"/>
                          <a:cs typeface="Arial"/>
                        </a:rPr>
                        <a:t>evrim</a:t>
                      </a:r>
                      <a:r>
                        <a:rPr lang="en-GB" sz="1400" dirty="0">
                          <a:latin typeface="Arial"/>
                          <a:cs typeface="Arial"/>
                        </a:rPr>
                        <a:t> (</a:t>
                      </a:r>
                      <a:r>
                        <a:rPr lang="en-GB" sz="1400" dirty="0" err="1">
                          <a:latin typeface="Arial"/>
                          <a:cs typeface="Arial"/>
                        </a:rPr>
                        <a:t>bakım</a:t>
                      </a:r>
                      <a:r>
                        <a:rPr lang="en-GB" sz="1400" dirty="0">
                          <a:latin typeface="Arial"/>
                          <a:cs typeface="Arial"/>
                        </a:rPr>
                        <a:t>) </a:t>
                      </a:r>
                      <a:r>
                        <a:rPr lang="en-GB" sz="1400" dirty="0" err="1">
                          <a:latin typeface="Arial"/>
                          <a:cs typeface="Arial"/>
                        </a:rPr>
                        <a:t>maliyetleri</a:t>
                      </a:r>
                      <a:r>
                        <a:rPr lang="en-GB" sz="1400" dirty="0">
                          <a:latin typeface="Arial"/>
                          <a:cs typeface="Arial"/>
                        </a:rPr>
                        <a:t> </a:t>
                      </a:r>
                      <a:r>
                        <a:rPr lang="en-GB" sz="1400" dirty="0" err="1">
                          <a:latin typeface="Arial"/>
                          <a:cs typeface="Arial"/>
                        </a:rPr>
                        <a:t>genellikle</a:t>
                      </a:r>
                      <a:r>
                        <a:rPr lang="en-GB" sz="1400" dirty="0">
                          <a:latin typeface="Arial"/>
                          <a:cs typeface="Arial"/>
                        </a:rPr>
                        <a:t> </a:t>
                      </a:r>
                      <a:r>
                        <a:rPr lang="en-GB" sz="1400" dirty="0" err="1">
                          <a:latin typeface="Arial"/>
                          <a:cs typeface="Arial"/>
                        </a:rPr>
                        <a:t>geliştirme</a:t>
                      </a:r>
                      <a:r>
                        <a:rPr lang="en-GB" sz="1400" dirty="0">
                          <a:latin typeface="Arial"/>
                          <a:cs typeface="Arial"/>
                        </a:rPr>
                        <a:t> </a:t>
                      </a:r>
                      <a:r>
                        <a:rPr lang="en-GB" sz="1400" dirty="0" err="1">
                          <a:latin typeface="Arial"/>
                          <a:cs typeface="Arial"/>
                        </a:rPr>
                        <a:t>maliyetlerini</a:t>
                      </a:r>
                      <a:r>
                        <a:rPr lang="en-GB" sz="1400" dirty="0">
                          <a:latin typeface="Arial"/>
                          <a:cs typeface="Arial"/>
                        </a:rPr>
                        <a:t> </a:t>
                      </a:r>
                      <a:r>
                        <a:rPr lang="en-GB" sz="1400" dirty="0" err="1">
                          <a:latin typeface="Arial"/>
                          <a:cs typeface="Arial"/>
                        </a:rPr>
                        <a:t>aşar</a:t>
                      </a:r>
                      <a:r>
                        <a:rPr lang="tr-TR" sz="1400" dirty="0">
                          <a:latin typeface="Arial"/>
                          <a:cs typeface="Arial"/>
                        </a:rPr>
                        <a: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tr-TR" sz="1400" dirty="0">
                          <a:latin typeface="Arial"/>
                          <a:cs typeface="Arial"/>
                        </a:rPr>
                        <a:t>En iyi yazılım mühendisliği teknikleri ve yöntemleri hangileridir?</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err="1">
                          <a:latin typeface="Arial"/>
                          <a:cs typeface="Arial"/>
                        </a:rPr>
                        <a:t>Tüm</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projelerinin</a:t>
                      </a:r>
                      <a:r>
                        <a:rPr lang="en-GB" sz="1400" dirty="0">
                          <a:latin typeface="Arial"/>
                          <a:cs typeface="Arial"/>
                        </a:rPr>
                        <a:t> </a:t>
                      </a:r>
                      <a:r>
                        <a:rPr lang="en-GB" sz="1400" dirty="0" err="1">
                          <a:latin typeface="Arial"/>
                          <a:cs typeface="Arial"/>
                        </a:rPr>
                        <a:t>profesyonelce</a:t>
                      </a:r>
                      <a:r>
                        <a:rPr lang="en-GB" sz="1400" dirty="0">
                          <a:latin typeface="Arial"/>
                          <a:cs typeface="Arial"/>
                        </a:rPr>
                        <a:t> </a:t>
                      </a:r>
                      <a:r>
                        <a:rPr lang="en-GB" sz="1400" dirty="0" err="1">
                          <a:latin typeface="Arial"/>
                          <a:cs typeface="Arial"/>
                        </a:rPr>
                        <a:t>yönetilmesi</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geliştirilmesi</a:t>
                      </a:r>
                      <a:r>
                        <a:rPr lang="en-GB" sz="1400" dirty="0">
                          <a:latin typeface="Arial"/>
                          <a:cs typeface="Arial"/>
                        </a:rPr>
                        <a:t> </a:t>
                      </a:r>
                      <a:r>
                        <a:rPr lang="en-GB" sz="1400" dirty="0" err="1">
                          <a:latin typeface="Arial"/>
                          <a:cs typeface="Arial"/>
                        </a:rPr>
                        <a:t>gerekse</a:t>
                      </a:r>
                      <a:r>
                        <a:rPr lang="en-GB" sz="1400" dirty="0">
                          <a:latin typeface="Arial"/>
                          <a:cs typeface="Arial"/>
                        </a:rPr>
                        <a:t> de, </a:t>
                      </a:r>
                      <a:r>
                        <a:rPr lang="en-GB" sz="1400" dirty="0" err="1">
                          <a:latin typeface="Arial"/>
                          <a:cs typeface="Arial"/>
                        </a:rPr>
                        <a:t>farklı</a:t>
                      </a:r>
                      <a:r>
                        <a:rPr lang="en-GB" sz="1400" dirty="0">
                          <a:latin typeface="Arial"/>
                          <a:cs typeface="Arial"/>
                        </a:rPr>
                        <a:t> </a:t>
                      </a:r>
                      <a:r>
                        <a:rPr lang="en-GB" sz="1400" dirty="0" err="1">
                          <a:latin typeface="Arial"/>
                          <a:cs typeface="Arial"/>
                        </a:rPr>
                        <a:t>sistem</a:t>
                      </a:r>
                      <a:r>
                        <a:rPr lang="en-GB" sz="1400" dirty="0">
                          <a:latin typeface="Arial"/>
                          <a:cs typeface="Arial"/>
                        </a:rPr>
                        <a:t> </a:t>
                      </a:r>
                      <a:r>
                        <a:rPr lang="en-GB" sz="1400" dirty="0" err="1">
                          <a:latin typeface="Arial"/>
                          <a:cs typeface="Arial"/>
                        </a:rPr>
                        <a:t>türleri</a:t>
                      </a:r>
                      <a:r>
                        <a:rPr lang="en-GB" sz="1400" dirty="0">
                          <a:latin typeface="Arial"/>
                          <a:cs typeface="Arial"/>
                        </a:rPr>
                        <a:t> </a:t>
                      </a:r>
                      <a:r>
                        <a:rPr lang="en-GB" sz="1400" dirty="0" err="1">
                          <a:latin typeface="Arial"/>
                          <a:cs typeface="Arial"/>
                        </a:rPr>
                        <a:t>için</a:t>
                      </a:r>
                      <a:r>
                        <a:rPr lang="en-GB" sz="1400" dirty="0">
                          <a:latin typeface="Arial"/>
                          <a:cs typeface="Arial"/>
                        </a:rPr>
                        <a:t> </a:t>
                      </a:r>
                      <a:r>
                        <a:rPr lang="en-GB" sz="1400" dirty="0" err="1">
                          <a:latin typeface="Arial"/>
                          <a:cs typeface="Arial"/>
                        </a:rPr>
                        <a:t>farklı</a:t>
                      </a:r>
                      <a:r>
                        <a:rPr lang="en-GB" sz="1400" dirty="0">
                          <a:latin typeface="Arial"/>
                          <a:cs typeface="Arial"/>
                        </a:rPr>
                        <a:t> </a:t>
                      </a:r>
                      <a:r>
                        <a:rPr lang="en-GB" sz="1400" dirty="0" err="1">
                          <a:latin typeface="Arial"/>
                          <a:cs typeface="Arial"/>
                        </a:rPr>
                        <a:t>teknikler</a:t>
                      </a:r>
                      <a:r>
                        <a:rPr lang="en-GB" sz="1400" dirty="0">
                          <a:latin typeface="Arial"/>
                          <a:cs typeface="Arial"/>
                        </a:rPr>
                        <a:t> </a:t>
                      </a:r>
                      <a:r>
                        <a:rPr lang="en-GB" sz="1400" dirty="0" err="1">
                          <a:latin typeface="Arial"/>
                          <a:cs typeface="Arial"/>
                        </a:rPr>
                        <a:t>uygundur</a:t>
                      </a:r>
                      <a:r>
                        <a:rPr lang="en-GB" sz="1400" dirty="0">
                          <a:latin typeface="Arial"/>
                          <a:cs typeface="Arial"/>
                        </a:rPr>
                        <a:t>. </a:t>
                      </a:r>
                      <a:r>
                        <a:rPr lang="en-GB" sz="1400" dirty="0" err="1">
                          <a:latin typeface="Arial"/>
                          <a:cs typeface="Arial"/>
                        </a:rPr>
                        <a:t>Örneğin</a:t>
                      </a:r>
                      <a:r>
                        <a:rPr lang="en-GB" sz="1400" dirty="0">
                          <a:latin typeface="Arial"/>
                          <a:cs typeface="Arial"/>
                        </a:rPr>
                        <a:t> </a:t>
                      </a:r>
                      <a:r>
                        <a:rPr lang="en-GB" sz="1400" dirty="0" err="1">
                          <a:latin typeface="Arial"/>
                          <a:cs typeface="Arial"/>
                        </a:rPr>
                        <a:t>oyunlar</a:t>
                      </a:r>
                      <a:r>
                        <a:rPr lang="en-GB" sz="1400" dirty="0">
                          <a:latin typeface="Arial"/>
                          <a:cs typeface="Arial"/>
                        </a:rPr>
                        <a:t> her zaman </a:t>
                      </a:r>
                      <a:r>
                        <a:rPr lang="en-GB" sz="1400" dirty="0" err="1">
                          <a:latin typeface="Arial"/>
                          <a:cs typeface="Arial"/>
                        </a:rPr>
                        <a:t>bir</a:t>
                      </a:r>
                      <a:r>
                        <a:rPr lang="en-GB" sz="1400" dirty="0">
                          <a:latin typeface="Arial"/>
                          <a:cs typeface="Arial"/>
                        </a:rPr>
                        <a:t> dizi </a:t>
                      </a:r>
                      <a:r>
                        <a:rPr lang="en-GB" sz="1400" dirty="0" err="1">
                          <a:latin typeface="Arial"/>
                          <a:cs typeface="Arial"/>
                        </a:rPr>
                        <a:t>prototip</a:t>
                      </a:r>
                      <a:r>
                        <a:rPr lang="en-GB" sz="1400" dirty="0">
                          <a:latin typeface="Arial"/>
                          <a:cs typeface="Arial"/>
                        </a:rPr>
                        <a:t> </a:t>
                      </a:r>
                      <a:r>
                        <a:rPr lang="en-GB" sz="1400" dirty="0" err="1">
                          <a:latin typeface="Arial"/>
                          <a:cs typeface="Arial"/>
                        </a:rPr>
                        <a:t>kullanılarak</a:t>
                      </a:r>
                      <a:r>
                        <a:rPr lang="en-GB" sz="1400" dirty="0">
                          <a:latin typeface="Arial"/>
                          <a:cs typeface="Arial"/>
                        </a:rPr>
                        <a:t> </a:t>
                      </a:r>
                      <a:r>
                        <a:rPr lang="en-GB" sz="1400" dirty="0" err="1">
                          <a:latin typeface="Arial"/>
                          <a:cs typeface="Arial"/>
                        </a:rPr>
                        <a:t>geliştirilmeli</a:t>
                      </a:r>
                      <a:r>
                        <a:rPr lang="en-GB" sz="1400" dirty="0">
                          <a:latin typeface="Arial"/>
                          <a:cs typeface="Arial"/>
                        </a:rPr>
                        <a:t>, </a:t>
                      </a:r>
                      <a:r>
                        <a:rPr lang="en-GB" sz="1400" dirty="0" err="1">
                          <a:latin typeface="Arial"/>
                          <a:cs typeface="Arial"/>
                        </a:rPr>
                        <a:t>oysa</a:t>
                      </a:r>
                      <a:r>
                        <a:rPr lang="en-GB" sz="1400" dirty="0">
                          <a:latin typeface="Arial"/>
                          <a:cs typeface="Arial"/>
                        </a:rPr>
                        <a:t> </a:t>
                      </a:r>
                      <a:r>
                        <a:rPr lang="en-GB" sz="1400" dirty="0" err="1">
                          <a:latin typeface="Arial"/>
                          <a:cs typeface="Arial"/>
                        </a:rPr>
                        <a:t>güvenliğin</a:t>
                      </a:r>
                      <a:r>
                        <a:rPr lang="en-GB" sz="1400" dirty="0">
                          <a:latin typeface="Arial"/>
                          <a:cs typeface="Arial"/>
                        </a:rPr>
                        <a:t> </a:t>
                      </a:r>
                      <a:r>
                        <a:rPr lang="en-GB" sz="1400" dirty="0" err="1">
                          <a:latin typeface="Arial"/>
                          <a:cs typeface="Arial"/>
                        </a:rPr>
                        <a:t>kritik</a:t>
                      </a:r>
                      <a:r>
                        <a:rPr lang="en-GB" sz="1400" dirty="0">
                          <a:latin typeface="Arial"/>
                          <a:cs typeface="Arial"/>
                        </a:rPr>
                        <a:t> </a:t>
                      </a:r>
                      <a:r>
                        <a:rPr lang="en-GB" sz="1400" dirty="0" err="1">
                          <a:latin typeface="Arial"/>
                          <a:cs typeface="Arial"/>
                        </a:rPr>
                        <a:t>olduğu</a:t>
                      </a:r>
                      <a:r>
                        <a:rPr lang="en-GB" sz="1400" dirty="0">
                          <a:latin typeface="Arial"/>
                          <a:cs typeface="Arial"/>
                        </a:rPr>
                        <a:t> </a:t>
                      </a:r>
                      <a:r>
                        <a:rPr lang="en-GB" sz="1400" dirty="0" err="1">
                          <a:latin typeface="Arial"/>
                          <a:cs typeface="Arial"/>
                        </a:rPr>
                        <a:t>kontrol</a:t>
                      </a:r>
                      <a:r>
                        <a:rPr lang="en-GB" sz="1400" dirty="0">
                          <a:latin typeface="Arial"/>
                          <a:cs typeface="Arial"/>
                        </a:rPr>
                        <a:t> </a:t>
                      </a:r>
                      <a:r>
                        <a:rPr lang="en-GB" sz="1400" dirty="0" err="1">
                          <a:latin typeface="Arial"/>
                          <a:cs typeface="Arial"/>
                        </a:rPr>
                        <a:t>sistemleri</a:t>
                      </a:r>
                      <a:r>
                        <a:rPr lang="en-GB" sz="1400" dirty="0">
                          <a:latin typeface="Arial"/>
                          <a:cs typeface="Arial"/>
                        </a:rPr>
                        <a:t> </a:t>
                      </a:r>
                      <a:r>
                        <a:rPr lang="en-GB" sz="1400" dirty="0" err="1">
                          <a:latin typeface="Arial"/>
                          <a:cs typeface="Arial"/>
                        </a:rPr>
                        <a:t>eksiksiz</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analiz</a:t>
                      </a:r>
                      <a:r>
                        <a:rPr lang="en-GB" sz="1400" dirty="0">
                          <a:latin typeface="Arial"/>
                          <a:cs typeface="Arial"/>
                        </a:rPr>
                        <a:t> </a:t>
                      </a:r>
                      <a:r>
                        <a:rPr lang="en-GB" sz="1400" dirty="0" err="1">
                          <a:latin typeface="Arial"/>
                          <a:cs typeface="Arial"/>
                        </a:rPr>
                        <a:t>edilebilir</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belirtim</a:t>
                      </a:r>
                      <a:r>
                        <a:rPr lang="en-GB" sz="1400" dirty="0">
                          <a:latin typeface="Arial"/>
                          <a:cs typeface="Arial"/>
                        </a:rPr>
                        <a:t> </a:t>
                      </a:r>
                      <a:r>
                        <a:rPr lang="en-GB" sz="1400" dirty="0" err="1">
                          <a:latin typeface="Arial"/>
                          <a:cs typeface="Arial"/>
                        </a:rPr>
                        <a:t>geliştirilmesini</a:t>
                      </a:r>
                      <a:r>
                        <a:rPr lang="en-GB" sz="1400" dirty="0">
                          <a:latin typeface="Arial"/>
                          <a:cs typeface="Arial"/>
                        </a:rPr>
                        <a:t> </a:t>
                      </a:r>
                      <a:r>
                        <a:rPr lang="en-GB" sz="1400" dirty="0" err="1">
                          <a:latin typeface="Arial"/>
                          <a:cs typeface="Arial"/>
                        </a:rPr>
                        <a:t>gerektirir</a:t>
                      </a:r>
                      <a:r>
                        <a:rPr lang="en-GB" sz="1400" dirty="0">
                          <a:latin typeface="Arial"/>
                          <a:cs typeface="Arial"/>
                        </a:rPr>
                        <a:t>. Bu </a:t>
                      </a:r>
                      <a:r>
                        <a:rPr lang="en-GB" sz="1400" dirty="0" err="1">
                          <a:latin typeface="Arial"/>
                          <a:cs typeface="Arial"/>
                        </a:rPr>
                        <a:t>nedenle</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yöntemin</a:t>
                      </a:r>
                      <a:r>
                        <a:rPr lang="en-GB" sz="1400" dirty="0">
                          <a:latin typeface="Arial"/>
                          <a:cs typeface="Arial"/>
                        </a:rPr>
                        <a:t> </a:t>
                      </a:r>
                      <a:r>
                        <a:rPr lang="en-GB" sz="1400" dirty="0" err="1">
                          <a:latin typeface="Arial"/>
                          <a:cs typeface="Arial"/>
                        </a:rPr>
                        <a:t>diğerinden</a:t>
                      </a:r>
                      <a:r>
                        <a:rPr lang="en-GB" sz="1400" dirty="0">
                          <a:latin typeface="Arial"/>
                          <a:cs typeface="Arial"/>
                        </a:rPr>
                        <a:t> </a:t>
                      </a:r>
                      <a:r>
                        <a:rPr lang="en-GB" sz="1400" dirty="0" err="1">
                          <a:latin typeface="Arial"/>
                          <a:cs typeface="Arial"/>
                        </a:rPr>
                        <a:t>daha</a:t>
                      </a:r>
                      <a:r>
                        <a:rPr lang="en-GB" sz="1400" dirty="0">
                          <a:latin typeface="Arial"/>
                          <a:cs typeface="Arial"/>
                        </a:rPr>
                        <a:t> iyi </a:t>
                      </a:r>
                      <a:r>
                        <a:rPr lang="en-GB" sz="1400" dirty="0" err="1">
                          <a:latin typeface="Arial"/>
                          <a:cs typeface="Arial"/>
                        </a:rPr>
                        <a:t>olduğunu</a:t>
                      </a:r>
                      <a:r>
                        <a:rPr lang="en-GB" sz="1400" dirty="0">
                          <a:latin typeface="Arial"/>
                          <a:cs typeface="Arial"/>
                        </a:rPr>
                        <a:t> </a:t>
                      </a:r>
                      <a:r>
                        <a:rPr lang="en-GB" sz="1400" dirty="0" err="1">
                          <a:latin typeface="Arial"/>
                          <a:cs typeface="Arial"/>
                        </a:rPr>
                        <a:t>söyleyemezsiniz</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tr-TR" sz="1400">
                          <a:latin typeface="Arial"/>
                          <a:cs typeface="Arial"/>
                        </a:rPr>
                        <a:t>Web, yazılım mühendisliğinde ne gibi değişiklikler yaratmıştır?</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Web, </a:t>
                      </a:r>
                      <a:r>
                        <a:rPr lang="en-GB" sz="1400" dirty="0" err="1">
                          <a:latin typeface="Arial"/>
                          <a:cs typeface="Arial"/>
                        </a:rPr>
                        <a:t>yazılım</a:t>
                      </a:r>
                      <a:r>
                        <a:rPr lang="en-GB" sz="1400" dirty="0">
                          <a:latin typeface="Arial"/>
                          <a:cs typeface="Arial"/>
                        </a:rPr>
                        <a:t> </a:t>
                      </a:r>
                      <a:r>
                        <a:rPr lang="en-GB" sz="1400" dirty="0" err="1">
                          <a:latin typeface="Arial"/>
                          <a:cs typeface="Arial"/>
                        </a:rPr>
                        <a:t>hizmetlerinin</a:t>
                      </a:r>
                      <a:r>
                        <a:rPr lang="en-GB" sz="1400" dirty="0">
                          <a:latin typeface="Arial"/>
                          <a:cs typeface="Arial"/>
                        </a:rPr>
                        <a:t> </a:t>
                      </a:r>
                      <a:r>
                        <a:rPr lang="en-GB" sz="1400" dirty="0" err="1">
                          <a:latin typeface="Arial"/>
                          <a:cs typeface="Arial"/>
                        </a:rPr>
                        <a:t>kullanılabilirliğine</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oldukça</a:t>
                      </a:r>
                      <a:r>
                        <a:rPr lang="en-GB" sz="1400" dirty="0">
                          <a:latin typeface="Arial"/>
                          <a:cs typeface="Arial"/>
                        </a:rPr>
                        <a:t> </a:t>
                      </a:r>
                      <a:r>
                        <a:rPr lang="en-GB" sz="1400" dirty="0" err="1">
                          <a:latin typeface="Arial"/>
                          <a:cs typeface="Arial"/>
                        </a:rPr>
                        <a:t>dağıtık</a:t>
                      </a:r>
                      <a:r>
                        <a:rPr lang="en-GB" sz="1400" dirty="0">
                          <a:latin typeface="Arial"/>
                          <a:cs typeface="Arial"/>
                        </a:rPr>
                        <a:t> </a:t>
                      </a:r>
                      <a:r>
                        <a:rPr lang="en-GB" sz="1400" dirty="0" err="1">
                          <a:latin typeface="Arial"/>
                          <a:cs typeface="Arial"/>
                        </a:rPr>
                        <a:t>hizmet</a:t>
                      </a:r>
                      <a:r>
                        <a:rPr lang="en-GB" sz="1400" dirty="0">
                          <a:latin typeface="Arial"/>
                          <a:cs typeface="Arial"/>
                        </a:rPr>
                        <a:t> </a:t>
                      </a:r>
                      <a:r>
                        <a:rPr lang="en-GB" sz="1400" dirty="0" err="1">
                          <a:latin typeface="Arial"/>
                          <a:cs typeface="Arial"/>
                        </a:rPr>
                        <a:t>tabanlı</a:t>
                      </a:r>
                      <a:r>
                        <a:rPr lang="en-GB" sz="1400" dirty="0">
                          <a:latin typeface="Arial"/>
                          <a:cs typeface="Arial"/>
                        </a:rPr>
                        <a:t> </a:t>
                      </a:r>
                      <a:r>
                        <a:rPr lang="en-GB" sz="1400" dirty="0" err="1">
                          <a:latin typeface="Arial"/>
                          <a:cs typeface="Arial"/>
                        </a:rPr>
                        <a:t>sistemler</a:t>
                      </a:r>
                      <a:r>
                        <a:rPr lang="en-GB" sz="1400" dirty="0">
                          <a:latin typeface="Arial"/>
                          <a:cs typeface="Arial"/>
                        </a:rPr>
                        <a:t> </a:t>
                      </a:r>
                      <a:r>
                        <a:rPr lang="en-GB" sz="1400" dirty="0" err="1">
                          <a:latin typeface="Arial"/>
                          <a:cs typeface="Arial"/>
                        </a:rPr>
                        <a:t>geliştirme</a:t>
                      </a:r>
                      <a:r>
                        <a:rPr lang="en-GB" sz="1400" dirty="0">
                          <a:latin typeface="Arial"/>
                          <a:cs typeface="Arial"/>
                        </a:rPr>
                        <a:t> </a:t>
                      </a:r>
                      <a:r>
                        <a:rPr lang="en-GB" sz="1400" dirty="0" err="1">
                          <a:latin typeface="Arial"/>
                          <a:cs typeface="Arial"/>
                        </a:rPr>
                        <a:t>ihtimaline</a:t>
                      </a:r>
                      <a:r>
                        <a:rPr lang="en-GB" sz="1400" dirty="0">
                          <a:latin typeface="Arial"/>
                          <a:cs typeface="Arial"/>
                        </a:rPr>
                        <a:t> </a:t>
                      </a:r>
                      <a:r>
                        <a:rPr lang="en-GB" sz="1400" dirty="0" err="1">
                          <a:latin typeface="Arial"/>
                          <a:cs typeface="Arial"/>
                        </a:rPr>
                        <a:t>yol</a:t>
                      </a:r>
                      <a:r>
                        <a:rPr lang="en-GB" sz="1400" dirty="0">
                          <a:latin typeface="Arial"/>
                          <a:cs typeface="Arial"/>
                        </a:rPr>
                        <a:t> </a:t>
                      </a:r>
                      <a:r>
                        <a:rPr lang="en-GB" sz="1400" dirty="0" err="1">
                          <a:latin typeface="Arial"/>
                          <a:cs typeface="Arial"/>
                        </a:rPr>
                        <a:t>açmıştır</a:t>
                      </a:r>
                      <a:r>
                        <a:rPr lang="en-GB" sz="1400" dirty="0">
                          <a:latin typeface="Arial"/>
                          <a:cs typeface="Arial"/>
                        </a:rPr>
                        <a:t>. Web </a:t>
                      </a:r>
                      <a:r>
                        <a:rPr lang="en-GB" sz="1400" dirty="0" err="1">
                          <a:latin typeface="Arial"/>
                          <a:cs typeface="Arial"/>
                        </a:rPr>
                        <a:t>tabanlı</a:t>
                      </a:r>
                      <a:r>
                        <a:rPr lang="en-GB" sz="1400" dirty="0">
                          <a:latin typeface="Arial"/>
                          <a:cs typeface="Arial"/>
                        </a:rPr>
                        <a:t> </a:t>
                      </a:r>
                      <a:r>
                        <a:rPr lang="en-GB" sz="1400" dirty="0" err="1">
                          <a:latin typeface="Arial"/>
                          <a:cs typeface="Arial"/>
                        </a:rPr>
                        <a:t>sistem</a:t>
                      </a:r>
                      <a:r>
                        <a:rPr lang="en-GB" sz="1400" dirty="0">
                          <a:latin typeface="Arial"/>
                          <a:cs typeface="Arial"/>
                        </a:rPr>
                        <a:t> </a:t>
                      </a:r>
                      <a:r>
                        <a:rPr lang="en-GB" sz="1400" dirty="0" err="1">
                          <a:latin typeface="Arial"/>
                          <a:cs typeface="Arial"/>
                        </a:rPr>
                        <a:t>geliştirme</a:t>
                      </a:r>
                      <a:r>
                        <a:rPr lang="en-GB" sz="1400" dirty="0">
                          <a:latin typeface="Arial"/>
                          <a:cs typeface="Arial"/>
                        </a:rPr>
                        <a:t>, </a:t>
                      </a:r>
                      <a:r>
                        <a:rPr lang="en-GB" sz="1400" dirty="0" err="1">
                          <a:latin typeface="Arial"/>
                          <a:cs typeface="Arial"/>
                        </a:rPr>
                        <a:t>programlama</a:t>
                      </a:r>
                      <a:r>
                        <a:rPr lang="en-GB" sz="1400" dirty="0">
                          <a:latin typeface="Arial"/>
                          <a:cs typeface="Arial"/>
                        </a:rPr>
                        <a:t> </a:t>
                      </a:r>
                      <a:r>
                        <a:rPr lang="en-GB" sz="1400" dirty="0" err="1">
                          <a:latin typeface="Arial"/>
                          <a:cs typeface="Arial"/>
                        </a:rPr>
                        <a:t>dillerinde</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yazılımın</a:t>
                      </a:r>
                      <a:r>
                        <a:rPr lang="en-GB" sz="1400" dirty="0">
                          <a:latin typeface="Arial"/>
                          <a:cs typeface="Arial"/>
                        </a:rPr>
                        <a:t> </a:t>
                      </a:r>
                      <a:r>
                        <a:rPr lang="en-GB" sz="1400" dirty="0" err="1">
                          <a:latin typeface="Arial"/>
                          <a:cs typeface="Arial"/>
                        </a:rPr>
                        <a:t>yeniden</a:t>
                      </a:r>
                      <a:r>
                        <a:rPr lang="en-GB" sz="1400" dirty="0">
                          <a:latin typeface="Arial"/>
                          <a:cs typeface="Arial"/>
                        </a:rPr>
                        <a:t> </a:t>
                      </a:r>
                      <a:r>
                        <a:rPr lang="en-GB" sz="1400" dirty="0" err="1">
                          <a:latin typeface="Arial"/>
                          <a:cs typeface="Arial"/>
                        </a:rPr>
                        <a:t>kullanımında</a:t>
                      </a:r>
                      <a:r>
                        <a:rPr lang="en-GB" sz="1400" dirty="0">
                          <a:latin typeface="Arial"/>
                          <a:cs typeface="Arial"/>
                        </a:rPr>
                        <a:t> </a:t>
                      </a:r>
                      <a:r>
                        <a:rPr lang="en-GB" sz="1400" dirty="0" err="1">
                          <a:latin typeface="Arial"/>
                          <a:cs typeface="Arial"/>
                        </a:rPr>
                        <a:t>önemli</a:t>
                      </a:r>
                      <a:r>
                        <a:rPr lang="en-GB" sz="1400" dirty="0">
                          <a:latin typeface="Arial"/>
                          <a:cs typeface="Arial"/>
                        </a:rPr>
                        <a:t> </a:t>
                      </a:r>
                      <a:r>
                        <a:rPr lang="en-GB" sz="1400" dirty="0" err="1">
                          <a:latin typeface="Arial"/>
                          <a:cs typeface="Arial"/>
                        </a:rPr>
                        <a:t>ilerlemeler</a:t>
                      </a:r>
                      <a:r>
                        <a:rPr lang="en-GB" sz="1400" dirty="0">
                          <a:latin typeface="Arial"/>
                          <a:cs typeface="Arial"/>
                        </a:rPr>
                        <a:t> </a:t>
                      </a:r>
                      <a:r>
                        <a:rPr lang="en-GB" sz="1400" dirty="0" err="1">
                          <a:latin typeface="Arial"/>
                          <a:cs typeface="Arial"/>
                        </a:rPr>
                        <a:t>sağlamıştır</a:t>
                      </a:r>
                      <a:r>
                        <a:rPr lang="tr-TR" sz="1400" dirty="0">
                          <a:latin typeface="Arial"/>
                          <a:cs typeface="Arial"/>
                        </a:rPr>
                        <a: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 ürünleri</a:t>
            </a:r>
          </a:p>
        </p:txBody>
      </p:sp>
      <p:sp>
        <p:nvSpPr>
          <p:cNvPr id="3" name="Content Placeholder 2"/>
          <p:cNvSpPr>
            <a:spLocks noGrp="1"/>
          </p:cNvSpPr>
          <p:nvPr>
            <p:ph idx="1"/>
          </p:nvPr>
        </p:nvSpPr>
        <p:spPr/>
        <p:txBody>
          <a:bodyPr/>
          <a:lstStyle/>
          <a:p>
            <a:r>
              <a:rPr lang="tr-TR" dirty="0"/>
              <a:t>Genel amaçlı ürünler</a:t>
            </a:r>
          </a:p>
          <a:p>
            <a:pPr lvl="1"/>
            <a:r>
              <a:rPr lang="en-US" dirty="0" err="1"/>
              <a:t>Satın</a:t>
            </a:r>
            <a:r>
              <a:rPr lang="en-US" dirty="0"/>
              <a:t> </a:t>
            </a:r>
            <a:r>
              <a:rPr lang="en-US" dirty="0" err="1"/>
              <a:t>almak</a:t>
            </a:r>
            <a:r>
              <a:rPr lang="en-US" dirty="0"/>
              <a:t> </a:t>
            </a:r>
            <a:r>
              <a:rPr lang="en-US" dirty="0" err="1"/>
              <a:t>isteyen</a:t>
            </a:r>
            <a:r>
              <a:rPr lang="en-US" dirty="0"/>
              <a:t> </a:t>
            </a:r>
            <a:r>
              <a:rPr lang="en-US" dirty="0" err="1"/>
              <a:t>herhangi</a:t>
            </a:r>
            <a:r>
              <a:rPr lang="en-US" dirty="0"/>
              <a:t> </a:t>
            </a:r>
            <a:r>
              <a:rPr lang="en-US" dirty="0" err="1"/>
              <a:t>bir</a:t>
            </a:r>
            <a:r>
              <a:rPr lang="en-US" dirty="0"/>
              <a:t> </a:t>
            </a:r>
            <a:r>
              <a:rPr lang="en-US" dirty="0" err="1"/>
              <a:t>müşteriye</a:t>
            </a:r>
            <a:r>
              <a:rPr lang="en-US" dirty="0"/>
              <a:t> </a:t>
            </a:r>
            <a:r>
              <a:rPr lang="en-US" dirty="0" err="1"/>
              <a:t>pazarlanan</a:t>
            </a:r>
            <a:r>
              <a:rPr lang="en-US" dirty="0"/>
              <a:t> </a:t>
            </a:r>
            <a:r>
              <a:rPr lang="en-US" dirty="0" err="1"/>
              <a:t>ve</a:t>
            </a:r>
            <a:r>
              <a:rPr lang="en-US" dirty="0"/>
              <a:t> </a:t>
            </a:r>
            <a:r>
              <a:rPr lang="en-US" dirty="0" err="1"/>
              <a:t>satılan</a:t>
            </a:r>
            <a:r>
              <a:rPr lang="en-US" dirty="0"/>
              <a:t> </a:t>
            </a:r>
            <a:r>
              <a:rPr lang="en-US" dirty="0" err="1"/>
              <a:t>bağımsız</a:t>
            </a:r>
            <a:r>
              <a:rPr lang="en-US" dirty="0"/>
              <a:t> </a:t>
            </a:r>
            <a:r>
              <a:rPr lang="en-US" dirty="0" err="1"/>
              <a:t>sistemlerdir</a:t>
            </a:r>
            <a:endParaRPr lang="en-US" dirty="0"/>
          </a:p>
          <a:p>
            <a:pPr lvl="1"/>
            <a:r>
              <a:rPr lang="tr-TR" dirty="0"/>
              <a:t>Örnekler: Grafik programları, proje yönetim araçları gibi PC yazılımları; CAD yazılımları; diş hekimleri için randevu sistemleri gibi belirli pazarlara yönelik yazılımlar.</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r>
              <a:rPr lang="tr-TR" dirty="0" err="1"/>
              <a:t/>
            </a:r>
            <a:r>
              <a:rPr lang="tr-TR" dirty="0"/>
              <a:t/>
            </a:r>
            <a:endParaRPr lang="en-US" dirty="0"/>
          </a:p>
          <a:p>
            <a:r>
              <a:rPr lang="tr-TR" dirty="0"/>
              <a:t>Müşteriye özel ürünler</a:t>
            </a:r>
          </a:p>
          <a:p>
            <a:pPr lvl="1"/>
            <a:r>
              <a:rPr lang="en-US" dirty="0" err="1"/>
              <a:t>Belirli</a:t>
            </a:r>
            <a:r>
              <a:rPr lang="en-US" dirty="0"/>
              <a:t> </a:t>
            </a:r>
            <a:r>
              <a:rPr lang="en-US" dirty="0" err="1"/>
              <a:t>bir</a:t>
            </a:r>
            <a:r>
              <a:rPr lang="en-US" dirty="0"/>
              <a:t> </a:t>
            </a:r>
            <a:r>
              <a:rPr lang="en-US" dirty="0" err="1"/>
              <a:t>müşterinin</a:t>
            </a:r>
            <a:r>
              <a:rPr lang="en-US" dirty="0"/>
              <a:t> </a:t>
            </a:r>
            <a:r>
              <a:rPr lang="en-US" dirty="0" err="1"/>
              <a:t>kendi</a:t>
            </a:r>
            <a:r>
              <a:rPr lang="en-US" dirty="0"/>
              <a:t> </a:t>
            </a:r>
            <a:r>
              <a:rPr lang="en-US" dirty="0" err="1"/>
              <a:t>ihtiyaçlarını</a:t>
            </a:r>
            <a:r>
              <a:rPr lang="en-US" dirty="0"/>
              <a:t> </a:t>
            </a:r>
            <a:r>
              <a:rPr lang="en-US" dirty="0" err="1"/>
              <a:t>karşılamak</a:t>
            </a:r>
            <a:r>
              <a:rPr lang="en-US" dirty="0"/>
              <a:t> </a:t>
            </a:r>
            <a:r>
              <a:rPr lang="en-US" dirty="0" err="1"/>
              <a:t>üzere</a:t>
            </a:r>
            <a:r>
              <a:rPr lang="en-US" dirty="0"/>
              <a:t> </a:t>
            </a:r>
            <a:r>
              <a:rPr lang="en-US" dirty="0" err="1"/>
              <a:t>yetkilendirdiği</a:t>
            </a:r>
            <a:r>
              <a:rPr lang="en-US" dirty="0"/>
              <a:t> (</a:t>
            </a:r>
            <a:r>
              <a:rPr lang="en-US" dirty="0" err="1"/>
              <a:t>sipariş</a:t>
            </a:r>
            <a:r>
              <a:rPr lang="en-US" dirty="0"/>
              <a:t> </a:t>
            </a:r>
            <a:r>
              <a:rPr lang="en-US" dirty="0" err="1"/>
              <a:t>ettiği</a:t>
            </a:r>
            <a:r>
              <a:rPr lang="en-US" dirty="0"/>
              <a:t>) </a:t>
            </a:r>
            <a:r>
              <a:rPr lang="en-US" dirty="0" err="1"/>
              <a:t>yazılımlardır</a:t>
            </a:r>
            <a:r>
              <a:rPr lang="tr-TR" dirty="0"/>
              <a:t>.</a:t>
            </a:r>
            <a:endParaRPr lang="en-US" dirty="0"/>
          </a:p>
          <a:p>
            <a:pPr lvl="1"/>
            <a:r>
              <a:rPr lang="en-US" dirty="0" err="1"/>
              <a:t>Gömülü</a:t>
            </a:r>
            <a:r>
              <a:rPr lang="en-US" dirty="0"/>
              <a:t> </a:t>
            </a:r>
            <a:r>
              <a:rPr lang="en-US" dirty="0" err="1"/>
              <a:t>kontrol</a:t>
            </a:r>
            <a:r>
              <a:rPr lang="en-US" dirty="0"/>
              <a:t> </a:t>
            </a:r>
            <a:r>
              <a:rPr lang="en-US" dirty="0" err="1"/>
              <a:t>sistemleri</a:t>
            </a:r>
            <a:r>
              <a:rPr lang="en-US" dirty="0"/>
              <a:t>, </a:t>
            </a:r>
            <a:r>
              <a:rPr lang="en-US" dirty="0" err="1"/>
              <a:t>hava</a:t>
            </a:r>
            <a:r>
              <a:rPr lang="en-US" dirty="0"/>
              <a:t> </a:t>
            </a:r>
            <a:r>
              <a:rPr lang="en-US" dirty="0" err="1"/>
              <a:t>trafik</a:t>
            </a:r>
            <a:r>
              <a:rPr lang="en-US" dirty="0"/>
              <a:t> </a:t>
            </a:r>
            <a:r>
              <a:rPr lang="en-US" dirty="0" err="1"/>
              <a:t>kontrol</a:t>
            </a:r>
            <a:r>
              <a:rPr lang="en-US" dirty="0"/>
              <a:t> </a:t>
            </a:r>
            <a:r>
              <a:rPr lang="en-US" dirty="0" err="1"/>
              <a:t>yazılımı</a:t>
            </a:r>
            <a:r>
              <a:rPr lang="en-US" dirty="0"/>
              <a:t>, </a:t>
            </a:r>
            <a:r>
              <a:rPr lang="en-US" dirty="0" err="1"/>
              <a:t>trafik</a:t>
            </a:r>
            <a:r>
              <a:rPr lang="en-US" dirty="0"/>
              <a:t> </a:t>
            </a:r>
            <a:r>
              <a:rPr lang="en-US" dirty="0" err="1"/>
              <a:t>izleme</a:t>
            </a:r>
            <a:r>
              <a:rPr lang="en-US" dirty="0"/>
              <a:t> </a:t>
            </a:r>
            <a:r>
              <a:rPr lang="en-US" dirty="0" err="1"/>
              <a:t>sistemleri</a:t>
            </a:r>
            <a:r>
              <a:rPr lang="tr-TR" dirty="0"/>
              <a:t>.</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Ürün belirtimi</a:t>
            </a:r>
          </a:p>
        </p:txBody>
      </p:sp>
      <p:sp>
        <p:nvSpPr>
          <p:cNvPr id="3" name="Content Placeholder 2"/>
          <p:cNvSpPr>
            <a:spLocks noGrp="1"/>
          </p:cNvSpPr>
          <p:nvPr>
            <p:ph idx="1"/>
          </p:nvPr>
        </p:nvSpPr>
        <p:spPr/>
        <p:txBody>
          <a:bodyPr/>
          <a:lstStyle/>
          <a:p>
            <a:r>
              <a:rPr lang="tr-TR" dirty="0"/>
              <a:t>Genel amaçlı ürünler</a:t>
            </a:r>
          </a:p>
          <a:p>
            <a:pPr lvl="1"/>
            <a:r>
              <a:rPr lang="en-US" dirty="0" err="1"/>
              <a:t>Yazılımın</a:t>
            </a:r>
            <a:r>
              <a:rPr lang="en-US" dirty="0"/>
              <a:t> ne </a:t>
            </a:r>
            <a:r>
              <a:rPr lang="en-US" dirty="0" err="1"/>
              <a:t>yapması</a:t>
            </a:r>
            <a:r>
              <a:rPr lang="en-US" dirty="0"/>
              <a:t> </a:t>
            </a:r>
            <a:r>
              <a:rPr lang="en-US" dirty="0" err="1"/>
              <a:t>gerektiğine</a:t>
            </a:r>
            <a:r>
              <a:rPr lang="en-US" dirty="0"/>
              <a:t> </a:t>
            </a:r>
            <a:r>
              <a:rPr lang="en-US" dirty="0" err="1"/>
              <a:t>dair</a:t>
            </a:r>
            <a:r>
              <a:rPr lang="en-US" dirty="0"/>
              <a:t> </a:t>
            </a:r>
            <a:r>
              <a:rPr lang="en-US" dirty="0" err="1"/>
              <a:t>belirtimin</a:t>
            </a:r>
            <a:r>
              <a:rPr lang="en-US" dirty="0"/>
              <a:t> (</a:t>
            </a:r>
            <a:r>
              <a:rPr lang="en-US" dirty="0" err="1"/>
              <a:t>şartnamenin</a:t>
            </a:r>
            <a:r>
              <a:rPr lang="en-US" dirty="0"/>
              <a:t>) </a:t>
            </a:r>
            <a:r>
              <a:rPr lang="en-US" dirty="0" err="1"/>
              <a:t>sahibi</a:t>
            </a:r>
            <a:r>
              <a:rPr lang="en-US" dirty="0"/>
              <a:t> </a:t>
            </a:r>
            <a:r>
              <a:rPr lang="en-US" dirty="0" err="1"/>
              <a:t>yazılım</a:t>
            </a:r>
            <a:r>
              <a:rPr lang="en-US" dirty="0"/>
              <a:t> </a:t>
            </a:r>
            <a:r>
              <a:rPr lang="en-US" dirty="0" err="1"/>
              <a:t>geliştiricisidir</a:t>
            </a:r>
            <a:r>
              <a:rPr lang="en-US" dirty="0"/>
              <a:t> </a:t>
            </a:r>
            <a:r>
              <a:rPr lang="en-US" dirty="0" err="1"/>
              <a:t>ve</a:t>
            </a:r>
            <a:r>
              <a:rPr lang="en-US" dirty="0"/>
              <a:t> </a:t>
            </a:r>
            <a:r>
              <a:rPr lang="en-US" dirty="0" err="1"/>
              <a:t>yazılım</a:t>
            </a:r>
            <a:r>
              <a:rPr lang="en-US" dirty="0"/>
              <a:t> </a:t>
            </a:r>
            <a:r>
              <a:rPr lang="en-US" dirty="0" err="1"/>
              <a:t>değişikliğiyle</a:t>
            </a:r>
            <a:r>
              <a:rPr lang="en-US" dirty="0"/>
              <a:t> </a:t>
            </a:r>
            <a:r>
              <a:rPr lang="en-US" dirty="0" err="1"/>
              <a:t>ilgili</a:t>
            </a:r>
            <a:r>
              <a:rPr lang="en-US" dirty="0"/>
              <a:t> </a:t>
            </a:r>
            <a:r>
              <a:rPr lang="en-US" dirty="0" err="1"/>
              <a:t>kararlar</a:t>
            </a:r>
            <a:r>
              <a:rPr lang="en-US" dirty="0"/>
              <a:t> </a:t>
            </a:r>
            <a:r>
              <a:rPr lang="en-US" dirty="0" err="1"/>
              <a:t>geliştirici</a:t>
            </a:r>
            <a:r>
              <a:rPr lang="en-US" dirty="0"/>
              <a:t> </a:t>
            </a:r>
            <a:r>
              <a:rPr lang="en-US" dirty="0" err="1"/>
              <a:t>tarafından</a:t>
            </a:r>
            <a:r>
              <a:rPr lang="en-US" dirty="0"/>
              <a:t> </a:t>
            </a:r>
            <a:r>
              <a:rPr lang="en-US" dirty="0" err="1"/>
              <a:t>verilir</a:t>
            </a:r>
            <a:r>
              <a:rPr lang="en-US" dirty="0"/>
              <a:t>.</a:t>
            </a:r>
          </a:p>
          <a:p>
            <a:r>
              <a:rPr lang="tr-TR" dirty="0"/>
              <a:t>Müşteriye özel ürünler</a:t>
            </a:r>
          </a:p>
          <a:p>
            <a:pPr lvl="1"/>
            <a:r>
              <a:rPr lang="en-US" dirty="0" err="1"/>
              <a:t>Yazılımın</a:t>
            </a:r>
            <a:r>
              <a:rPr lang="en-US" dirty="0"/>
              <a:t> ne </a:t>
            </a:r>
            <a:r>
              <a:rPr lang="en-US" dirty="0" err="1"/>
              <a:t>yapması</a:t>
            </a:r>
            <a:r>
              <a:rPr lang="en-US" dirty="0"/>
              <a:t> </a:t>
            </a:r>
            <a:r>
              <a:rPr lang="en-US" dirty="0" err="1"/>
              <a:t>gerektiğine</a:t>
            </a:r>
            <a:r>
              <a:rPr lang="en-US" dirty="0"/>
              <a:t> </a:t>
            </a:r>
            <a:r>
              <a:rPr lang="en-US" dirty="0" err="1"/>
              <a:t>dair</a:t>
            </a:r>
            <a:r>
              <a:rPr lang="en-US" dirty="0"/>
              <a:t> </a:t>
            </a:r>
            <a:r>
              <a:rPr lang="en-US" dirty="0" err="1"/>
              <a:t>belirtimin</a:t>
            </a:r>
            <a:r>
              <a:rPr lang="en-US" dirty="0"/>
              <a:t> </a:t>
            </a:r>
            <a:r>
              <a:rPr lang="en-US" dirty="0" err="1"/>
              <a:t>sahibi</a:t>
            </a:r>
            <a:r>
              <a:rPr lang="en-US" dirty="0"/>
              <a:t> </a:t>
            </a:r>
            <a:r>
              <a:rPr lang="en-US" dirty="0" err="1"/>
              <a:t>yazılımın</a:t>
            </a:r>
            <a:r>
              <a:rPr lang="en-US" dirty="0"/>
              <a:t> </a:t>
            </a:r>
            <a:r>
              <a:rPr lang="en-US" dirty="0" err="1"/>
              <a:t>müşterisidir</a:t>
            </a:r>
            <a:r>
              <a:rPr lang="en-US" dirty="0"/>
              <a:t> </a:t>
            </a:r>
            <a:r>
              <a:rPr lang="en-US" dirty="0" err="1"/>
              <a:t>ve</a:t>
            </a:r>
            <a:r>
              <a:rPr lang="en-US" dirty="0"/>
              <a:t> </a:t>
            </a:r>
            <a:r>
              <a:rPr lang="en-US" dirty="0" err="1"/>
              <a:t>gerekli</a:t>
            </a:r>
            <a:r>
              <a:rPr lang="en-US" dirty="0"/>
              <a:t> </a:t>
            </a:r>
            <a:r>
              <a:rPr lang="en-US" dirty="0" err="1"/>
              <a:t>olan</a:t>
            </a:r>
            <a:r>
              <a:rPr lang="en-US" dirty="0"/>
              <a:t> </a:t>
            </a:r>
            <a:r>
              <a:rPr lang="en-US" dirty="0" err="1"/>
              <a:t>yazılım</a:t>
            </a:r>
            <a:r>
              <a:rPr lang="en-US" dirty="0"/>
              <a:t> </a:t>
            </a:r>
            <a:r>
              <a:rPr lang="en-US" dirty="0" err="1"/>
              <a:t>değişiklikleriyle</a:t>
            </a:r>
            <a:r>
              <a:rPr lang="en-US" dirty="0"/>
              <a:t> </a:t>
            </a:r>
            <a:r>
              <a:rPr lang="en-US" dirty="0" err="1"/>
              <a:t>ilgili</a:t>
            </a:r>
            <a:r>
              <a:rPr lang="en-US" dirty="0"/>
              <a:t> </a:t>
            </a:r>
            <a:r>
              <a:rPr lang="en-US" dirty="0" err="1"/>
              <a:t>kararları</a:t>
            </a:r>
            <a:r>
              <a:rPr lang="en-US" dirty="0"/>
              <a:t> </a:t>
            </a:r>
            <a:r>
              <a:rPr lang="en-US" dirty="0" err="1"/>
              <a:t>onlar</a:t>
            </a:r>
            <a:r>
              <a:rPr lang="en-US" dirty="0"/>
              <a:t> </a:t>
            </a:r>
            <a:r>
              <a:rPr lang="en-US" dirty="0" err="1"/>
              <a:t>verir</a:t>
            </a:r>
            <a:r>
              <a:rPr lang="en-US" dirty="0"/>
              <a:t>.</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tr-TR" dirty="0"/>
              <a:t>İyi yazılımın temel özellikleri</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746006709"/>
              </p:ext>
            </p:extLst>
          </p:nvPr>
        </p:nvGraphicFramePr>
        <p:xfrm>
          <a:off x="892175" y="1782763"/>
          <a:ext cx="7485040" cy="4288120"/>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tr-TR" sz="1400" dirty="0">
                          <a:latin typeface="Arial"/>
                          <a:cs typeface="Arial"/>
                        </a:rPr>
                        <a:t>Ürün özelliği</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tr-TR" sz="1400" dirty="0">
                          <a:latin typeface="Arial"/>
                          <a:cs typeface="Arial"/>
                        </a:rPr>
                        <a:t>Açıklama</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err="1">
                          <a:latin typeface="Arial"/>
                          <a:cs typeface="Arial"/>
                        </a:rPr>
                        <a:t>Bakımı</a:t>
                      </a:r>
                      <a:r>
                        <a:rPr lang="en-GB" sz="1400" dirty="0">
                          <a:latin typeface="Arial"/>
                          <a:cs typeface="Arial"/>
                        </a:rPr>
                        <a:t> </a:t>
                      </a:r>
                      <a:r>
                        <a:rPr lang="en-GB" sz="1400" dirty="0" err="1">
                          <a:latin typeface="Arial"/>
                          <a:cs typeface="Arial"/>
                        </a:rPr>
                        <a:t>Yapılabilirlik</a:t>
                      </a:r>
                      <a:r>
                        <a:rPr lang="en-GB" sz="1400" dirty="0">
                          <a:latin typeface="Arial"/>
                          <a:cs typeface="Arial"/>
                        </a:rPr>
                        <a:t> (Maintainability):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err="1">
                          <a:latin typeface="Arial"/>
                          <a:cs typeface="Arial"/>
                        </a:rPr>
                        <a:t>Yazılım</a:t>
                      </a:r>
                      <a:r>
                        <a:rPr lang="en-GB" sz="1400" dirty="0">
                          <a:latin typeface="Arial"/>
                          <a:cs typeface="Arial"/>
                        </a:rPr>
                        <a:t>, </a:t>
                      </a:r>
                      <a:r>
                        <a:rPr lang="en-GB" sz="1400" dirty="0" err="1">
                          <a:latin typeface="Arial"/>
                          <a:cs typeface="Arial"/>
                        </a:rPr>
                        <a:t>müşterilerin</a:t>
                      </a:r>
                      <a:r>
                        <a:rPr lang="en-GB" sz="1400" dirty="0">
                          <a:latin typeface="Arial"/>
                          <a:cs typeface="Arial"/>
                        </a:rPr>
                        <a:t> </a:t>
                      </a:r>
                      <a:r>
                        <a:rPr lang="en-GB" sz="1400" dirty="0" err="1">
                          <a:latin typeface="Arial"/>
                          <a:cs typeface="Arial"/>
                        </a:rPr>
                        <a:t>değişen</a:t>
                      </a:r>
                      <a:r>
                        <a:rPr lang="en-GB" sz="1400" dirty="0">
                          <a:latin typeface="Arial"/>
                          <a:cs typeface="Arial"/>
                        </a:rPr>
                        <a:t> </a:t>
                      </a:r>
                      <a:r>
                        <a:rPr lang="en-GB" sz="1400" dirty="0" err="1">
                          <a:latin typeface="Arial"/>
                          <a:cs typeface="Arial"/>
                        </a:rPr>
                        <a:t>ihtiyaçlarını</a:t>
                      </a:r>
                      <a:r>
                        <a:rPr lang="en-GB" sz="1400" dirty="0">
                          <a:latin typeface="Arial"/>
                          <a:cs typeface="Arial"/>
                        </a:rPr>
                        <a:t> </a:t>
                      </a:r>
                      <a:r>
                        <a:rPr lang="en-GB" sz="1400" dirty="0" err="1">
                          <a:latin typeface="Arial"/>
                          <a:cs typeface="Arial"/>
                        </a:rPr>
                        <a:t>karşılayacak</a:t>
                      </a:r>
                      <a:r>
                        <a:rPr lang="en-GB" sz="1400" dirty="0">
                          <a:latin typeface="Arial"/>
                          <a:cs typeface="Arial"/>
                        </a:rPr>
                        <a:t> </a:t>
                      </a:r>
                      <a:r>
                        <a:rPr lang="en-GB" sz="1400" dirty="0" err="1">
                          <a:latin typeface="Arial"/>
                          <a:cs typeface="Arial"/>
                        </a:rPr>
                        <a:t>şekilde</a:t>
                      </a:r>
                      <a:r>
                        <a:rPr lang="en-GB" sz="1400" dirty="0">
                          <a:latin typeface="Arial"/>
                          <a:cs typeface="Arial"/>
                        </a:rPr>
                        <a:t> </a:t>
                      </a:r>
                      <a:r>
                        <a:rPr lang="en-GB" sz="1400" dirty="0" err="1">
                          <a:latin typeface="Arial"/>
                          <a:cs typeface="Arial"/>
                        </a:rPr>
                        <a:t>evrilebilecek</a:t>
                      </a:r>
                      <a:r>
                        <a:rPr lang="en-GB" sz="1400" dirty="0">
                          <a:latin typeface="Arial"/>
                          <a:cs typeface="Arial"/>
                        </a:rPr>
                        <a:t> (</a:t>
                      </a:r>
                      <a:r>
                        <a:rPr lang="en-GB" sz="1400" dirty="0" err="1">
                          <a:latin typeface="Arial"/>
                          <a:cs typeface="Arial"/>
                        </a:rPr>
                        <a:t>geliştirilebilecek</a:t>
                      </a:r>
                      <a:r>
                        <a:rPr lang="en-GB" sz="1400" dirty="0">
                          <a:latin typeface="Arial"/>
                          <a:cs typeface="Arial"/>
                        </a:rPr>
                        <a:t>) </a:t>
                      </a:r>
                      <a:r>
                        <a:rPr lang="en-GB" sz="1400" dirty="0" err="1">
                          <a:latin typeface="Arial"/>
                          <a:cs typeface="Arial"/>
                        </a:rPr>
                        <a:t>biçimde</a:t>
                      </a:r>
                      <a:r>
                        <a:rPr lang="en-GB" sz="1400" dirty="0">
                          <a:latin typeface="Arial"/>
                          <a:cs typeface="Arial"/>
                        </a:rPr>
                        <a:t> </a:t>
                      </a:r>
                      <a:r>
                        <a:rPr lang="en-GB" sz="1400" dirty="0" err="1">
                          <a:latin typeface="Arial"/>
                          <a:cs typeface="Arial"/>
                        </a:rPr>
                        <a:t>yazılmalıdır</a:t>
                      </a:r>
                      <a:r>
                        <a:rPr lang="en-GB" sz="1400" dirty="0">
                          <a:latin typeface="Arial"/>
                          <a:cs typeface="Arial"/>
                        </a:rPr>
                        <a:t>. </a:t>
                      </a:r>
                      <a:r>
                        <a:rPr lang="en-GB" sz="1400" dirty="0" err="1">
                          <a:latin typeface="Arial"/>
                          <a:cs typeface="Arial"/>
                        </a:rPr>
                        <a:t>Değişen</a:t>
                      </a:r>
                      <a:r>
                        <a:rPr lang="en-GB" sz="1400" dirty="0">
                          <a:latin typeface="Arial"/>
                          <a:cs typeface="Arial"/>
                        </a:rPr>
                        <a:t> </a:t>
                      </a:r>
                      <a:r>
                        <a:rPr lang="en-GB" sz="1400" dirty="0" err="1">
                          <a:latin typeface="Arial"/>
                          <a:cs typeface="Arial"/>
                        </a:rPr>
                        <a:t>iş</a:t>
                      </a:r>
                      <a:r>
                        <a:rPr lang="en-GB" sz="1400" dirty="0">
                          <a:latin typeface="Arial"/>
                          <a:cs typeface="Arial"/>
                        </a:rPr>
                        <a:t> </a:t>
                      </a:r>
                      <a:r>
                        <a:rPr lang="en-GB" sz="1400" dirty="0" err="1">
                          <a:latin typeface="Arial"/>
                          <a:cs typeface="Arial"/>
                        </a:rPr>
                        <a:t>ortamında</a:t>
                      </a:r>
                      <a:r>
                        <a:rPr lang="en-GB" sz="1400" dirty="0">
                          <a:latin typeface="Arial"/>
                          <a:cs typeface="Arial"/>
                        </a:rPr>
                        <a:t> </a:t>
                      </a:r>
                      <a:r>
                        <a:rPr lang="en-GB" sz="1400" dirty="0" err="1">
                          <a:latin typeface="Arial"/>
                          <a:cs typeface="Arial"/>
                        </a:rPr>
                        <a:t>yazılımın</a:t>
                      </a:r>
                      <a:r>
                        <a:rPr lang="en-GB" sz="1400" dirty="0">
                          <a:latin typeface="Arial"/>
                          <a:cs typeface="Arial"/>
                        </a:rPr>
                        <a:t> </a:t>
                      </a:r>
                      <a:r>
                        <a:rPr lang="en-GB" sz="1400" dirty="0" err="1">
                          <a:latin typeface="Arial"/>
                          <a:cs typeface="Arial"/>
                        </a:rPr>
                        <a:t>değişmesi</a:t>
                      </a:r>
                      <a:r>
                        <a:rPr lang="en-GB" sz="1400" dirty="0">
                          <a:latin typeface="Arial"/>
                          <a:cs typeface="Arial"/>
                        </a:rPr>
                        <a:t> </a:t>
                      </a:r>
                      <a:r>
                        <a:rPr lang="en-GB" sz="1400" dirty="0" err="1">
                          <a:latin typeface="Arial"/>
                          <a:cs typeface="Arial"/>
                        </a:rPr>
                        <a:t>kaçınılmaz</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gereksinim</a:t>
                      </a:r>
                      <a:r>
                        <a:rPr lang="en-GB" sz="1400" dirty="0">
                          <a:latin typeface="Arial"/>
                          <a:cs typeface="Arial"/>
                        </a:rPr>
                        <a:t> </a:t>
                      </a:r>
                      <a:r>
                        <a:rPr lang="en-GB" sz="1400" dirty="0" err="1">
                          <a:latin typeface="Arial"/>
                          <a:cs typeface="Arial"/>
                        </a:rPr>
                        <a:t>olduğu</a:t>
                      </a:r>
                      <a:r>
                        <a:rPr lang="en-GB" sz="1400" dirty="0">
                          <a:latin typeface="Arial"/>
                          <a:cs typeface="Arial"/>
                        </a:rPr>
                        <a:t> </a:t>
                      </a:r>
                      <a:r>
                        <a:rPr lang="en-GB" sz="1400" dirty="0" err="1">
                          <a:latin typeface="Arial"/>
                          <a:cs typeface="Arial"/>
                        </a:rPr>
                        <a:t>için</a:t>
                      </a:r>
                      <a:r>
                        <a:rPr lang="en-GB" sz="1400" dirty="0">
                          <a:latin typeface="Arial"/>
                          <a:cs typeface="Arial"/>
                        </a:rPr>
                        <a:t> </a:t>
                      </a:r>
                      <a:r>
                        <a:rPr lang="en-GB" sz="1400" dirty="0" err="1">
                          <a:latin typeface="Arial"/>
                          <a:cs typeface="Arial"/>
                        </a:rPr>
                        <a:t>bu</a:t>
                      </a:r>
                      <a:r>
                        <a:rPr lang="en-GB" sz="1400" dirty="0">
                          <a:latin typeface="Arial"/>
                          <a:cs typeface="Arial"/>
                        </a:rPr>
                        <a:t> </a:t>
                      </a:r>
                      <a:r>
                        <a:rPr lang="en-GB" sz="1400" dirty="0" err="1">
                          <a:latin typeface="Arial"/>
                          <a:cs typeface="Arial"/>
                        </a:rPr>
                        <a:t>çok</a:t>
                      </a:r>
                      <a:r>
                        <a:rPr lang="en-GB" sz="1400" dirty="0">
                          <a:latin typeface="Arial"/>
                          <a:cs typeface="Arial"/>
                        </a:rPr>
                        <a:t> </a:t>
                      </a:r>
                      <a:r>
                        <a:rPr lang="en-GB" sz="1400" dirty="0" err="1">
                          <a:latin typeface="Arial"/>
                          <a:cs typeface="Arial"/>
                        </a:rPr>
                        <a:t>kritik</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niteliktir</a:t>
                      </a:r>
                      <a:r>
                        <a:rPr lang="tr-TR" sz="1400" dirty="0">
                          <a:latin typeface="Arial"/>
                          <a:cs typeface="Arial"/>
                        </a:rPr>
                        <a:t>.</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US" sz="1400" dirty="0" err="1">
                          <a:latin typeface="Arial"/>
                          <a:cs typeface="Arial"/>
                        </a:rPr>
                        <a:t>Güvenilirlik</a:t>
                      </a:r>
                      <a:r>
                        <a:rPr lang="en-US" sz="1400" dirty="0">
                          <a:latin typeface="Arial"/>
                          <a:cs typeface="Arial"/>
                        </a:rPr>
                        <a:t> </a:t>
                      </a:r>
                      <a:r>
                        <a:rPr lang="en-US" sz="1400" dirty="0" err="1">
                          <a:latin typeface="Arial"/>
                          <a:cs typeface="Arial"/>
                        </a:rPr>
                        <a:t>ve</a:t>
                      </a:r>
                      <a:r>
                        <a:rPr lang="en-US" sz="1400" dirty="0">
                          <a:latin typeface="Arial"/>
                          <a:cs typeface="Arial"/>
                        </a:rPr>
                        <a:t> </a:t>
                      </a:r>
                      <a:r>
                        <a:rPr lang="en-US" sz="1400" dirty="0" err="1">
                          <a:latin typeface="Arial"/>
                          <a:cs typeface="Arial"/>
                        </a:rPr>
                        <a:t>Güvenlik</a:t>
                      </a:r>
                      <a:r>
                        <a:rPr lang="en-US" sz="1400" dirty="0">
                          <a:latin typeface="Arial"/>
                          <a:cs typeface="Arial"/>
                        </a:rPr>
                        <a:t> (Dependability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err="1">
                          <a:latin typeface="Arial"/>
                          <a:cs typeface="Arial"/>
                        </a:rPr>
                        <a:t>Yazılım</a:t>
                      </a:r>
                      <a:r>
                        <a:rPr lang="en-GB" sz="1400" dirty="0">
                          <a:latin typeface="Arial"/>
                          <a:cs typeface="Arial"/>
                        </a:rPr>
                        <a:t> </a:t>
                      </a:r>
                      <a:r>
                        <a:rPr lang="en-GB" sz="1400" dirty="0" err="1">
                          <a:latin typeface="Arial"/>
                          <a:cs typeface="Arial"/>
                        </a:rPr>
                        <a:t>güvenilirliği</a:t>
                      </a:r>
                      <a:r>
                        <a:rPr lang="en-GB" sz="1400" dirty="0">
                          <a:latin typeface="Arial"/>
                          <a:cs typeface="Arial"/>
                        </a:rPr>
                        <a:t>; </a:t>
                      </a:r>
                      <a:r>
                        <a:rPr lang="en-GB" sz="1400" dirty="0" err="1">
                          <a:latin typeface="Arial"/>
                          <a:cs typeface="Arial"/>
                        </a:rPr>
                        <a:t>sağlamlık</a:t>
                      </a:r>
                      <a:r>
                        <a:rPr lang="en-GB" sz="1400" dirty="0">
                          <a:latin typeface="Arial"/>
                          <a:cs typeface="Arial"/>
                        </a:rPr>
                        <a:t>, </a:t>
                      </a:r>
                      <a:r>
                        <a:rPr lang="en-GB" sz="1400" dirty="0" err="1">
                          <a:latin typeface="Arial"/>
                          <a:cs typeface="Arial"/>
                        </a:rPr>
                        <a:t>güvenlik</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emniyet</a:t>
                      </a:r>
                      <a:r>
                        <a:rPr lang="en-GB" sz="1400" dirty="0">
                          <a:latin typeface="Arial"/>
                          <a:cs typeface="Arial"/>
                        </a:rPr>
                        <a:t> </a:t>
                      </a:r>
                      <a:r>
                        <a:rPr lang="en-GB" sz="1400" dirty="0" err="1">
                          <a:latin typeface="Arial"/>
                          <a:cs typeface="Arial"/>
                        </a:rPr>
                        <a:t>gibi</a:t>
                      </a:r>
                      <a:r>
                        <a:rPr lang="en-GB" sz="1400" dirty="0">
                          <a:latin typeface="Arial"/>
                          <a:cs typeface="Arial"/>
                        </a:rPr>
                        <a:t> </a:t>
                      </a:r>
                      <a:r>
                        <a:rPr lang="en-GB" sz="1400" dirty="0" err="1">
                          <a:latin typeface="Arial"/>
                          <a:cs typeface="Arial"/>
                        </a:rPr>
                        <a:t>bir</a:t>
                      </a:r>
                      <a:r>
                        <a:rPr lang="en-GB" sz="1400" dirty="0">
                          <a:latin typeface="Arial"/>
                          <a:cs typeface="Arial"/>
                        </a:rPr>
                        <a:t> dizi </a:t>
                      </a:r>
                      <a:r>
                        <a:rPr lang="en-GB" sz="1400" dirty="0" err="1">
                          <a:latin typeface="Arial"/>
                          <a:cs typeface="Arial"/>
                        </a:rPr>
                        <a:t>özelliği</a:t>
                      </a:r>
                      <a:r>
                        <a:rPr lang="en-GB" sz="1400" dirty="0">
                          <a:latin typeface="Arial"/>
                          <a:cs typeface="Arial"/>
                        </a:rPr>
                        <a:t> </a:t>
                      </a:r>
                      <a:r>
                        <a:rPr lang="en-GB" sz="1400" dirty="0" err="1">
                          <a:latin typeface="Arial"/>
                          <a:cs typeface="Arial"/>
                        </a:rPr>
                        <a:t>barındırır</a:t>
                      </a:r>
                      <a:r>
                        <a:rPr lang="en-GB" sz="1400" dirty="0">
                          <a:latin typeface="Arial"/>
                          <a:cs typeface="Arial"/>
                        </a:rPr>
                        <a:t>. </a:t>
                      </a:r>
                      <a:r>
                        <a:rPr lang="en-GB" sz="1400" dirty="0" err="1">
                          <a:latin typeface="Arial"/>
                          <a:cs typeface="Arial"/>
                        </a:rPr>
                        <a:t>Güvenilir</a:t>
                      </a:r>
                      <a:r>
                        <a:rPr lang="en-GB" sz="1400" dirty="0">
                          <a:latin typeface="Arial"/>
                          <a:cs typeface="Arial"/>
                        </a:rPr>
                        <a:t> </a:t>
                      </a:r>
                      <a:r>
                        <a:rPr lang="en-GB" sz="1400" dirty="0" err="1">
                          <a:latin typeface="Arial"/>
                          <a:cs typeface="Arial"/>
                        </a:rPr>
                        <a:t>bir</a:t>
                      </a:r>
                      <a:r>
                        <a:rPr lang="en-GB" sz="1400" dirty="0">
                          <a:latin typeface="Arial"/>
                          <a:cs typeface="Arial"/>
                        </a:rPr>
                        <a:t> </a:t>
                      </a:r>
                      <a:r>
                        <a:rPr lang="en-GB" sz="1400" dirty="0" err="1">
                          <a:latin typeface="Arial"/>
                          <a:cs typeface="Arial"/>
                        </a:rPr>
                        <a:t>yazılım</a:t>
                      </a:r>
                      <a:r>
                        <a:rPr lang="en-GB" sz="1400" dirty="0">
                          <a:latin typeface="Arial"/>
                          <a:cs typeface="Arial"/>
                        </a:rPr>
                        <a:t>, </a:t>
                      </a:r>
                      <a:r>
                        <a:rPr lang="en-GB" sz="1400" dirty="0" err="1">
                          <a:latin typeface="Arial"/>
                          <a:cs typeface="Arial"/>
                        </a:rPr>
                        <a:t>sistem</a:t>
                      </a:r>
                      <a:r>
                        <a:rPr lang="en-GB" sz="1400" dirty="0">
                          <a:latin typeface="Arial"/>
                          <a:cs typeface="Arial"/>
                        </a:rPr>
                        <a:t> </a:t>
                      </a:r>
                      <a:r>
                        <a:rPr lang="en-GB" sz="1400" dirty="0" err="1">
                          <a:latin typeface="Arial"/>
                          <a:cs typeface="Arial"/>
                        </a:rPr>
                        <a:t>arızası</a:t>
                      </a:r>
                      <a:r>
                        <a:rPr lang="en-GB" sz="1400" dirty="0">
                          <a:latin typeface="Arial"/>
                          <a:cs typeface="Arial"/>
                        </a:rPr>
                        <a:t> </a:t>
                      </a:r>
                      <a:r>
                        <a:rPr lang="en-GB" sz="1400" dirty="0" err="1">
                          <a:latin typeface="Arial"/>
                          <a:cs typeface="Arial"/>
                        </a:rPr>
                        <a:t>durumunda</a:t>
                      </a:r>
                      <a:r>
                        <a:rPr lang="en-GB" sz="1400" dirty="0">
                          <a:latin typeface="Arial"/>
                          <a:cs typeface="Arial"/>
                        </a:rPr>
                        <a:t> </a:t>
                      </a:r>
                      <a:r>
                        <a:rPr lang="en-GB" sz="1400" dirty="0" err="1">
                          <a:latin typeface="Arial"/>
                          <a:cs typeface="Arial"/>
                        </a:rPr>
                        <a:t>fiziksel</a:t>
                      </a:r>
                      <a:r>
                        <a:rPr lang="en-GB" sz="1400" dirty="0">
                          <a:latin typeface="Arial"/>
                          <a:cs typeface="Arial"/>
                        </a:rPr>
                        <a:t> </a:t>
                      </a:r>
                      <a:r>
                        <a:rPr lang="en-GB" sz="1400" dirty="0" err="1">
                          <a:latin typeface="Arial"/>
                          <a:cs typeface="Arial"/>
                        </a:rPr>
                        <a:t>veya</a:t>
                      </a:r>
                      <a:r>
                        <a:rPr lang="en-GB" sz="1400" dirty="0">
                          <a:latin typeface="Arial"/>
                          <a:cs typeface="Arial"/>
                        </a:rPr>
                        <a:t> </a:t>
                      </a:r>
                      <a:r>
                        <a:rPr lang="en-GB" sz="1400" dirty="0" err="1">
                          <a:latin typeface="Arial"/>
                          <a:cs typeface="Arial"/>
                        </a:rPr>
                        <a:t>ekonomik</a:t>
                      </a:r>
                      <a:r>
                        <a:rPr lang="en-GB" sz="1400" dirty="0">
                          <a:latin typeface="Arial"/>
                          <a:cs typeface="Arial"/>
                        </a:rPr>
                        <a:t> </a:t>
                      </a:r>
                      <a:r>
                        <a:rPr lang="en-GB" sz="1400" dirty="0" err="1">
                          <a:latin typeface="Arial"/>
                          <a:cs typeface="Arial"/>
                        </a:rPr>
                        <a:t>hasara</a:t>
                      </a:r>
                      <a:r>
                        <a:rPr lang="en-GB" sz="1400" dirty="0">
                          <a:latin typeface="Arial"/>
                          <a:cs typeface="Arial"/>
                        </a:rPr>
                        <a:t> </a:t>
                      </a:r>
                      <a:r>
                        <a:rPr lang="en-GB" sz="1400" dirty="0" err="1">
                          <a:latin typeface="Arial"/>
                          <a:cs typeface="Arial"/>
                        </a:rPr>
                        <a:t>neden</a:t>
                      </a:r>
                      <a:r>
                        <a:rPr lang="en-GB" sz="1400" dirty="0">
                          <a:latin typeface="Arial"/>
                          <a:cs typeface="Arial"/>
                        </a:rPr>
                        <a:t> </a:t>
                      </a:r>
                      <a:r>
                        <a:rPr lang="en-GB" sz="1400" dirty="0" err="1">
                          <a:latin typeface="Arial"/>
                          <a:cs typeface="Arial"/>
                        </a:rPr>
                        <a:t>olmamalıdır</a:t>
                      </a:r>
                      <a:r>
                        <a:rPr lang="en-GB" sz="1400" dirty="0">
                          <a:latin typeface="Arial"/>
                          <a:cs typeface="Arial"/>
                        </a:rPr>
                        <a:t>. </a:t>
                      </a:r>
                      <a:r>
                        <a:rPr lang="en-GB" sz="1400" dirty="0" err="1">
                          <a:latin typeface="Arial"/>
                          <a:cs typeface="Arial"/>
                        </a:rPr>
                        <a:t>Kötü</a:t>
                      </a:r>
                      <a:r>
                        <a:rPr lang="en-GB" sz="1400" dirty="0">
                          <a:latin typeface="Arial"/>
                          <a:cs typeface="Arial"/>
                        </a:rPr>
                        <a:t> </a:t>
                      </a:r>
                      <a:r>
                        <a:rPr lang="en-GB" sz="1400" dirty="0" err="1">
                          <a:latin typeface="Arial"/>
                          <a:cs typeface="Arial"/>
                        </a:rPr>
                        <a:t>niyetli</a:t>
                      </a:r>
                      <a:r>
                        <a:rPr lang="en-GB" sz="1400" dirty="0">
                          <a:latin typeface="Arial"/>
                          <a:cs typeface="Arial"/>
                        </a:rPr>
                        <a:t> </a:t>
                      </a:r>
                      <a:r>
                        <a:rPr lang="en-GB" sz="1400" dirty="0" err="1">
                          <a:latin typeface="Arial"/>
                          <a:cs typeface="Arial"/>
                        </a:rPr>
                        <a:t>kullanıcılar</a:t>
                      </a:r>
                      <a:r>
                        <a:rPr lang="en-GB" sz="1400" dirty="0">
                          <a:latin typeface="Arial"/>
                          <a:cs typeface="Arial"/>
                        </a:rPr>
                        <a:t> </a:t>
                      </a:r>
                      <a:r>
                        <a:rPr lang="en-GB" sz="1400" dirty="0" err="1">
                          <a:latin typeface="Arial"/>
                          <a:cs typeface="Arial"/>
                        </a:rPr>
                        <a:t>sisteme</a:t>
                      </a:r>
                      <a:r>
                        <a:rPr lang="en-GB" sz="1400" dirty="0">
                          <a:latin typeface="Arial"/>
                          <a:cs typeface="Arial"/>
                        </a:rPr>
                        <a:t> </a:t>
                      </a:r>
                      <a:r>
                        <a:rPr lang="en-GB" sz="1400" dirty="0" err="1">
                          <a:latin typeface="Arial"/>
                          <a:cs typeface="Arial"/>
                        </a:rPr>
                        <a:t>erişememeli</a:t>
                      </a:r>
                      <a:r>
                        <a:rPr lang="en-GB" sz="1400" dirty="0">
                          <a:latin typeface="Arial"/>
                          <a:cs typeface="Arial"/>
                        </a:rPr>
                        <a:t> </a:t>
                      </a:r>
                      <a:r>
                        <a:rPr lang="en-GB" sz="1400" dirty="0" err="1">
                          <a:latin typeface="Arial"/>
                          <a:cs typeface="Arial"/>
                        </a:rPr>
                        <a:t>veya</a:t>
                      </a:r>
                      <a:r>
                        <a:rPr lang="en-GB" sz="1400" dirty="0">
                          <a:latin typeface="Arial"/>
                          <a:cs typeface="Arial"/>
                        </a:rPr>
                        <a:t> </a:t>
                      </a:r>
                      <a:r>
                        <a:rPr lang="en-GB" sz="1400" dirty="0" err="1">
                          <a:latin typeface="Arial"/>
                          <a:cs typeface="Arial"/>
                        </a:rPr>
                        <a:t>zarar</a:t>
                      </a:r>
                      <a:r>
                        <a:rPr lang="en-GB" sz="1400" dirty="0">
                          <a:latin typeface="Arial"/>
                          <a:cs typeface="Arial"/>
                        </a:rPr>
                        <a:t> </a:t>
                      </a:r>
                      <a:r>
                        <a:rPr lang="en-GB" sz="1400" dirty="0" err="1">
                          <a:latin typeface="Arial"/>
                          <a:cs typeface="Arial"/>
                        </a:rPr>
                        <a:t>verememelidir</a:t>
                      </a:r>
                      <a:r>
                        <a:rPr lang="tr-TR" sz="1400" dirty="0">
                          <a:latin typeface="Arial"/>
                          <a:cs typeface="Arial"/>
                        </a:rPr>
                        <a:t>.</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tr-TR" sz="1400" dirty="0" err="1">
                          <a:latin typeface="Arial"/>
                          <a:cs typeface="Arial"/>
                        </a:rPr>
                        <a:t>Verimlilik:</a:t>
                      </a:r>
                      <a:r>
                        <a:rPr lang="tr-TR" sz="1400" dirty="0">
                          <a:latin typeface="Arial"/>
                          <a:cs typeface="Arial"/>
                        </a:rPr>
                        <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err="1">
                          <a:latin typeface="Arial"/>
                          <a:cs typeface="Arial"/>
                        </a:rPr>
                        <a:t>Yazılım</a:t>
                      </a:r>
                      <a:r>
                        <a:rPr lang="en-GB" sz="1400" dirty="0">
                          <a:latin typeface="Arial"/>
                          <a:cs typeface="Arial"/>
                        </a:rPr>
                        <a:t>; </a:t>
                      </a:r>
                      <a:r>
                        <a:rPr lang="en-GB" sz="1400" dirty="0" err="1">
                          <a:latin typeface="Arial"/>
                          <a:cs typeface="Arial"/>
                        </a:rPr>
                        <a:t>bellek</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işlemci</a:t>
                      </a:r>
                      <a:r>
                        <a:rPr lang="en-GB" sz="1400" dirty="0">
                          <a:latin typeface="Arial"/>
                          <a:cs typeface="Arial"/>
                        </a:rPr>
                        <a:t> </a:t>
                      </a:r>
                      <a:r>
                        <a:rPr lang="en-GB" sz="1400" dirty="0" err="1">
                          <a:latin typeface="Arial"/>
                          <a:cs typeface="Arial"/>
                        </a:rPr>
                        <a:t>döngüleri</a:t>
                      </a:r>
                      <a:r>
                        <a:rPr lang="en-GB" sz="1400" dirty="0">
                          <a:latin typeface="Arial"/>
                          <a:cs typeface="Arial"/>
                        </a:rPr>
                        <a:t> </a:t>
                      </a:r>
                      <a:r>
                        <a:rPr lang="en-GB" sz="1400" dirty="0" err="1">
                          <a:latin typeface="Arial"/>
                          <a:cs typeface="Arial"/>
                        </a:rPr>
                        <a:t>gibi</a:t>
                      </a:r>
                      <a:r>
                        <a:rPr lang="en-GB" sz="1400" dirty="0">
                          <a:latin typeface="Arial"/>
                          <a:cs typeface="Arial"/>
                        </a:rPr>
                        <a:t> </a:t>
                      </a:r>
                      <a:r>
                        <a:rPr lang="en-GB" sz="1400" dirty="0" err="1">
                          <a:latin typeface="Arial"/>
                          <a:cs typeface="Arial"/>
                        </a:rPr>
                        <a:t>sistem</a:t>
                      </a:r>
                      <a:r>
                        <a:rPr lang="en-GB" sz="1400" dirty="0">
                          <a:latin typeface="Arial"/>
                          <a:cs typeface="Arial"/>
                        </a:rPr>
                        <a:t> </a:t>
                      </a:r>
                      <a:r>
                        <a:rPr lang="en-GB" sz="1400" dirty="0" err="1">
                          <a:latin typeface="Arial"/>
                          <a:cs typeface="Arial"/>
                        </a:rPr>
                        <a:t>kaynaklarını</a:t>
                      </a:r>
                      <a:r>
                        <a:rPr lang="en-GB" sz="1400" dirty="0">
                          <a:latin typeface="Arial"/>
                          <a:cs typeface="Arial"/>
                        </a:rPr>
                        <a:t> </a:t>
                      </a:r>
                      <a:r>
                        <a:rPr lang="en-GB" sz="1400" dirty="0" err="1">
                          <a:latin typeface="Arial"/>
                          <a:cs typeface="Arial"/>
                        </a:rPr>
                        <a:t>israf</a:t>
                      </a:r>
                      <a:r>
                        <a:rPr lang="en-GB" sz="1400" dirty="0">
                          <a:latin typeface="Arial"/>
                          <a:cs typeface="Arial"/>
                        </a:rPr>
                        <a:t> </a:t>
                      </a:r>
                      <a:r>
                        <a:rPr lang="en-GB" sz="1400" dirty="0" err="1">
                          <a:latin typeface="Arial"/>
                          <a:cs typeface="Arial"/>
                        </a:rPr>
                        <a:t>edecek</a:t>
                      </a:r>
                      <a:r>
                        <a:rPr lang="en-GB" sz="1400" dirty="0">
                          <a:latin typeface="Arial"/>
                          <a:cs typeface="Arial"/>
                        </a:rPr>
                        <a:t> </a:t>
                      </a:r>
                      <a:r>
                        <a:rPr lang="en-GB" sz="1400" dirty="0" err="1">
                          <a:latin typeface="Arial"/>
                          <a:cs typeface="Arial"/>
                        </a:rPr>
                        <a:t>şekilde</a:t>
                      </a:r>
                      <a:r>
                        <a:rPr lang="en-GB" sz="1400" dirty="0">
                          <a:latin typeface="Arial"/>
                          <a:cs typeface="Arial"/>
                        </a:rPr>
                        <a:t> </a:t>
                      </a:r>
                      <a:r>
                        <a:rPr lang="en-GB" sz="1400" dirty="0" err="1">
                          <a:latin typeface="Arial"/>
                          <a:cs typeface="Arial"/>
                        </a:rPr>
                        <a:t>kullanmamalıdır</a:t>
                      </a:r>
                      <a:r>
                        <a:rPr lang="en-GB" sz="1400" dirty="0">
                          <a:latin typeface="Arial"/>
                          <a:cs typeface="Arial"/>
                        </a:rPr>
                        <a:t>. Bu </a:t>
                      </a:r>
                      <a:r>
                        <a:rPr lang="en-GB" sz="1400" dirty="0" err="1">
                          <a:latin typeface="Arial"/>
                          <a:cs typeface="Arial"/>
                        </a:rPr>
                        <a:t>nedenle</a:t>
                      </a:r>
                      <a:r>
                        <a:rPr lang="en-GB" sz="1400" dirty="0">
                          <a:latin typeface="Arial"/>
                          <a:cs typeface="Arial"/>
                        </a:rPr>
                        <a:t> </a:t>
                      </a:r>
                      <a:r>
                        <a:rPr lang="en-GB" sz="1400" dirty="0" err="1">
                          <a:latin typeface="Arial"/>
                          <a:cs typeface="Arial"/>
                        </a:rPr>
                        <a:t>verimlilik</a:t>
                      </a:r>
                      <a:r>
                        <a:rPr lang="en-GB" sz="1400" dirty="0">
                          <a:latin typeface="Arial"/>
                          <a:cs typeface="Arial"/>
                        </a:rPr>
                        <a:t>; </a:t>
                      </a:r>
                      <a:r>
                        <a:rPr lang="en-GB" sz="1400" dirty="0" err="1">
                          <a:latin typeface="Arial"/>
                          <a:cs typeface="Arial"/>
                        </a:rPr>
                        <a:t>duyarlılık</a:t>
                      </a:r>
                      <a:r>
                        <a:rPr lang="en-GB" sz="1400" dirty="0">
                          <a:latin typeface="Arial"/>
                          <a:cs typeface="Arial"/>
                        </a:rPr>
                        <a:t> (</a:t>
                      </a:r>
                      <a:r>
                        <a:rPr lang="en-GB" sz="1400" dirty="0" err="1">
                          <a:latin typeface="Arial"/>
                          <a:cs typeface="Arial"/>
                        </a:rPr>
                        <a:t>tepki</a:t>
                      </a:r>
                      <a:r>
                        <a:rPr lang="en-GB" sz="1400" dirty="0">
                          <a:latin typeface="Arial"/>
                          <a:cs typeface="Arial"/>
                        </a:rPr>
                        <a:t> </a:t>
                      </a:r>
                      <a:r>
                        <a:rPr lang="en-GB" sz="1400" dirty="0" err="1">
                          <a:latin typeface="Arial"/>
                          <a:cs typeface="Arial"/>
                        </a:rPr>
                        <a:t>süresi</a:t>
                      </a:r>
                      <a:r>
                        <a:rPr lang="en-GB" sz="1400" dirty="0">
                          <a:latin typeface="Arial"/>
                          <a:cs typeface="Arial"/>
                        </a:rPr>
                        <a:t>), </a:t>
                      </a:r>
                      <a:r>
                        <a:rPr lang="en-GB" sz="1400" dirty="0" err="1">
                          <a:latin typeface="Arial"/>
                          <a:cs typeface="Arial"/>
                        </a:rPr>
                        <a:t>işlem</a:t>
                      </a:r>
                      <a:r>
                        <a:rPr lang="en-GB" sz="1400" dirty="0">
                          <a:latin typeface="Arial"/>
                          <a:cs typeface="Arial"/>
                        </a:rPr>
                        <a:t> </a:t>
                      </a:r>
                      <a:r>
                        <a:rPr lang="en-GB" sz="1400" dirty="0" err="1">
                          <a:latin typeface="Arial"/>
                          <a:cs typeface="Arial"/>
                        </a:rPr>
                        <a:t>süresi</a:t>
                      </a:r>
                      <a:r>
                        <a:rPr lang="en-GB" sz="1400" dirty="0">
                          <a:latin typeface="Arial"/>
                          <a:cs typeface="Arial"/>
                        </a:rPr>
                        <a:t>, </a:t>
                      </a:r>
                      <a:r>
                        <a:rPr lang="en-GB" sz="1400" dirty="0" err="1">
                          <a:latin typeface="Arial"/>
                          <a:cs typeface="Arial"/>
                        </a:rPr>
                        <a:t>bellek</a:t>
                      </a:r>
                      <a:r>
                        <a:rPr lang="en-GB" sz="1400" dirty="0">
                          <a:latin typeface="Arial"/>
                          <a:cs typeface="Arial"/>
                        </a:rPr>
                        <a:t> </a:t>
                      </a:r>
                      <a:r>
                        <a:rPr lang="en-GB" sz="1400" dirty="0" err="1">
                          <a:latin typeface="Arial"/>
                          <a:cs typeface="Arial"/>
                        </a:rPr>
                        <a:t>kullanımı</a:t>
                      </a:r>
                      <a:r>
                        <a:rPr lang="en-GB" sz="1400" dirty="0">
                          <a:latin typeface="Arial"/>
                          <a:cs typeface="Arial"/>
                        </a:rPr>
                        <a:t> </a:t>
                      </a:r>
                      <a:r>
                        <a:rPr lang="en-GB" sz="1400" dirty="0" err="1">
                          <a:latin typeface="Arial"/>
                          <a:cs typeface="Arial"/>
                        </a:rPr>
                        <a:t>gibi</a:t>
                      </a:r>
                      <a:r>
                        <a:rPr lang="en-GB" sz="1400" dirty="0">
                          <a:latin typeface="Arial"/>
                          <a:cs typeface="Arial"/>
                        </a:rPr>
                        <a:t> </a:t>
                      </a:r>
                      <a:r>
                        <a:rPr lang="en-GB" sz="1400" dirty="0" err="1">
                          <a:latin typeface="Arial"/>
                          <a:cs typeface="Arial"/>
                        </a:rPr>
                        <a:t>unsurları</a:t>
                      </a:r>
                      <a:r>
                        <a:rPr lang="en-GB" sz="1400" dirty="0">
                          <a:latin typeface="Arial"/>
                          <a:cs typeface="Arial"/>
                        </a:rPr>
                        <a:t> </a:t>
                      </a:r>
                      <a:r>
                        <a:rPr lang="en-GB" sz="1400" dirty="0" err="1">
                          <a:latin typeface="Arial"/>
                          <a:cs typeface="Arial"/>
                        </a:rPr>
                        <a:t>içerir</a:t>
                      </a:r>
                      <a:r>
                        <a:rPr lang="tr-TR" sz="1400" dirty="0">
                          <a:latin typeface="Arial"/>
                          <a:cs typeface="Arial"/>
                        </a:rPr>
                        <a:t>.</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tr-TR" sz="1400" dirty="0">
                          <a:latin typeface="Arial"/>
                          <a:cs typeface="Arial"/>
                        </a:rPr>
                        <a:t>Kabul edilebilirlik:</a:t>
                      </a:r>
                      <a:r>
                        <a:rPr lang="tr-TR" sz="1400" dirty="0" err="1">
                          <a:latin typeface="Arial"/>
                          <a:cs typeface="Arial"/>
                        </a:rPr>
                        <a:t/>
                      </a:r>
                      <a:r>
                        <a:rPr lang="tr-TR" sz="1400" dirty="0">
                          <a:latin typeface="Arial"/>
                          <a:cs typeface="Arial"/>
                        </a:rPr>
                        <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err="1">
                          <a:latin typeface="Arial"/>
                          <a:cs typeface="Arial"/>
                        </a:rPr>
                        <a:t>Yazılım</a:t>
                      </a:r>
                      <a:r>
                        <a:rPr lang="en-GB" sz="1400" dirty="0">
                          <a:latin typeface="Arial"/>
                          <a:cs typeface="Arial"/>
                        </a:rPr>
                        <a:t>, </a:t>
                      </a:r>
                      <a:r>
                        <a:rPr lang="en-GB" sz="1400" dirty="0" err="1">
                          <a:latin typeface="Arial"/>
                          <a:cs typeface="Arial"/>
                        </a:rPr>
                        <a:t>kendisi</a:t>
                      </a:r>
                      <a:r>
                        <a:rPr lang="en-GB" sz="1400" dirty="0">
                          <a:latin typeface="Arial"/>
                          <a:cs typeface="Arial"/>
                        </a:rPr>
                        <a:t> </a:t>
                      </a:r>
                      <a:r>
                        <a:rPr lang="en-GB" sz="1400" dirty="0" err="1">
                          <a:latin typeface="Arial"/>
                          <a:cs typeface="Arial"/>
                        </a:rPr>
                        <a:t>için</a:t>
                      </a:r>
                      <a:r>
                        <a:rPr lang="en-GB" sz="1400" dirty="0">
                          <a:latin typeface="Arial"/>
                          <a:cs typeface="Arial"/>
                        </a:rPr>
                        <a:t> </a:t>
                      </a:r>
                      <a:r>
                        <a:rPr lang="en-GB" sz="1400" dirty="0" err="1">
                          <a:latin typeface="Arial"/>
                          <a:cs typeface="Arial"/>
                        </a:rPr>
                        <a:t>tasarlandığı</a:t>
                      </a:r>
                      <a:r>
                        <a:rPr lang="en-GB" sz="1400" dirty="0">
                          <a:latin typeface="Arial"/>
                          <a:cs typeface="Arial"/>
                        </a:rPr>
                        <a:t> </a:t>
                      </a:r>
                      <a:r>
                        <a:rPr lang="en-GB" sz="1400" dirty="0" err="1">
                          <a:latin typeface="Arial"/>
                          <a:cs typeface="Arial"/>
                        </a:rPr>
                        <a:t>kullanıcı</a:t>
                      </a:r>
                      <a:r>
                        <a:rPr lang="en-GB" sz="1400" dirty="0">
                          <a:latin typeface="Arial"/>
                          <a:cs typeface="Arial"/>
                        </a:rPr>
                        <a:t> </a:t>
                      </a:r>
                      <a:r>
                        <a:rPr lang="en-GB" sz="1400" dirty="0" err="1">
                          <a:latin typeface="Arial"/>
                          <a:cs typeface="Arial"/>
                        </a:rPr>
                        <a:t>türü</a:t>
                      </a:r>
                      <a:r>
                        <a:rPr lang="en-GB" sz="1400" dirty="0">
                          <a:latin typeface="Arial"/>
                          <a:cs typeface="Arial"/>
                        </a:rPr>
                        <a:t> </a:t>
                      </a:r>
                      <a:r>
                        <a:rPr lang="en-GB" sz="1400" dirty="0" err="1">
                          <a:latin typeface="Arial"/>
                          <a:cs typeface="Arial"/>
                        </a:rPr>
                        <a:t>tarafından</a:t>
                      </a:r>
                      <a:r>
                        <a:rPr lang="en-GB" sz="1400" dirty="0">
                          <a:latin typeface="Arial"/>
                          <a:cs typeface="Arial"/>
                        </a:rPr>
                        <a:t> </a:t>
                      </a:r>
                      <a:r>
                        <a:rPr lang="en-GB" sz="1400" dirty="0" err="1">
                          <a:latin typeface="Arial"/>
                          <a:cs typeface="Arial"/>
                        </a:rPr>
                        <a:t>kabul</a:t>
                      </a:r>
                      <a:r>
                        <a:rPr lang="en-GB" sz="1400" dirty="0">
                          <a:latin typeface="Arial"/>
                          <a:cs typeface="Arial"/>
                        </a:rPr>
                        <a:t> </a:t>
                      </a:r>
                      <a:r>
                        <a:rPr lang="en-GB" sz="1400" dirty="0" err="1">
                          <a:latin typeface="Arial"/>
                          <a:cs typeface="Arial"/>
                        </a:rPr>
                        <a:t>edilebilir</a:t>
                      </a:r>
                      <a:r>
                        <a:rPr lang="en-GB" sz="1400" dirty="0">
                          <a:latin typeface="Arial"/>
                          <a:cs typeface="Arial"/>
                        </a:rPr>
                        <a:t> </a:t>
                      </a:r>
                      <a:r>
                        <a:rPr lang="en-GB" sz="1400" dirty="0" err="1">
                          <a:latin typeface="Arial"/>
                          <a:cs typeface="Arial"/>
                        </a:rPr>
                        <a:t>olmalıdır</a:t>
                      </a:r>
                      <a:r>
                        <a:rPr lang="en-GB" sz="1400" dirty="0">
                          <a:latin typeface="Arial"/>
                          <a:cs typeface="Arial"/>
                        </a:rPr>
                        <a:t>. Bu, </a:t>
                      </a:r>
                      <a:r>
                        <a:rPr lang="en-GB" sz="1400" dirty="0" err="1">
                          <a:latin typeface="Arial"/>
                          <a:cs typeface="Arial"/>
                        </a:rPr>
                        <a:t>kullanıcıların</a:t>
                      </a:r>
                      <a:r>
                        <a:rPr lang="en-GB" sz="1400" dirty="0">
                          <a:latin typeface="Arial"/>
                          <a:cs typeface="Arial"/>
                        </a:rPr>
                        <a:t> </a:t>
                      </a:r>
                      <a:r>
                        <a:rPr lang="en-GB" sz="1400" dirty="0" err="1">
                          <a:latin typeface="Arial"/>
                          <a:cs typeface="Arial"/>
                        </a:rPr>
                        <a:t>yazılımı</a:t>
                      </a:r>
                      <a:r>
                        <a:rPr lang="en-GB" sz="1400" dirty="0">
                          <a:latin typeface="Arial"/>
                          <a:cs typeface="Arial"/>
                        </a:rPr>
                        <a:t> </a:t>
                      </a:r>
                      <a:r>
                        <a:rPr lang="en-GB" sz="1400" dirty="0" err="1">
                          <a:latin typeface="Arial"/>
                          <a:cs typeface="Arial"/>
                        </a:rPr>
                        <a:t>anlayabileceği</a:t>
                      </a:r>
                      <a:r>
                        <a:rPr lang="en-GB" sz="1400" dirty="0">
                          <a:latin typeface="Arial"/>
                          <a:cs typeface="Arial"/>
                        </a:rPr>
                        <a:t>, </a:t>
                      </a:r>
                      <a:r>
                        <a:rPr lang="en-GB" sz="1400" dirty="0" err="1">
                          <a:latin typeface="Arial"/>
                          <a:cs typeface="Arial"/>
                        </a:rPr>
                        <a:t>kullanabileceği</a:t>
                      </a:r>
                      <a:r>
                        <a:rPr lang="en-GB" sz="1400" dirty="0">
                          <a:latin typeface="Arial"/>
                          <a:cs typeface="Arial"/>
                        </a:rPr>
                        <a:t> </a:t>
                      </a:r>
                      <a:r>
                        <a:rPr lang="en-GB" sz="1400" dirty="0" err="1">
                          <a:latin typeface="Arial"/>
                          <a:cs typeface="Arial"/>
                        </a:rPr>
                        <a:t>ve</a:t>
                      </a:r>
                      <a:r>
                        <a:rPr lang="en-GB" sz="1400" dirty="0">
                          <a:latin typeface="Arial"/>
                          <a:cs typeface="Arial"/>
                        </a:rPr>
                        <a:t> </a:t>
                      </a:r>
                      <a:r>
                        <a:rPr lang="en-GB" sz="1400" dirty="0" err="1">
                          <a:latin typeface="Arial"/>
                          <a:cs typeface="Arial"/>
                        </a:rPr>
                        <a:t>kullandıkları</a:t>
                      </a:r>
                      <a:r>
                        <a:rPr lang="en-GB" sz="1400" dirty="0">
                          <a:latin typeface="Arial"/>
                          <a:cs typeface="Arial"/>
                        </a:rPr>
                        <a:t> </a:t>
                      </a:r>
                      <a:r>
                        <a:rPr lang="en-GB" sz="1400" dirty="0" err="1">
                          <a:latin typeface="Arial"/>
                          <a:cs typeface="Arial"/>
                        </a:rPr>
                        <a:t>diğer</a:t>
                      </a:r>
                      <a:r>
                        <a:rPr lang="en-GB" sz="1400" dirty="0">
                          <a:latin typeface="Arial"/>
                          <a:cs typeface="Arial"/>
                        </a:rPr>
                        <a:t> </a:t>
                      </a:r>
                      <a:r>
                        <a:rPr lang="en-GB" sz="1400" dirty="0" err="1">
                          <a:latin typeface="Arial"/>
                          <a:cs typeface="Arial"/>
                        </a:rPr>
                        <a:t>sistemlerle</a:t>
                      </a:r>
                      <a:r>
                        <a:rPr lang="en-GB" sz="1400" dirty="0">
                          <a:latin typeface="Arial"/>
                          <a:cs typeface="Arial"/>
                        </a:rPr>
                        <a:t> </a:t>
                      </a:r>
                      <a:r>
                        <a:rPr lang="en-GB" sz="1400" dirty="0" err="1">
                          <a:latin typeface="Arial"/>
                          <a:cs typeface="Arial"/>
                        </a:rPr>
                        <a:t>uyumlu</a:t>
                      </a:r>
                      <a:r>
                        <a:rPr lang="en-GB" sz="1400" dirty="0">
                          <a:latin typeface="Arial"/>
                          <a:cs typeface="Arial"/>
                        </a:rPr>
                        <a:t> </a:t>
                      </a:r>
                      <a:r>
                        <a:rPr lang="en-GB" sz="1400" dirty="0" err="1">
                          <a:latin typeface="Arial"/>
                          <a:cs typeface="Arial"/>
                        </a:rPr>
                        <a:t>olması</a:t>
                      </a:r>
                      <a:r>
                        <a:rPr lang="en-GB" sz="1400" dirty="0">
                          <a:latin typeface="Arial"/>
                          <a:cs typeface="Arial"/>
                        </a:rPr>
                        <a:t> </a:t>
                      </a:r>
                      <a:r>
                        <a:rPr lang="en-GB" sz="1400" dirty="0" err="1">
                          <a:latin typeface="Arial"/>
                          <a:cs typeface="Arial"/>
                        </a:rPr>
                        <a:t>gerektiği</a:t>
                      </a:r>
                      <a:r>
                        <a:rPr lang="en-GB" sz="1400" dirty="0">
                          <a:latin typeface="Arial"/>
                          <a:cs typeface="Arial"/>
                        </a:rPr>
                        <a:t> </a:t>
                      </a:r>
                      <a:r>
                        <a:rPr lang="en-GB" sz="1400" dirty="0" err="1">
                          <a:latin typeface="Arial"/>
                          <a:cs typeface="Arial"/>
                        </a:rPr>
                        <a:t>anlamına</a:t>
                      </a:r>
                      <a:r>
                        <a:rPr lang="en-GB" sz="1400" dirty="0">
                          <a:latin typeface="Arial"/>
                          <a:cs typeface="Arial"/>
                        </a:rPr>
                        <a:t> </a:t>
                      </a:r>
                      <a:r>
                        <a:rPr lang="en-GB" sz="1400" dirty="0" err="1">
                          <a:latin typeface="Arial"/>
                          <a:cs typeface="Arial"/>
                        </a:rPr>
                        <a:t>gelir</a:t>
                      </a:r>
                      <a:r>
                        <a:rPr lang="tr-TR" sz="1400" dirty="0">
                          <a:latin typeface="Arial"/>
                          <a:cs typeface="Arial"/>
                        </a:rPr>
                        <a:t>.</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 mühendisliği</a:t>
            </a:r>
          </a:p>
        </p:txBody>
      </p:sp>
      <p:sp>
        <p:nvSpPr>
          <p:cNvPr id="3" name="Content Placeholder 2"/>
          <p:cNvSpPr>
            <a:spLocks noGrp="1"/>
          </p:cNvSpPr>
          <p:nvPr>
            <p:ph idx="1"/>
          </p:nvPr>
        </p:nvSpPr>
        <p:spPr/>
        <p:txBody>
          <a:bodyPr/>
          <a:lstStyle/>
          <a:p>
            <a:r>
              <a:rPr lang="tr-TR" dirty="0"/>
              <a:t>Yazılım mühendisliği, sistem belirtiminin ilk aşamalarından sistemin kullanıma girdikten sonraki bakımına kadar yazılım üretiminin tüm yönleriyle ilgilenen bir mühendislik disiplinidir.</a:t>
            </a:r>
          </a:p>
          <a:p>
            <a:r>
              <a:rPr lang="tr-TR" dirty="0"/>
              <a:t>Mühendislik disiplini</a:t>
            </a:r>
          </a:p>
          <a:p>
            <a:pPr lvl="1"/>
            <a:r>
              <a:rPr lang="tr-TR" dirty="0"/>
              <a:t>Kurumsal ve mali kısıtları göz önünde bulundurarak sorunları çözmek için uygun kuramları ve yöntemleri kullanmak.</a:t>
            </a:r>
          </a:p>
          <a:p>
            <a:r>
              <a:rPr lang="tr-TR" dirty="0"/>
              <a:t>Yazılım üretiminin tüm yönleri</a:t>
            </a:r>
          </a:p>
          <a:p>
            <a:pPr lvl="1"/>
            <a:r>
              <a:rPr lang="tr-TR" dirty="0"/>
              <a:t>Yalnızca teknik geliştirme süreci değil, proje yönetimi ve yazılım üretimini destekleyen araçların, yöntemlerin vb. geliştirilmesi de buna dahildir.</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 mühendisliğinin önemi</a:t>
            </a:r>
          </a:p>
        </p:txBody>
      </p:sp>
      <p:sp>
        <p:nvSpPr>
          <p:cNvPr id="3" name="Content Placeholder 2"/>
          <p:cNvSpPr>
            <a:spLocks noGrp="1"/>
          </p:cNvSpPr>
          <p:nvPr>
            <p:ph idx="1"/>
          </p:nvPr>
        </p:nvSpPr>
        <p:spPr/>
        <p:txBody>
          <a:bodyPr/>
          <a:lstStyle/>
          <a:p>
            <a:r>
              <a:rPr lang="tr-TR" dirty="0"/>
              <a:t>Bireyler ve toplum, gelişmiş yazılım sistemlerine giderek daha fazla bağımlı hale gelmektedir. Güvenilir ve güven duyulabilir sistemleri ekonomik ve hızlı biçimde üretebilmemiz gerekir.</a:t>
            </a:r>
          </a:p>
          <a:p>
            <a:r>
              <a:rPr lang="tr-TR" dirty="0"/>
              <a:t>Uzun vadede, yazılım sistemleri için yazılım mühendisliği yöntem ve tekniklerini kullanmak, programları kişisel bir programlama projesi gibi yazmaktan genellikle daha ucuzdur. Çoğu sistem türünde maliyetlerin büyük bölümü, kullanıma girdikten sonra yazılımı değiştirme maliyetleridir.</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 süreci faaliyetleri</a:t>
            </a:r>
          </a:p>
        </p:txBody>
      </p:sp>
      <p:sp>
        <p:nvSpPr>
          <p:cNvPr id="3" name="Content Placeholder 2"/>
          <p:cNvSpPr>
            <a:spLocks noGrp="1"/>
          </p:cNvSpPr>
          <p:nvPr>
            <p:ph idx="1"/>
          </p:nvPr>
        </p:nvSpPr>
        <p:spPr/>
        <p:txBody>
          <a:bodyPr/>
          <a:lstStyle/>
          <a:p>
            <a:r>
              <a:rPr lang="tr-TR" dirty="0"/>
              <a:t>Yazılım belirtimi: Müşteriler ve mühendisler, üretilecek yazılımı ve yazılımın çalışmasına ilişkin kısıtları tanımlar.</a:t>
            </a:r>
          </a:p>
          <a:p>
            <a:r>
              <a:rPr lang="tr-TR" dirty="0"/>
              <a:t>Yazılım geliştirme: Yazılım tasarlanır ve programlanır.</a:t>
            </a:r>
          </a:p>
          <a:p>
            <a:r>
              <a:rPr lang="tr-TR" dirty="0"/>
              <a:t>Yazılım geçerleme: Yazılımın müşteri gereksinimlerini karşıladığından emin olmak için kontrol edilir.</a:t>
            </a:r>
          </a:p>
          <a:p>
            <a:r>
              <a:rPr lang="tr-TR" dirty="0"/>
              <a:t>Yazılımın evrimi: Yazılım, değişen müşteri ve pazar gereksinimlerini yansıtacak biçimde değiştirilir.</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Yazılımı etkileyen genel konular</a:t>
            </a:r>
          </a:p>
        </p:txBody>
      </p:sp>
      <p:sp>
        <p:nvSpPr>
          <p:cNvPr id="3" name="Content Placeholder 2"/>
          <p:cNvSpPr>
            <a:spLocks noGrp="1"/>
          </p:cNvSpPr>
          <p:nvPr>
            <p:ph idx="1"/>
          </p:nvPr>
        </p:nvSpPr>
        <p:spPr/>
        <p:txBody>
          <a:bodyPr/>
          <a:lstStyle/>
          <a:p>
            <a:r>
              <a:rPr lang="tr-TR" dirty="0"/>
              <a:t>Heterojenlik</a:t>
            </a:r>
          </a:p>
          <a:p>
            <a:pPr lvl="1"/>
            <a:r>
              <a:rPr lang="tr-TR" dirty="0"/>
              <a:t>Sistemlerin, farklı türde bilgisayarları ve mobil cihazları içeren ağlar üzerinde dağıtık sistemler olarak çalışması giderek daha fazla gerekmektedir.</a:t>
            </a:r>
          </a:p>
          <a:p>
            <a:r>
              <a:rPr lang="tr-TR" dirty="0"/>
              <a:t>İş dünyasında ve toplumda değişim</a:t>
            </a:r>
          </a:p>
          <a:p>
            <a:pPr lvl="1"/>
            <a:r>
              <a:rPr lang="tr-TR" dirty="0"/>
              <a:t>Gelişmekte olan ekonomiler büyüdükçe ve yeni teknolojiler kullanıma sunuldukça iş dünyası ve toplum son derece hızlı değişmektedir. Mevcut yazılımlarını değiştirebilmeleri ve hızla yeni yazılım geliştirebilmeleri gerekir.</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Yazılımı etkileyen genel konular</a:t>
            </a:r>
          </a:p>
        </p:txBody>
      </p:sp>
      <p:sp>
        <p:nvSpPr>
          <p:cNvPr id="3" name="Content Placeholder 2"/>
          <p:cNvSpPr>
            <a:spLocks noGrp="1"/>
          </p:cNvSpPr>
          <p:nvPr>
            <p:ph idx="1"/>
          </p:nvPr>
        </p:nvSpPr>
        <p:spPr/>
        <p:txBody>
          <a:bodyPr/>
          <a:lstStyle/>
          <a:p>
            <a:r>
              <a:rPr lang="tr-TR" dirty="0"/>
              <a:t>Güvenlik ve güven</a:t>
            </a:r>
          </a:p>
          <a:p>
            <a:pPr lvl="1"/>
            <a:r>
              <a:rPr lang="tr-TR" dirty="0"/>
              <a:t>Yazılım yaşamımızın tüm yönleriyle iç içe geçtiği için ona güvenebilmemiz zorunludur.</a:t>
            </a:r>
          </a:p>
          <a:p>
            <a:r>
              <a:rPr lang="tr-TR" dirty="0"/>
              <a:t>Ölçek</a:t>
            </a:r>
          </a:p>
          <a:p>
            <a:pPr lvl="1"/>
            <a:r>
              <a:rPr lang="tr-TR" dirty="0"/>
              <a:t>Yazılım, taşınabilir veya giyilebilir cihazlardaki çok küçük gömülü sistemlerden küresel bir topluluğa hizmet veren İnternet ölçeğindeki bulut sistemlerine kadar çok farklı ölçeklerde geliştirilmelidir.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 mühendisliğinde çeşitlilik</a:t>
            </a:r>
          </a:p>
        </p:txBody>
      </p:sp>
      <p:sp>
        <p:nvSpPr>
          <p:cNvPr id="3" name="Content Placeholder 2"/>
          <p:cNvSpPr>
            <a:spLocks noGrp="1"/>
          </p:cNvSpPr>
          <p:nvPr>
            <p:ph idx="1"/>
          </p:nvPr>
        </p:nvSpPr>
        <p:spPr/>
        <p:txBody>
          <a:bodyPr/>
          <a:lstStyle/>
          <a:p>
            <a:r>
              <a:rPr lang="tr-TR" dirty="0"/>
              <a:t>Birçok farklı yazılım sistemi türü vardır ve bunların tümüne uygulanabilecek evrensel bir yazılım teknikleri kümesi yoktur.</a:t>
            </a:r>
          </a:p>
          <a:p>
            <a:r>
              <a:rPr lang="tr-TR" dirty="0"/>
              <a:t>Kullanılan yazılım mühendisliği yöntemleri ve araçları, geliştirilen uygulamanın türüne, müşterinin gereksinimlerine ve geliştirme ekibinin geçmiş deneyimine bağlıdır.</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Uygulama türleri</a:t>
            </a:r>
          </a:p>
        </p:txBody>
      </p:sp>
      <p:sp>
        <p:nvSpPr>
          <p:cNvPr id="3" name="Content Placeholder 2"/>
          <p:cNvSpPr>
            <a:spLocks noGrp="1"/>
          </p:cNvSpPr>
          <p:nvPr>
            <p:ph idx="1"/>
          </p:nvPr>
        </p:nvSpPr>
        <p:spPr/>
        <p:txBody>
          <a:bodyPr/>
          <a:lstStyle/>
          <a:p>
            <a:r>
              <a:rPr lang="tr-TR" dirty="0"/>
              <a:t>Bağımsız uygulamalar</a:t>
            </a:r>
          </a:p>
          <a:p>
            <a:pPr lvl="1"/>
            <a:r>
              <a:rPr lang="tr-TR" dirty="0"/>
              <a:t>Bunlar, kişisel bilgisayar gibi yerel bir bilgisayarda çalışan uygulama sistemleridir. Gerekli tüm işlevleri içerirler ve bir ağa bağlı olmaları gerekmez.</a:t>
            </a:r>
          </a:p>
          <a:p>
            <a:r>
              <a:rPr lang="tr-TR" dirty="0"/>
              <a:t>Etkileşimli işlem tabanlı uygulamalar</a:t>
            </a:r>
            <a:r>
              <a:rPr lang="tr-TR" i="1" dirty="0"/>
              <a:t/>
            </a:r>
          </a:p>
          <a:p>
            <a:pPr lvl="1"/>
            <a:r>
              <a:rPr lang="tr-TR" dirty="0"/>
              <a:t>Uzak bir bilgisayarda çalışan ve kullanıcıların kendi bilgisayarlarından veya terminallerinden eriştiği uygulamalardır. E-ticaret uygulamaları gibi web uygulamaları bunlara dahildir.</a:t>
            </a:r>
            <a:r>
              <a:rPr lang="tr-TR" dirty="0" err="1"/>
              <a:t/>
            </a:r>
            <a:r>
              <a:rPr lang="tr-TR" dirty="0"/>
              <a:t/>
            </a:r>
          </a:p>
          <a:p>
            <a:r>
              <a:rPr lang="tr-TR" dirty="0"/>
              <a:t>Gömülü kontrol sistemleri</a:t>
            </a:r>
          </a:p>
          <a:p>
            <a:pPr lvl="1"/>
            <a:r>
              <a:rPr lang="tr-TR" dirty="0"/>
              <a:t>Donanım cihazlarını kontrol eden ve yöneten yazılım kontrol sistemleridir. Sayıca, gömülü sistemler muhtemelen diğer tüm sistem türlerinden daha fazladır.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Uygulama türleri</a:t>
            </a:r>
          </a:p>
        </p:txBody>
      </p:sp>
      <p:sp>
        <p:nvSpPr>
          <p:cNvPr id="3" name="Content Placeholder 2"/>
          <p:cNvSpPr>
            <a:spLocks noGrp="1"/>
          </p:cNvSpPr>
          <p:nvPr>
            <p:ph idx="1"/>
          </p:nvPr>
        </p:nvSpPr>
        <p:spPr/>
        <p:txBody>
          <a:bodyPr/>
          <a:lstStyle/>
          <a:p>
            <a:r>
              <a:rPr lang="tr-TR" dirty="0"/>
              <a:t>Toplu işlem sistemleri</a:t>
            </a:r>
          </a:p>
          <a:p>
            <a:pPr lvl="1"/>
            <a:r>
              <a:rPr lang="tr-TR" dirty="0"/>
              <a:t>Büyük veri gruplarını işlemek üzere tasarlanmış iş sistemleridir. Çok sayıda ayrı girdiyi işleyerek bunlara karşılık gelen çıktılar üretirler.</a:t>
            </a:r>
          </a:p>
          <a:p>
            <a:r>
              <a:rPr lang="tr-TR" dirty="0"/>
              <a:t>Eğlence sistemleri</a:t>
            </a:r>
          </a:p>
          <a:p>
            <a:pPr lvl="1"/>
            <a:r>
              <a:rPr lang="tr-TR" dirty="0"/>
              <a:t>Öncelikle kişisel kullanım için geliştirilen ve kullanıcıyı eğlendirmeyi amaçlayan sistemlerdir.</a:t>
            </a:r>
          </a:p>
          <a:p>
            <a:r>
              <a:rPr lang="tr-TR" dirty="0"/>
              <a:t>Modelleme ve benzetim sistemleri</a:t>
            </a:r>
            <a:r>
              <a:rPr lang="tr-TR" dirty="0" err="1"/>
              <a:t/>
            </a:r>
            <a:r>
              <a:rPr lang="tr-TR" dirty="0"/>
              <a:t/>
            </a:r>
          </a:p>
          <a:p>
            <a:pPr lvl="1"/>
            <a:r>
              <a:rPr lang="tr-TR" dirty="0"/>
              <a:t>Bilim insanları ve mühendislerin, çok sayıda ayrı ve etkileşimli nesne içeren fiziksel süreçleri veya durumları modellemek için geliştirdiği sistemlerdir.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Uygulama türleri</a:t>
            </a:r>
          </a:p>
        </p:txBody>
      </p:sp>
      <p:sp>
        <p:nvSpPr>
          <p:cNvPr id="3" name="Content Placeholder 2"/>
          <p:cNvSpPr>
            <a:spLocks noGrp="1"/>
          </p:cNvSpPr>
          <p:nvPr>
            <p:ph idx="1"/>
          </p:nvPr>
        </p:nvSpPr>
        <p:spPr/>
        <p:txBody>
          <a:bodyPr/>
          <a:lstStyle/>
          <a:p>
            <a:r>
              <a:rPr lang="tr-TR" dirty="0"/>
              <a:t>Veri toplama sistemleri</a:t>
            </a:r>
            <a:r>
              <a:rPr lang="tr-TR" i="1" dirty="0"/>
              <a:t/>
            </a:r>
          </a:p>
          <a:p>
            <a:pPr lvl="1"/>
            <a:r>
              <a:rPr lang="tr-TR" dirty="0"/>
              <a:t>Bir dizi algılayıcıyla çevrelerinden veri toplayan ve bu verileri işlenmek üzere başka sistemlere gönderen sistemlerdir.</a:t>
            </a:r>
          </a:p>
          <a:p>
            <a:r>
              <a:rPr lang="tr-TR" dirty="0"/>
              <a:t>Sistemlerden oluşan sistemler</a:t>
            </a:r>
          </a:p>
          <a:p>
            <a:pPr lvl="1"/>
            <a:r>
              <a:rPr lang="tr-TR" dirty="0"/>
              <a:t>Birden fazla başka yazılım sisteminden oluşan sistemlerdir.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Yazılım mühendisliğinin temelleri</a:t>
            </a:r>
          </a:p>
        </p:txBody>
      </p:sp>
      <p:sp>
        <p:nvSpPr>
          <p:cNvPr id="3" name="Content Placeholder 2"/>
          <p:cNvSpPr>
            <a:spLocks noGrp="1"/>
          </p:cNvSpPr>
          <p:nvPr>
            <p:ph idx="1"/>
          </p:nvPr>
        </p:nvSpPr>
        <p:spPr/>
        <p:txBody>
          <a:bodyPr/>
          <a:lstStyle/>
          <a:p>
            <a:r>
              <a:rPr lang="tr-TR" dirty="0"/>
              <a:t>Kullanılan geliştirme tekniklerinden bağımsız olarak, bazı temel ilkeler tüm yazılım sistemi türleri için geçerlidir:</a:t>
            </a:r>
          </a:p>
          <a:p>
            <a:pPr lvl="1"/>
            <a:r>
              <a:rPr lang="tr-TR" dirty="0"/>
              <a:t>Sistemler, yönetilen ve anlaşılmış bir geliştirme süreciyle geliştirilmelidir. Elbette farklı yazılım türleri için farklı süreçler kullanılır.</a:t>
            </a:r>
          </a:p>
          <a:p>
            <a:pPr lvl="1"/>
            <a:r>
              <a:rPr lang="tr-TR" dirty="0"/>
              <a:t>Güvenilirlik ve performans tüm sistem türleri için önemlidir.</a:t>
            </a:r>
          </a:p>
          <a:p>
            <a:pPr lvl="1"/>
            <a:r>
              <a:rPr lang="tr-TR" dirty="0"/>
              <a:t>Yazılım belirtimini ve gereksinimlerini (yazılımın ne yapması gerektiğini) anlamak ve yönetmek önemlidir.</a:t>
            </a:r>
          </a:p>
          <a:p>
            <a:pPr lvl="1"/>
            <a:r>
              <a:rPr lang="tr-TR" dirty="0"/>
              <a:t>Uygun olduğunda, yeni yazılım yazmak yerine önceden geliştirilmiş yazılımı yeniden kullanmalısınız.</a:t>
            </a:r>
          </a:p>
          <a:p>
            <a:pPr lvl="1"/>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İnternet yazılım mühendisliği</a:t>
            </a:r>
          </a:p>
        </p:txBody>
      </p:sp>
      <p:sp>
        <p:nvSpPr>
          <p:cNvPr id="3" name="Content Placeholder 2"/>
          <p:cNvSpPr>
            <a:spLocks noGrp="1"/>
          </p:cNvSpPr>
          <p:nvPr>
            <p:ph idx="1"/>
          </p:nvPr>
        </p:nvSpPr>
        <p:spPr/>
        <p:txBody>
          <a:bodyPr/>
          <a:lstStyle/>
          <a:p>
            <a:r>
              <a:rPr lang="tr-TR" dirty="0"/>
              <a:t>Web artık uygulamaların çalıştırıldığı bir platformdur ve kuruluşlar yerel sistemler yerine giderek daha fazla web tabanlı sistem geliştirmektedir.</a:t>
            </a:r>
          </a:p>
          <a:p>
            <a:r>
              <a:rPr lang="tr-TR" dirty="0"/>
              <a:t>Web hizmetleri (Bölüm 19'da ele alınmaktadır), uygulama işlevlerine web üzerinden erişilmesini sağlar.</a:t>
            </a:r>
          </a:p>
          <a:p>
            <a:r>
              <a:rPr lang="tr-TR" dirty="0"/>
              <a:t>Bulut bilişim, uygulamaların uzaktaki «bulut» üzerinde çalıştığı bir bilgisayar hizmeti sunma yaklaşımıdır.</a:t>
            </a:r>
          </a:p>
          <a:p>
            <a:pPr lvl="1"/>
            <a:r>
              <a:rPr lang="tr-TR" dirty="0"/>
              <a:t>Kullanıcılar yazılım satın almak yerine kullanıma göre ödeme yapar.</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Web tabanlı yazılım mühendisliği</a:t>
            </a:r>
          </a:p>
        </p:txBody>
      </p:sp>
      <p:sp>
        <p:nvSpPr>
          <p:cNvPr id="3" name="Content Placeholder 2"/>
          <p:cNvSpPr>
            <a:spLocks noGrp="1"/>
          </p:cNvSpPr>
          <p:nvPr>
            <p:ph idx="1"/>
          </p:nvPr>
        </p:nvSpPr>
        <p:spPr/>
        <p:txBody>
          <a:bodyPr/>
          <a:lstStyle/>
          <a:p>
            <a:r>
              <a:rPr lang="tr-TR" dirty="0"/>
              <a:t>Web tabanlı sistemler karmaşık dağıtık sistemlerdir. Ancak daha önce ele alınan yazılım mühendisliği ilkeleri, diğer sistem türlerinde olduğu gibi bu sistemlerde de geçerlidir.</a:t>
            </a:r>
          </a:p>
          <a:p>
            <a:r>
              <a:rPr lang="tr-TR" dirty="0"/>
              <a:t>Yazılım mühendisliğinin temel fikirleri, diğer yazılım sistemi türlerinde olduğu gibi web tabanlı yazılımlara da uygulanır.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Web yazılım mühendisliği</a:t>
            </a:r>
          </a:p>
        </p:txBody>
      </p:sp>
      <p:sp>
        <p:nvSpPr>
          <p:cNvPr id="3" name="Content Placeholder 2"/>
          <p:cNvSpPr>
            <a:spLocks noGrp="1"/>
          </p:cNvSpPr>
          <p:nvPr>
            <p:ph idx="1"/>
          </p:nvPr>
        </p:nvSpPr>
        <p:spPr>
          <a:xfrm>
            <a:off x="256721" y="1559670"/>
            <a:ext cx="8660959" cy="4525963"/>
          </a:xfrm>
        </p:spPr>
        <p:txBody>
          <a:bodyPr/>
          <a:lstStyle/>
          <a:p>
            <a:r>
              <a:rPr lang="tr-TR" dirty="0"/>
              <a:t>Yazılımın yeniden kullanımı</a:t>
            </a:r>
          </a:p>
          <a:p>
            <a:pPr lvl="1"/>
            <a:r>
              <a:rPr lang="tr-TR" dirty="0"/>
              <a:t>Yeniden kullanım, web tabanlı sistemlerin kurulmasında baskın yaklaşımdır. Bu sistemleri geliştirirken, mevcut yazılım bileşenlerinden ve sistemlerinden nasıl bir araya getirilebileceklerini düşünürsünüz.</a:t>
            </a:r>
          </a:p>
          <a:p>
            <a:r>
              <a:rPr lang="tr-TR" dirty="0"/>
              <a:t>Artımlı ve çevik geliştirme</a:t>
            </a:r>
          </a:p>
          <a:p>
            <a:pPr lvl="1"/>
            <a:r>
              <a:rPr lang="tr-TR" dirty="0"/>
              <a:t>Web tabanlı sistemler artımlı olarak geliştirilmeli ve teslim edilmelidir. Bu tür sistemlerin tüm gereksinimlerini önceden belirtmenin uygulanabilir olmadığı artık genel kabul görmektedir.</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Web yazılım mühendisliği</a:t>
            </a:r>
          </a:p>
        </p:txBody>
      </p:sp>
      <p:sp>
        <p:nvSpPr>
          <p:cNvPr id="3" name="Content Placeholder 2"/>
          <p:cNvSpPr>
            <a:spLocks noGrp="1"/>
          </p:cNvSpPr>
          <p:nvPr>
            <p:ph idx="1"/>
          </p:nvPr>
        </p:nvSpPr>
        <p:spPr/>
        <p:txBody>
          <a:bodyPr/>
          <a:lstStyle/>
          <a:p>
            <a:r>
              <a:rPr lang="tr-TR" dirty="0"/>
              <a:t>Hizmet odaklı sistemler</a:t>
            </a:r>
          </a:p>
          <a:p>
            <a:pPr lvl="1"/>
            <a:r>
              <a:rPr lang="tr-TR" dirty="0"/>
              <a:t>Yazılım bileşenlerinin bağımsız web hizmetleri olduğu hizmet odaklı yazılım mühendisliği kullanılarak yazılım gerçekleştirilebilir.</a:t>
            </a:r>
          </a:p>
          <a:p>
            <a:r>
              <a:rPr lang="tr-TR" dirty="0"/>
              <a:t>Zengin arayüzler</a:t>
            </a:r>
          </a:p>
          <a:p>
            <a:pPr lvl="1"/>
            <a:r>
              <a:rPr lang="tr-TR" dirty="0"/>
              <a:t>AJAX ve HTML5 gibi, web tarayıcısında zengin arayüzlerin oluşturulmasını destekleyen arayüz geliştirme teknolojileri ortaya çıkmıştır.</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tr-TR" dirty="0"/>
              <a:t>Yazılım mühendisliği etiği</a:t>
            </a:r>
          </a:p>
        </p:txBody>
      </p:sp>
      <p:sp>
        <p:nvSpPr>
          <p:cNvPr id="6" name="Footer Placeholder 5"/>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tr-TR" dirty="0"/>
              <a:t>Yazılım mühendisliği etiği</a:t>
            </a:r>
          </a:p>
        </p:txBody>
      </p:sp>
      <p:sp>
        <p:nvSpPr>
          <p:cNvPr id="80901" name="Rectangle 5"/>
          <p:cNvSpPr>
            <a:spLocks noGrp="1" noChangeArrowheads="1"/>
          </p:cNvSpPr>
          <p:nvPr>
            <p:ph idx="1"/>
          </p:nvPr>
        </p:nvSpPr>
        <p:spPr/>
        <p:txBody>
          <a:bodyPr/>
          <a:lstStyle/>
          <a:p>
            <a:r>
              <a:rPr lang="tr-TR" dirty="0"/>
              <a:t>Yazılım mühendisliği, yalnızca teknik becerilerin uygulanmasından daha geniş sorumluluklar içerir.</a:t>
            </a:r>
          </a:p>
          <a:p>
            <a:r>
              <a:rPr lang="tr-TR" dirty="0"/>
              <a:t>Yazılım mühendisleri, meslek mensubu olarak saygı görmek için dürüst ve etik sorumluluk taşıyan biçimde davranmalıdır.</a:t>
            </a:r>
          </a:p>
          <a:p>
            <a:r>
              <a:rPr lang="tr-TR" dirty="0"/>
              <a:t>Etik davranış, yalnızca yasalara uymaktan fazlasıdır ve ahlaken doğru bir dizi ilkeye bağlı kalmayı gerektirir.</a:t>
            </a:r>
          </a:p>
        </p:txBody>
      </p:sp>
      <p:sp>
        <p:nvSpPr>
          <p:cNvPr id="5" name="Footer Placeholder 4"/>
          <p:cNvSpPr>
            <a:spLocks noGrp="1"/>
          </p:cNvSpPr>
          <p:nvPr>
            <p:ph type="ftr" sz="quarter" idx="10"/>
          </p:nvPr>
        </p:nvSpPr>
        <p:spPr/>
        <p:txBody>
          <a:bodyPr/>
          <a:lstStyle/>
          <a:p>
            <a:r>
              <a:rPr lang="tr-TR"/>
              <a:t>Bölüm 1 Giriş</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27</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tr-TR"/>
              <a:t>Mesleki sorumluluk konuları</a:t>
            </a:r>
          </a:p>
        </p:txBody>
      </p:sp>
      <p:sp>
        <p:nvSpPr>
          <p:cNvPr id="81925" name="Rectangle 5"/>
          <p:cNvSpPr>
            <a:spLocks noGrp="1" noChangeArrowheads="1"/>
          </p:cNvSpPr>
          <p:nvPr>
            <p:ph idx="1"/>
          </p:nvPr>
        </p:nvSpPr>
        <p:spPr/>
        <p:txBody>
          <a:bodyPr/>
          <a:lstStyle/>
          <a:p>
            <a:pPr>
              <a:lnSpc>
                <a:spcPct val="90000"/>
              </a:lnSpc>
            </a:pPr>
            <a:r>
              <a:rPr lang="tr-TR"/>
              <a:t>Gizlilik</a:t>
            </a:r>
          </a:p>
          <a:p>
            <a:pPr lvl="1">
              <a:lnSpc>
                <a:spcPct val="90000"/>
              </a:lnSpc>
            </a:pPr>
            <a:r>
              <a:rPr lang="tr-TR"/>
              <a:t>Mühendisler, resmi bir gizlilik sözleşmesi imzalanıp imzalanmadığına bakılmaksızın, normalde işverenlerinin veya müşterilerinin gizliliğine saygı göstermelidir.</a:t>
            </a:r>
          </a:p>
          <a:p>
            <a:pPr>
              <a:lnSpc>
                <a:spcPct val="90000"/>
              </a:lnSpc>
            </a:pPr>
            <a:r>
              <a:rPr lang="tr-TR"/>
              <a:t>Yetkinlik</a:t>
            </a:r>
          </a:p>
          <a:p>
            <a:pPr lvl="1">
              <a:lnSpc>
                <a:spcPct val="90000"/>
              </a:lnSpc>
            </a:pPr>
            <a:r>
              <a:rPr lang="tr-TR"/>
              <a:t>Mühendisler yetkinlik düzeylerini yanlış tanıtmamalıdır. Yetkinliklerini aşan işleri bilerek kabul etmemelidir.</a:t>
            </a:r>
          </a:p>
          <a:p>
            <a:pPr>
              <a:lnSpc>
                <a:spcPct val="90000"/>
              </a:lnSpc>
            </a:pPr>
            <a:endParaRPr lang="en-GB"/>
          </a:p>
        </p:txBody>
      </p:sp>
      <p:sp>
        <p:nvSpPr>
          <p:cNvPr id="5" name="Footer Placeholder 4"/>
          <p:cNvSpPr>
            <a:spLocks noGrp="1"/>
          </p:cNvSpPr>
          <p:nvPr>
            <p:ph type="ftr" sz="quarter" idx="10"/>
          </p:nvPr>
        </p:nvSpPr>
        <p:spPr/>
        <p:txBody>
          <a:bodyPr/>
          <a:lstStyle/>
          <a:p>
            <a:r>
              <a:rPr lang="tr-TR"/>
              <a:t>Bölüm 1 Giriş</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tr-TR"/>
              <a:t>Mesleki sorumluluk konuları</a:t>
            </a:r>
          </a:p>
        </p:txBody>
      </p:sp>
      <p:sp>
        <p:nvSpPr>
          <p:cNvPr id="83973" name="Rectangle 5"/>
          <p:cNvSpPr>
            <a:spLocks noGrp="1" noChangeArrowheads="1"/>
          </p:cNvSpPr>
          <p:nvPr>
            <p:ph idx="1"/>
          </p:nvPr>
        </p:nvSpPr>
        <p:spPr/>
        <p:txBody>
          <a:bodyPr/>
          <a:lstStyle/>
          <a:p>
            <a:r>
              <a:rPr lang="tr-TR" sz="2400"/>
              <a:t>Fikri mülkiyet hakları</a:t>
            </a:r>
          </a:p>
          <a:p>
            <a:pPr lvl="1"/>
            <a:r>
              <a:rPr lang="tr-TR" sz="2000"/>
              <a:t>Mühendisler, patentler ve telif hakları gibi fikri mülkiyetin kullanımını düzenleyen yerel yasaları bilmelidir. İşverenlerin ve müşterilerin fikri mülkiyetinin korunduğundan emin olmalıdır.</a:t>
            </a:r>
          </a:p>
          <a:p>
            <a:r>
              <a:rPr lang="tr-TR" sz="2400"/>
              <a:t>Bilgisayarların kötüye kullanımı</a:t>
            </a:r>
          </a:p>
          <a:p>
            <a:pPr lvl="1"/>
            <a:r>
              <a:rPr lang="tr-TR" sz="2000"/>
              <a:t>Yazılım mühendisleri, başkalarının bilgisayarlarını kötüye kullanmak için teknik becerilerini kullanmamalıdır. Kötüye kullanım, görece önemsiz örneklerden (işverenin bilgisayarında oyun oynamak gibi) son derece ciddi örneklere (virüs yaymak) kadar uzanır.</a:t>
            </a:r>
          </a:p>
        </p:txBody>
      </p:sp>
      <p:sp>
        <p:nvSpPr>
          <p:cNvPr id="5" name="Footer Placeholder 4"/>
          <p:cNvSpPr>
            <a:spLocks noGrp="1"/>
          </p:cNvSpPr>
          <p:nvPr>
            <p:ph type="ftr" sz="quarter" idx="10"/>
          </p:nvPr>
        </p:nvSpPr>
        <p:spPr/>
        <p:txBody>
          <a:bodyPr/>
          <a:lstStyle/>
          <a:p>
            <a:r>
              <a:rPr lang="tr-TR"/>
              <a:t>Bölüm 1 Giriş</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tr-TR" dirty="0"/>
              <a:t>ACM/IEEE Etik Kuralları</a:t>
            </a:r>
          </a:p>
        </p:txBody>
      </p:sp>
      <p:sp>
        <p:nvSpPr>
          <p:cNvPr id="82949" name="Rectangle 5"/>
          <p:cNvSpPr>
            <a:spLocks noGrp="1" noChangeArrowheads="1"/>
          </p:cNvSpPr>
          <p:nvPr>
            <p:ph idx="1"/>
          </p:nvPr>
        </p:nvSpPr>
        <p:spPr/>
        <p:txBody>
          <a:bodyPr/>
          <a:lstStyle/>
          <a:p>
            <a:pPr>
              <a:lnSpc>
                <a:spcPct val="90000"/>
              </a:lnSpc>
            </a:pPr>
            <a:r>
              <a:rPr lang="tr-TR" dirty="0"/>
              <a:t>ABD'deki meslek kuruluşları, etik uygulama kuralları oluşturmak için iş birliği yapmıştır.</a:t>
            </a:r>
          </a:p>
          <a:p>
            <a:pPr>
              <a:lnSpc>
                <a:spcPct val="90000"/>
              </a:lnSpc>
            </a:pPr>
            <a:r>
              <a:rPr lang="tr-TR" dirty="0"/>
              <a:t>Bu kuruluşların üyeleri, katılırken bu uygulama kurallarına bağlı kalmayı kabul eder.</a:t>
            </a:r>
          </a:p>
          <a:p>
            <a:pPr>
              <a:lnSpc>
                <a:spcPct val="90000"/>
              </a:lnSpc>
            </a:pPr>
            <a:r>
              <a:rPr lang="tr-TR" dirty="0"/>
              <a:t>Kurallar, uygulayıcılar, eğitimciler, yöneticiler, amirler ve politika belirleyiciler ile mesleğin stajyer ve öğrencileri dahil, profesyonel yazılım mühendislerinin davranışları ve kararlarıyla ilgili sekiz ilke içerir.</a:t>
            </a:r>
          </a:p>
        </p:txBody>
      </p:sp>
      <p:sp>
        <p:nvSpPr>
          <p:cNvPr id="5" name="Footer Placeholder 4"/>
          <p:cNvSpPr>
            <a:spLocks noGrp="1"/>
          </p:cNvSpPr>
          <p:nvPr>
            <p:ph type="ftr" sz="quarter" idx="10"/>
          </p:nvPr>
        </p:nvSpPr>
        <p:spPr/>
        <p:txBody>
          <a:bodyPr/>
          <a:lstStyle/>
          <a:p>
            <a:r>
              <a:rPr lang="tr-TR"/>
              <a:t>Bölüm 1 Giriş</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30</a:t>
            </a:fld>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Etik kuralların gerekçesi</a:t>
            </a:r>
          </a:p>
        </p:txBody>
      </p:sp>
      <p:sp>
        <p:nvSpPr>
          <p:cNvPr id="3" name="Content Placeholder 2"/>
          <p:cNvSpPr>
            <a:spLocks noGrp="1"/>
          </p:cNvSpPr>
          <p:nvPr>
            <p:ph idx="1"/>
          </p:nvPr>
        </p:nvSpPr>
        <p:spPr/>
        <p:txBody>
          <a:bodyPr/>
          <a:lstStyle/>
          <a:p>
            <a:pPr lvl="1"/>
            <a:r>
              <a:rPr lang="tr-TR" i="1" dirty="0"/>
              <a:t>Bilgisayarlar ticarette, sanayide, kamu yönetiminde, tıpta, eğitimde, eğlencede ve genel olarak toplumda merkezi ve giderek büyüyen bir rol oynar. Yazılım mühendisleri, doğrudan katılarak veya öğreterek yazılım sistemlerinin analizine, belirtimine, tasarımına, geliştirilmesine, belgelendirilmesine, bakımına ve testine katkı sağlar.</a:t>
            </a:r>
          </a:p>
          <a:p>
            <a:pPr lvl="1"/>
            <a:r>
              <a:rPr lang="tr-TR" i="1" dirty="0"/>
              <a:t>Yazılım sistemlerini geliştirmedeki rolleri nedeniyle yazılım mühendisleri, iyilik yapma veya zarar verme, başkalarına bunları yapma olanağı sağlama ya da bu yönde etkileme açısından önemli fırsatlara sahiptir. Çabalarının mümkün olduğunca iyilik için kullanılmasını sağlamak üzere, yazılım mühendisliğini yararlı ve saygın bir meslek haline getirmeye bağlılık göstermelidirler.</a:t>
            </a:r>
            <a:r>
              <a:rPr lang="tr-TR" dirty="0"/>
              <a:t/>
            </a:r>
            <a:r>
              <a:rPr lang="tr-TR" i="1" dirty="0"/>
              <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31</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tr-TR" dirty="0"/>
              <a:t>ACM/IEEE Etik Kuralları</a:t>
            </a:r>
            <a:endParaRPr lang="en-US" dirty="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tr-TR" sz="1600" b="1" dirty="0"/>
              <a:t>Yazılım Mühendisliği Etik ve Mesleki Uygulama Kuralları</a:t>
            </a:r>
          </a:p>
          <a:p>
            <a:endParaRPr lang="en-GB" sz="1600" dirty="0"/>
          </a:p>
          <a:p>
            <a:r>
              <a:rPr lang="tr-TR" sz="1600" dirty="0"/>
              <a:t>ACM/IEEE-CS Yazılım Mühendisliği Etiği ve Mesleki Uygulamaları Ortak Çalışma Grubu</a:t>
            </a:r>
          </a:p>
          <a:p>
            <a:r>
              <a:rPr lang="en-US" sz="1600" b="1" dirty="0"/>
              <a:t> </a:t>
            </a:r>
            <a:endParaRPr lang="en-GB" sz="1600" dirty="0"/>
          </a:p>
          <a:p>
            <a:r>
              <a:rPr lang="tr-TR" sz="1600" b="1" dirty="0"/>
              <a:t>ÖNSÖZ</a:t>
            </a:r>
            <a:endParaRPr lang="en-GB" sz="1600" dirty="0"/>
          </a:p>
          <a:p>
            <a:pPr>
              <a:spcAft>
                <a:spcPts val="600"/>
              </a:spcAft>
            </a:pPr>
            <a:r>
              <a:rPr lang="tr-TR" sz="1600" dirty="0"/>
              <a:t>Kuralların kısa sürümü, amaçları yüksek bir soyutlama düzeyinde özetler. Tam sürümdeki maddeler, bu amaçların yazılım mühendisliği mesleğindeki davranışlarımızı nasıl değiştirdiğine ilişkin örnekler ve ayrıntılar verir. Amaçlar olmadan ayrıntılar hukuki ve sıkıcı hale gelebilir. Ayrıntılar olmadan amaçlar gösterişli ancak boş kalabilir. Amaçlar ve ayrıntılar birlikte tutarlı bir kurallar bütünü oluşturur.</a:t>
            </a:r>
            <a:endParaRPr lang="en-GB" sz="1600" dirty="0"/>
          </a:p>
          <a:p>
            <a:r>
              <a:rPr lang="tr-TR" sz="1600" dirty="0"/>
              <a:t>Yazılım mühendisleri, yazılımın analizini, belirtimini, tasarımını, geliştirilmesini, testini ve bakımını yararlı ve saygın bir meslek haline getirmeye bağlılık göstermelidir. Halkın sağlığına, emniyetine ve refahına olan bağlılıkları doğrultusunda şu Sekiz İlkeye uymalıdır:</a:t>
            </a:r>
            <a:endParaRPr lang="en-GB" sz="1600" dirty="0"/>
          </a:p>
          <a:p>
            <a:r>
              <a:rPr lang="en-US" sz="1200" dirty="0"/>
              <a:t> </a:t>
            </a:r>
            <a:endParaRPr lang="en-GB" sz="1200" dirty="0"/>
          </a:p>
          <a:p>
            <a:endParaRPr lang="en-US" sz="1200" dirty="0"/>
          </a:p>
        </p:txBody>
      </p:sp>
      <p:sp>
        <p:nvSpPr>
          <p:cNvPr id="3" name="Footer Placeholder 2"/>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32</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tr-TR" dirty="0"/>
              <a:t>Etik ilkeler</a:t>
            </a:r>
            <a:endParaRPr lang="en-US" dirty="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tr-TR" sz="1600" dirty="0"/>
              <a:t>1. KAMU - Yazılım mühendisleri kamu yararıyla tutarlı biçimde hareket etmelidir.</a:t>
            </a:r>
            <a:endParaRPr lang="en-GB" sz="1600" dirty="0"/>
          </a:p>
          <a:p>
            <a:pPr>
              <a:spcAft>
                <a:spcPts val="600"/>
              </a:spcAft>
            </a:pPr>
            <a:r>
              <a:rPr lang="tr-TR" sz="1600" dirty="0"/>
              <a:t>2. MÜŞTERİ VE İŞVEREN - Yazılım mühendisleri, kamu yararıyla tutarlı olarak müşterilerinin ve işverenlerinin çıkarlarını en iyi gözeten biçimde hareket etmelidir.</a:t>
            </a:r>
          </a:p>
          <a:p>
            <a:pPr>
              <a:spcAft>
                <a:spcPts val="600"/>
              </a:spcAft>
            </a:pPr>
            <a:r>
              <a:rPr lang="tr-TR" sz="1600" dirty="0"/>
              <a:t>3. ÜRÜN - Yazılım mühendisleri, ürünlerinin ve ilgili değişikliklerin mümkün olan en yüksek mesleki standartları karşılamasını sağlamalıdır.</a:t>
            </a:r>
            <a:endParaRPr lang="en-GB" sz="1600" dirty="0"/>
          </a:p>
          <a:p>
            <a:pPr>
              <a:spcAft>
                <a:spcPts val="600"/>
              </a:spcAft>
            </a:pPr>
            <a:r>
              <a:rPr lang="tr-TR" sz="1600" dirty="0"/>
              <a:t>4. MESLEKİ YARGI - Yazılım mühendisleri mesleki yargılarında dürüstlüğü ve bağımsızlığı korumalıdır.</a:t>
            </a:r>
            <a:endParaRPr lang="en-GB" sz="1600" dirty="0"/>
          </a:p>
          <a:p>
            <a:pPr>
              <a:spcAft>
                <a:spcPts val="600"/>
              </a:spcAft>
            </a:pPr>
            <a:r>
              <a:rPr lang="tr-TR" sz="1600" dirty="0"/>
              <a:t>5. YÖNETİM - Yazılım mühendisliği yöneticileri ve liderleri, yazılım geliştirme ve bakım yönetiminde etik bir yaklaşımı benimsemeli ve desteklemelidir.</a:t>
            </a:r>
            <a:endParaRPr lang="en-GB" sz="1600" dirty="0"/>
          </a:p>
          <a:p>
            <a:pPr>
              <a:spcAft>
                <a:spcPts val="600"/>
              </a:spcAft>
            </a:pPr>
            <a:r>
              <a:rPr lang="tr-TR" sz="1600" dirty="0"/>
              <a:t>6. MESLEK - Yazılım mühendisleri, kamu yararıyla tutarlı olarak mesleğin dürüstlüğünü ve itibarını geliştirmelidir.</a:t>
            </a:r>
            <a:endParaRPr lang="en-GB" sz="1600" dirty="0"/>
          </a:p>
          <a:p>
            <a:pPr>
              <a:spcAft>
                <a:spcPts val="600"/>
              </a:spcAft>
            </a:pPr>
            <a:r>
              <a:rPr lang="tr-TR" sz="1600" dirty="0"/>
              <a:t>7. MESLEKTAŞLAR - Yazılım mühendisleri meslektaşlarına adil davranmalı ve onları desteklemelidir.</a:t>
            </a:r>
            <a:endParaRPr lang="en-GB" sz="1600" dirty="0"/>
          </a:p>
          <a:p>
            <a:pPr>
              <a:spcAft>
                <a:spcPts val="600"/>
              </a:spcAft>
            </a:pPr>
            <a:r>
              <a:rPr lang="tr-TR" sz="1600" dirty="0"/>
              <a:t>8. KENDİSİ - Yazılım mühendisleri mesleklerini uygulamaya ilişkin yaşam boyu öğrenmeye katılmalı ve mesleğin uygulanmasında etik bir yaklaşımı desteklemelidir.</a:t>
            </a:r>
          </a:p>
          <a:p>
            <a:endParaRPr lang="en-US" sz="1200" dirty="0"/>
          </a:p>
        </p:txBody>
      </p:sp>
      <p:sp>
        <p:nvSpPr>
          <p:cNvPr id="3" name="Footer Placeholder 2"/>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33</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0722"/>
            <a:ext cx="8229600" cy="1143000"/>
          </a:xfrm>
        </p:spPr>
        <p:txBody>
          <a:bodyPr/>
          <a:lstStyle/>
          <a:p>
            <a:pPr algn="ctr"/>
            <a:r>
              <a:rPr lang="tr-TR" dirty="0"/>
              <a:t>Vaka çalışmaları</a:t>
            </a:r>
          </a:p>
        </p:txBody>
      </p:sp>
      <p:sp>
        <p:nvSpPr>
          <p:cNvPr id="6" name="Footer Placeholder 5"/>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34</a:t>
            </a:fld>
            <a:endParaRPr lang="en-US"/>
          </a:p>
        </p:txBody>
      </p:sp>
    </p:spTree>
    <p:extLst>
      <p:ext uri="{BB962C8B-B14F-4D97-AF65-F5344CB8AC3E}">
        <p14:creationId xmlns:p14="http://schemas.microsoft.com/office/powerpoint/2010/main" val="3981197308"/>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tr-TR"/>
              <a:t>Etik ikilemler</a:t>
            </a:r>
          </a:p>
        </p:txBody>
      </p:sp>
      <p:sp>
        <p:nvSpPr>
          <p:cNvPr id="89093" name="Rectangle 5"/>
          <p:cNvSpPr>
            <a:spLocks noGrp="1" noChangeArrowheads="1"/>
          </p:cNvSpPr>
          <p:nvPr>
            <p:ph idx="1"/>
          </p:nvPr>
        </p:nvSpPr>
        <p:spPr/>
        <p:txBody>
          <a:bodyPr/>
          <a:lstStyle/>
          <a:p>
            <a:r>
              <a:rPr lang="tr-TR" dirty="0"/>
              <a:t>Üst yönetimin politikalarıyla ilkesel olarak anlaşmazlık yaşamak.</a:t>
            </a:r>
          </a:p>
          <a:p>
            <a:r>
              <a:rPr lang="tr-TR" dirty="0"/>
              <a:t>İşvereninizin etik olmayan davranarak, testlerini tamamlamadan emniyet açısından kritik bir sistemi piyasaya sürmesi.</a:t>
            </a:r>
          </a:p>
          <a:p>
            <a:r>
              <a:rPr lang="tr-TR" dirty="0"/>
              <a:t>Askeri silah sistemlerinin veya nükleer sistemlerin geliştirilmesine katılmak.</a:t>
            </a:r>
          </a:p>
          <a:p>
            <a:endParaRPr lang="en-GB" dirty="0"/>
          </a:p>
        </p:txBody>
      </p:sp>
      <p:sp>
        <p:nvSpPr>
          <p:cNvPr id="5" name="Footer Placeholder 4"/>
          <p:cNvSpPr>
            <a:spLocks noGrp="1"/>
          </p:cNvSpPr>
          <p:nvPr>
            <p:ph type="ftr" sz="quarter" idx="10"/>
          </p:nvPr>
        </p:nvSpPr>
        <p:spPr/>
        <p:txBody>
          <a:bodyPr/>
          <a:lstStyle/>
          <a:p>
            <a:r>
              <a:rPr lang="tr-TR"/>
              <a:t>Bölüm 1 Giriş</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35</a:t>
            </a:fld>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Vaka çalışmaları</a:t>
            </a:r>
          </a:p>
        </p:txBody>
      </p:sp>
      <p:sp>
        <p:nvSpPr>
          <p:cNvPr id="3" name="Content Placeholder 2"/>
          <p:cNvSpPr>
            <a:spLocks noGrp="1"/>
          </p:cNvSpPr>
          <p:nvPr>
            <p:ph idx="1"/>
          </p:nvPr>
        </p:nvSpPr>
        <p:spPr/>
        <p:txBody>
          <a:bodyPr/>
          <a:lstStyle/>
          <a:p>
            <a:r>
              <a:rPr lang="tr-TR" dirty="0"/>
              <a:t>Kişisel insülin pompası</a:t>
            </a:r>
          </a:p>
          <a:p>
            <a:pPr lvl="1"/>
            <a:r>
              <a:rPr lang="tr-TR" dirty="0"/>
              <a:t>Diyabet hastalarının kan şekeri kontrolünü sürdürmek için kullandığı insülin pompasındaki gömülü sistem.</a:t>
            </a:r>
          </a:p>
          <a:p>
            <a:r>
              <a:rPr lang="tr-TR" dirty="0"/>
              <a:t>Ruh sağlığı hastaları için vaka yönetim sistemi</a:t>
            </a:r>
          </a:p>
          <a:p>
            <a:pPr lvl="1"/>
            <a:r>
              <a:rPr lang="tr-TR" dirty="0"/>
              <a:t>Mentcare. Ruh sağlığı sorunları nedeniyle bakım alan kişilerin kayıtlarını tutmak için kullanılan bir sistem.</a:t>
            </a:r>
          </a:p>
          <a:p>
            <a:r>
              <a:rPr lang="tr-TR" dirty="0"/>
              <a:t>Issız bölge hava istasyonu</a:t>
            </a:r>
          </a:p>
          <a:p>
            <a:pPr lvl="1"/>
            <a:r>
              <a:rPr lang="tr-TR" dirty="0"/>
              <a:t>Uzak bölgelerdeki hava koşullarına ilişkin verileri toplayan bir veri toplama sistemi.</a:t>
            </a:r>
          </a:p>
          <a:p>
            <a:r>
              <a:rPr lang="tr-TR" dirty="0" err="1"/>
              <a:t>iLearn: dijital öğrenme ortamı</a:t>
            </a:r>
            <a:r>
              <a:rPr lang="tr-TR" dirty="0"/>
              <a:t/>
            </a:r>
          </a:p>
          <a:p>
            <a:pPr lvl="1"/>
            <a:r>
              <a:rPr lang="tr-TR" dirty="0"/>
              <a:t>Okullarda öğrenmeyi destekleyen bir sistem</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36</a:t>
            </a:fld>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İnsülin pompası kontrol sistemi</a:t>
            </a:r>
          </a:p>
        </p:txBody>
      </p:sp>
      <p:sp>
        <p:nvSpPr>
          <p:cNvPr id="3" name="Content Placeholder 2"/>
          <p:cNvSpPr>
            <a:spLocks noGrp="1"/>
          </p:cNvSpPr>
          <p:nvPr>
            <p:ph idx="1"/>
          </p:nvPr>
        </p:nvSpPr>
        <p:spPr/>
        <p:txBody>
          <a:bodyPr/>
          <a:lstStyle/>
          <a:p>
            <a:r>
              <a:rPr lang="tr-TR" dirty="0"/>
              <a:t>Kan şekeri algılayıcısından veri toplar ve enjekte edilmesi gereken insülin miktarını hesaplar.</a:t>
            </a:r>
          </a:p>
          <a:p>
            <a:r>
              <a:rPr lang="tr-TR" dirty="0"/>
              <a:t>Hesaplama, kan şekeri düzeyindeki değişim hızına dayanır.</a:t>
            </a:r>
          </a:p>
          <a:p>
            <a:r>
              <a:rPr lang="tr-TR" dirty="0"/>
              <a:t>Doğru insülin dozunu vermek için mikro pompaya sinyaller gönderir.</a:t>
            </a:r>
          </a:p>
          <a:p>
            <a:r>
              <a:rPr lang="tr-TR" dirty="0"/>
              <a:t>Düşük kan şekeri beyin işlevlerinde bozulmaya, komaya ve ölüme yol açabildiği, yüksek kan şekerinin ise göz ve böbrek hasarı gibi uzun vadeli sonuçları olduğu için emniyet açısından kritik bir sistemdir.</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37</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tr-TR" dirty="0"/>
              <a:t>İnsülin pompasının donanım mimarisi</a:t>
            </a:r>
            <a:endParaRPr lang="en-US" dirty="0"/>
          </a:p>
        </p:txBody>
      </p:sp>
      <p:pic>
        <p:nvPicPr>
          <p:cNvPr id="4" name="Picture 3" descr="1.4 InsulinPumpHW.eps"/>
          <p:cNvPicPr>
            <a:picLocks noChangeAspect="1"/>
          </p:cNvPicPr>
          <p:nvPr/>
        </p:nvPicPr>
        <p:blipFill>
          <a:blip r:embed="rId2"/>
          <a:stretch>
            <a:fillRect/>
          </a:stretch>
        </p:blipFill>
        <p:spPr>
          <a:xfrm>
            <a:off x="1911696" y="2068286"/>
            <a:ext cx="5345447" cy="3401648"/>
          </a:xfrm>
          <a:prstGeom prst="rect">
            <a:avLst/>
          </a:prstGeom>
        </p:spPr>
      </p:pic>
      <p:sp>
        <p:nvSpPr>
          <p:cNvPr id="3" name="Footer Placeholder 2"/>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38</a:t>
            </a:fld>
            <a:endParaRPr lang="en-US"/>
          </a:p>
        </p:txBody>
      </p:sp>
      <p:sp>
        <p:nvSpPr>
          <p:cNvPr id="17411" name="Türkçe şema etiketi 17411"/>
          <p:cNvSpPr txBox="1"/>
          <p:nvPr/>
        </p:nvSpPr>
        <p:spPr>
          <a:xfrm>
            <a:off x="2500766" y="2627928"/>
            <a:ext cx="705911" cy="403915"/>
          </a:xfrm>
          <a:prstGeom prst="rect">
            <a:avLst/>
          </a:prstGeom>
          <a:noFill/>
          <a:ln>
            <a:noFill/>
          </a:ln>
        </p:spPr>
        <p:txBody>
          <a:bodyPr wrap="square" lIns="0" rIns="0" tIns="0" bIns="0" anchor="ctr">
            <a:normAutofit/>
          </a:bodyPr>
          <a:lstStyle/>
          <a:p>
            <a:pPr algn="ctr">
              <a:lnSpc>
                <a:spcPct val="100000"/>
              </a:lnSpc>
            </a:pPr>
            <a:r>
              <a:rPr lang="tr-TR" sz="1167" b="0">
                <a:solidFill>
                  <a:srgbClr val="000000"/>
                </a:solidFill>
                <a:latin typeface="Arial"/>
              </a:rPr>
              <a:t>İğne</a:t>
            </a:r>
          </a:p>
          <a:p>
            <a:pPr algn="ctr">
              <a:lnSpc>
                <a:spcPct val="100000"/>
              </a:lnSpc>
            </a:pPr>
            <a:r>
              <a:rPr lang="tr-TR" sz="1167" b="0">
                <a:solidFill>
                  <a:srgbClr val="000000"/>
                </a:solidFill>
                <a:latin typeface="Arial"/>
              </a:rPr>
              <a:t>düzeneği</a:t>
            </a:r>
          </a:p>
        </p:txBody>
      </p:sp>
      <p:sp>
        <p:nvSpPr>
          <p:cNvPr id="17412" name="Türkçe şema etiketi 17412"/>
          <p:cNvSpPr txBox="1"/>
          <p:nvPr/>
        </p:nvSpPr>
        <p:spPr>
          <a:xfrm>
            <a:off x="2622475" y="3581752"/>
            <a:ext cx="520913" cy="160593"/>
          </a:xfrm>
          <a:prstGeom prst="rect">
            <a:avLst/>
          </a:prstGeom>
          <a:noFill/>
          <a:ln>
            <a:noFill/>
          </a:ln>
        </p:spPr>
        <p:txBody>
          <a:bodyPr wrap="square" lIns="0" rIns="0" tIns="0" bIns="0" anchor="ctr">
            <a:normAutofit/>
          </a:bodyPr>
          <a:lstStyle/>
          <a:p>
            <a:pPr algn="ctr">
              <a:lnSpc>
                <a:spcPct val="100000"/>
              </a:lnSpc>
            </a:pPr>
            <a:r>
              <a:rPr lang="tr-TR" sz="867" b="0">
                <a:solidFill>
                  <a:srgbClr val="000000"/>
                </a:solidFill>
                <a:latin typeface="Arial"/>
              </a:rPr>
              <a:t>Algılayıcı</a:t>
            </a:r>
          </a:p>
        </p:txBody>
      </p:sp>
      <p:sp>
        <p:nvSpPr>
          <p:cNvPr id="17413" name="Türkçe şema etiketi 17413"/>
          <p:cNvSpPr txBox="1"/>
          <p:nvPr/>
        </p:nvSpPr>
        <p:spPr>
          <a:xfrm>
            <a:off x="4009954" y="2160749"/>
            <a:ext cx="1173272" cy="165459"/>
          </a:xfrm>
          <a:prstGeom prst="rect">
            <a:avLst/>
          </a:prstGeom>
          <a:noFill/>
          <a:ln>
            <a:noFill/>
          </a:ln>
        </p:spPr>
        <p:txBody>
          <a:bodyPr wrap="square" lIns="0" rIns="0" tIns="0" bIns="0" anchor="ctr">
            <a:normAutofit/>
          </a:bodyPr>
          <a:lstStyle/>
          <a:p>
            <a:pPr algn="ctr">
              <a:lnSpc>
                <a:spcPct val="100000"/>
              </a:lnSpc>
            </a:pPr>
            <a:r>
              <a:rPr lang="tr-TR" sz="933" b="0">
                <a:solidFill>
                  <a:srgbClr val="000000"/>
                </a:solidFill>
                <a:latin typeface="Arial"/>
              </a:rPr>
              <a:t>İnsülin haznesi</a:t>
            </a:r>
          </a:p>
        </p:txBody>
      </p:sp>
      <p:sp>
        <p:nvSpPr>
          <p:cNvPr id="17414" name="Türkçe şema etiketi 17414"/>
          <p:cNvSpPr txBox="1"/>
          <p:nvPr/>
        </p:nvSpPr>
        <p:spPr>
          <a:xfrm>
            <a:off x="4238767" y="3572019"/>
            <a:ext cx="739989" cy="170326"/>
          </a:xfrm>
          <a:prstGeom prst="rect">
            <a:avLst/>
          </a:prstGeom>
          <a:noFill/>
          <a:ln>
            <a:noFill/>
          </a:ln>
        </p:spPr>
        <p:txBody>
          <a:bodyPr wrap="square" lIns="0" rIns="0" tIns="0" bIns="0" anchor="ctr">
            <a:normAutofit/>
          </a:bodyPr>
          <a:lstStyle/>
          <a:p>
            <a:pPr algn="ctr">
              <a:lnSpc>
                <a:spcPct val="100000"/>
              </a:lnSpc>
            </a:pPr>
            <a:r>
              <a:rPr lang="tr-TR" sz="967" b="0">
                <a:solidFill>
                  <a:srgbClr val="000000"/>
                </a:solidFill>
                <a:latin typeface="Arial"/>
              </a:rPr>
              <a:t>Denetleyici</a:t>
            </a:r>
          </a:p>
        </p:txBody>
      </p:sp>
      <p:sp>
        <p:nvSpPr>
          <p:cNvPr id="17415" name="Türkçe şema etiketi 17415"/>
          <p:cNvSpPr txBox="1"/>
          <p:nvPr/>
        </p:nvSpPr>
        <p:spPr>
          <a:xfrm>
            <a:off x="5012834" y="4516110"/>
            <a:ext cx="632885" cy="209257"/>
          </a:xfrm>
          <a:prstGeom prst="rect">
            <a:avLst/>
          </a:prstGeom>
          <a:noFill/>
          <a:ln>
            <a:noFill/>
          </a:ln>
        </p:spPr>
        <p:txBody>
          <a:bodyPr wrap="square" lIns="0" rIns="0" tIns="0" bIns="0" anchor="ctr">
            <a:normAutofit/>
          </a:bodyPr>
          <a:lstStyle/>
          <a:p>
            <a:pPr algn="ctr">
              <a:lnSpc>
                <a:spcPct val="100000"/>
              </a:lnSpc>
            </a:pPr>
            <a:r>
              <a:rPr lang="tr-TR" sz="1200" b="0">
                <a:solidFill>
                  <a:srgbClr val="000000"/>
                </a:solidFill>
                <a:latin typeface="Arial"/>
              </a:rPr>
              <a:t>Ekran 2</a:t>
            </a:r>
          </a:p>
        </p:txBody>
      </p:sp>
      <p:sp>
        <p:nvSpPr>
          <p:cNvPr id="17416" name="Türkçe şema etiketi 17416"/>
          <p:cNvSpPr txBox="1"/>
          <p:nvPr/>
        </p:nvSpPr>
        <p:spPr>
          <a:xfrm>
            <a:off x="4097585" y="5158481"/>
            <a:ext cx="1002880" cy="209257"/>
          </a:xfrm>
          <a:prstGeom prst="rect">
            <a:avLst/>
          </a:prstGeom>
          <a:noFill/>
          <a:ln>
            <a:noFill/>
          </a:ln>
        </p:spPr>
        <p:txBody>
          <a:bodyPr wrap="square" lIns="0" rIns="0" tIns="0" bIns="0" anchor="ctr">
            <a:normAutofit/>
          </a:bodyPr>
          <a:lstStyle/>
          <a:p>
            <a:pPr algn="ctr">
              <a:lnSpc>
                <a:spcPct val="100000"/>
              </a:lnSpc>
            </a:pPr>
            <a:r>
              <a:rPr lang="tr-TR" sz="1200" b="0">
                <a:solidFill>
                  <a:srgbClr val="000000"/>
                </a:solidFill>
                <a:latin typeface="Arial"/>
              </a:rPr>
              <a:t>Güç kaynağı</a:t>
            </a:r>
          </a:p>
        </p:txBody>
      </p:sp>
      <p:sp>
        <p:nvSpPr>
          <p:cNvPr id="17417" name="Türkçe şema etiketi 17417"/>
          <p:cNvSpPr txBox="1"/>
          <p:nvPr/>
        </p:nvSpPr>
        <p:spPr>
          <a:xfrm>
            <a:off x="6088739" y="2730123"/>
            <a:ext cx="423546" cy="170326"/>
          </a:xfrm>
          <a:prstGeom prst="rect">
            <a:avLst/>
          </a:prstGeom>
          <a:noFill/>
          <a:ln>
            <a:noFill/>
          </a:ln>
        </p:spPr>
        <p:txBody>
          <a:bodyPr wrap="square" lIns="0" rIns="0" tIns="0" bIns="0" anchor="ctr">
            <a:normAutofit/>
          </a:bodyPr>
          <a:lstStyle/>
          <a:p>
            <a:pPr algn="ctr">
              <a:lnSpc>
                <a:spcPct val="100000"/>
              </a:lnSpc>
            </a:pPr>
            <a:r>
              <a:rPr lang="tr-TR" sz="967" b="0">
                <a:solidFill>
                  <a:srgbClr val="000000"/>
                </a:solidFill>
                <a:latin typeface="Arial"/>
              </a:rPr>
              <a:t>Saat</a:t>
            </a:r>
          </a:p>
        </p:txBody>
      </p:sp>
      <p:sp>
        <p:nvSpPr>
          <p:cNvPr id="17418" name="Türkçe şema etiketi 17418"/>
          <p:cNvSpPr txBox="1"/>
          <p:nvPr/>
        </p:nvSpPr>
        <p:spPr>
          <a:xfrm>
            <a:off x="6103344" y="3572019"/>
            <a:ext cx="447888" cy="170326"/>
          </a:xfrm>
          <a:prstGeom prst="rect">
            <a:avLst/>
          </a:prstGeom>
          <a:noFill/>
          <a:ln>
            <a:noFill/>
          </a:ln>
        </p:spPr>
        <p:txBody>
          <a:bodyPr wrap="square" lIns="0" rIns="0" tIns="0" bIns="0" anchor="ctr">
            <a:normAutofit/>
          </a:bodyPr>
          <a:lstStyle/>
          <a:p>
            <a:pPr algn="ctr">
              <a:lnSpc>
                <a:spcPct val="100000"/>
              </a:lnSpc>
            </a:pPr>
            <a:r>
              <a:rPr lang="tr-TR" sz="967" b="0">
                <a:solidFill>
                  <a:srgbClr val="000000"/>
                </a:solidFill>
                <a:latin typeface="Arial"/>
              </a:rPr>
              <a:t>Alarm</a:t>
            </a:r>
          </a:p>
        </p:txBody>
      </p:sp>
      <p:sp>
        <p:nvSpPr>
          <p:cNvPr id="17419" name="Türkçe şema etiketi 17419"/>
          <p:cNvSpPr txBox="1"/>
          <p:nvPr/>
        </p:nvSpPr>
        <p:spPr>
          <a:xfrm>
            <a:off x="4277714" y="2657126"/>
            <a:ext cx="710779" cy="355251"/>
          </a:xfrm>
          <a:prstGeom prst="rect">
            <a:avLst/>
          </a:prstGeom>
          <a:noFill/>
          <a:ln>
            <a:noFill/>
          </a:ln>
        </p:spPr>
        <p:txBody>
          <a:bodyPr wrap="square" lIns="0" rIns="0" tIns="0" bIns="0" anchor="ctr">
            <a:normAutofit/>
          </a:bodyPr>
          <a:lstStyle/>
          <a:p>
            <a:pPr algn="ctr">
              <a:lnSpc>
                <a:spcPct val="100000"/>
              </a:lnSpc>
            </a:pPr>
            <a:r>
              <a:rPr lang="tr-TR" sz="1233" b="0">
                <a:solidFill>
                  <a:srgbClr val="000000"/>
                </a:solidFill>
                <a:latin typeface="Arial"/>
              </a:rPr>
              <a:t>Pompa</a:t>
            </a:r>
          </a:p>
        </p:txBody>
      </p:sp>
      <p:sp>
        <p:nvSpPr>
          <p:cNvPr id="17420" name="Türkçe şema etiketi 17420"/>
          <p:cNvSpPr txBox="1"/>
          <p:nvPr/>
        </p:nvSpPr>
        <p:spPr>
          <a:xfrm>
            <a:off x="3547461" y="4443113"/>
            <a:ext cx="739989" cy="355251"/>
          </a:xfrm>
          <a:prstGeom prst="rect">
            <a:avLst/>
          </a:prstGeom>
          <a:noFill/>
          <a:ln>
            <a:noFill/>
          </a:ln>
        </p:spPr>
        <p:txBody>
          <a:bodyPr wrap="square" lIns="0" rIns="0" tIns="0" bIns="0" anchor="ctr">
            <a:normAutofit/>
          </a:bodyPr>
          <a:lstStyle/>
          <a:p>
            <a:pPr algn="ctr">
              <a:lnSpc>
                <a:spcPct val="100000"/>
              </a:lnSpc>
            </a:pPr>
            <a:r>
              <a:rPr lang="tr-TR" sz="1233" b="0">
                <a:solidFill>
                  <a:srgbClr val="000000"/>
                </a:solidFill>
                <a:latin typeface="Arial"/>
              </a:rPr>
              <a:t>Ekran 1</a:t>
            </a:r>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tr-TR" dirty="0"/>
              <a:t>İnsülin pompasının faaliyet modeli</a:t>
            </a:r>
            <a:endParaRPr lang="en-US" dirty="0"/>
          </a:p>
        </p:txBody>
      </p:sp>
      <p:pic>
        <p:nvPicPr>
          <p:cNvPr id="4" name="Picture 3" descr="1.5 InsulinPumpActDiag.eps"/>
          <p:cNvPicPr>
            <a:picLocks noChangeAspect="1"/>
          </p:cNvPicPr>
          <p:nvPr/>
        </p:nvPicPr>
        <p:blipFill>
          <a:blip r:embed="rId2"/>
          <a:stretch>
            <a:fillRect/>
          </a:stretch>
        </p:blipFill>
        <p:spPr>
          <a:xfrm>
            <a:off x="1522043" y="2497946"/>
            <a:ext cx="6537900" cy="2239007"/>
          </a:xfrm>
          <a:prstGeom prst="rect">
            <a:avLst/>
          </a:prstGeom>
        </p:spPr>
      </p:pic>
      <p:sp>
        <p:nvSpPr>
          <p:cNvPr id="3" name="Footer Placeholder 2"/>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39</a:t>
            </a:fld>
            <a:endParaRPr lang="en-US"/>
          </a:p>
        </p:txBody>
      </p:sp>
      <p:sp>
        <p:nvSpPr>
          <p:cNvPr id="18435" name="Türkçe şema etiketi 18435"/>
          <p:cNvSpPr txBox="1"/>
          <p:nvPr/>
        </p:nvSpPr>
        <p:spPr>
          <a:xfrm>
            <a:off x="2368832" y="2579914"/>
            <a:ext cx="447036" cy="327870"/>
          </a:xfrm>
          <a:prstGeom prst="rect">
            <a:avLst/>
          </a:prstGeom>
          <a:noFill/>
          <a:ln>
            <a:noFill/>
          </a:ln>
        </p:spPr>
        <p:txBody>
          <a:bodyPr wrap="square" lIns="0" rIns="0" tIns="0" bIns="0" anchor="ctr">
            <a:normAutofit/>
          </a:bodyPr>
          <a:lstStyle/>
          <a:p>
            <a:pPr algn="ctr">
              <a:lnSpc>
                <a:spcPct val="100000"/>
              </a:lnSpc>
            </a:pPr>
            <a:r>
              <a:rPr lang="tr-TR" sz="591" b="0">
                <a:solidFill>
                  <a:srgbClr val="000000"/>
                </a:solidFill>
                <a:latin typeface="Arial"/>
              </a:rPr>
              <a:t>Kan</a:t>
            </a:r>
          </a:p>
          <a:p>
            <a:pPr algn="ctr">
              <a:lnSpc>
                <a:spcPct val="100000"/>
              </a:lnSpc>
            </a:pPr>
            <a:r>
              <a:rPr lang="tr-TR" sz="591" b="0">
                <a:solidFill>
                  <a:srgbClr val="000000"/>
                </a:solidFill>
                <a:latin typeface="Arial"/>
              </a:rPr>
              <a:t>algılayıcısı</a:t>
            </a:r>
          </a:p>
        </p:txBody>
      </p:sp>
      <p:sp>
        <p:nvSpPr>
          <p:cNvPr id="18436" name="Türkçe şema etiketi 18436"/>
          <p:cNvSpPr txBox="1"/>
          <p:nvPr/>
        </p:nvSpPr>
        <p:spPr>
          <a:xfrm>
            <a:off x="2265670" y="4301231"/>
            <a:ext cx="541601" cy="371011"/>
          </a:xfrm>
          <a:prstGeom prst="rect">
            <a:avLst/>
          </a:prstGeom>
          <a:noFill/>
          <a:ln>
            <a:noFill/>
          </a:ln>
        </p:spPr>
        <p:txBody>
          <a:bodyPr wrap="square" lIns="0" rIns="0" tIns="0" bIns="0" anchor="ctr">
            <a:normAutofit/>
          </a:bodyPr>
          <a:lstStyle/>
          <a:p>
            <a:pPr algn="ctr">
              <a:lnSpc>
                <a:spcPct val="100000"/>
              </a:lnSpc>
            </a:pPr>
            <a:r>
              <a:rPr lang="tr-TR" sz="887" b="0">
                <a:solidFill>
                  <a:srgbClr val="000000"/>
                </a:solidFill>
                <a:latin typeface="Arial"/>
              </a:rPr>
              <a:t>İnsülin</a:t>
            </a:r>
          </a:p>
          <a:p>
            <a:pPr algn="ctr">
              <a:lnSpc>
                <a:spcPct val="100000"/>
              </a:lnSpc>
            </a:pPr>
            <a:r>
              <a:rPr lang="tr-TR" sz="887" b="0">
                <a:solidFill>
                  <a:srgbClr val="000000"/>
                </a:solidFill>
                <a:latin typeface="Arial"/>
              </a:rPr>
              <a:t>pompası</a:t>
            </a:r>
          </a:p>
        </p:txBody>
      </p:sp>
      <p:sp>
        <p:nvSpPr>
          <p:cNvPr id="18437" name="Türkçe şema etiketi 18437"/>
          <p:cNvSpPr txBox="1"/>
          <p:nvPr/>
        </p:nvSpPr>
        <p:spPr>
          <a:xfrm>
            <a:off x="3417647" y="2579914"/>
            <a:ext cx="980040" cy="358069"/>
          </a:xfrm>
          <a:prstGeom prst="rect">
            <a:avLst/>
          </a:prstGeom>
          <a:noFill/>
          <a:ln>
            <a:noFill/>
          </a:ln>
        </p:spPr>
        <p:txBody>
          <a:bodyPr wrap="square" lIns="0" rIns="0" tIns="0" bIns="0" anchor="ctr">
            <a:normAutofit/>
          </a:bodyPr>
          <a:lstStyle/>
          <a:p>
            <a:pPr algn="ctr">
              <a:lnSpc>
                <a:spcPct val="100000"/>
              </a:lnSpc>
            </a:pPr>
            <a:r>
              <a:rPr lang="tr-TR" sz="768" b="0">
                <a:solidFill>
                  <a:srgbClr val="000000"/>
                </a:solidFill>
                <a:latin typeface="Arial"/>
              </a:rPr>
              <a:t>Algılayıcı ölçümünü</a:t>
            </a:r>
          </a:p>
          <a:p>
            <a:pPr algn="ctr">
              <a:lnSpc>
                <a:spcPct val="100000"/>
              </a:lnSpc>
            </a:pPr>
            <a:r>
              <a:rPr lang="tr-TR" sz="768" b="0">
                <a:solidFill>
                  <a:srgbClr val="000000"/>
                </a:solidFill>
                <a:latin typeface="Arial"/>
              </a:rPr>
              <a:t>analiz et</a:t>
            </a:r>
          </a:p>
        </p:txBody>
      </p:sp>
      <p:sp>
        <p:nvSpPr>
          <p:cNvPr id="18438" name="Türkçe şema etiketi 18438"/>
          <p:cNvSpPr txBox="1"/>
          <p:nvPr/>
        </p:nvSpPr>
        <p:spPr>
          <a:xfrm>
            <a:off x="3250009" y="4314173"/>
            <a:ext cx="945653" cy="362383"/>
          </a:xfrm>
          <a:prstGeom prst="rect">
            <a:avLst/>
          </a:prstGeom>
          <a:noFill/>
          <a:ln>
            <a:noFill/>
          </a:ln>
        </p:spPr>
        <p:txBody>
          <a:bodyPr wrap="square" lIns="0" rIns="0" tIns="0" bIns="0" anchor="ctr">
            <a:normAutofit/>
          </a:bodyPr>
          <a:lstStyle/>
          <a:p>
            <a:pPr algn="ctr">
              <a:lnSpc>
                <a:spcPct val="100000"/>
              </a:lnSpc>
            </a:pPr>
            <a:r>
              <a:rPr lang="tr-TR" sz="798" b="0">
                <a:solidFill>
                  <a:srgbClr val="000000"/>
                </a:solidFill>
                <a:latin typeface="Arial"/>
              </a:rPr>
              <a:t>İnsülin pompasını</a:t>
            </a:r>
          </a:p>
          <a:p>
            <a:pPr algn="ctr">
              <a:lnSpc>
                <a:spcPct val="100000"/>
              </a:lnSpc>
            </a:pPr>
            <a:r>
              <a:rPr lang="tr-TR" sz="798" b="0">
                <a:solidFill>
                  <a:srgbClr val="000000"/>
                </a:solidFill>
                <a:latin typeface="Arial"/>
              </a:rPr>
              <a:t>kontrol et</a:t>
            </a:r>
          </a:p>
        </p:txBody>
      </p:sp>
      <p:sp>
        <p:nvSpPr>
          <p:cNvPr id="18439" name="Türkçe şema etiketi 18439"/>
          <p:cNvSpPr txBox="1"/>
          <p:nvPr/>
        </p:nvSpPr>
        <p:spPr>
          <a:xfrm>
            <a:off x="5016660" y="2558343"/>
            <a:ext cx="391156" cy="358069"/>
          </a:xfrm>
          <a:prstGeom prst="rect">
            <a:avLst/>
          </a:prstGeom>
          <a:noFill/>
          <a:ln>
            <a:noFill/>
          </a:ln>
        </p:spPr>
        <p:txBody>
          <a:bodyPr wrap="square" lIns="0" rIns="0" tIns="0" bIns="0" anchor="ctr">
            <a:normAutofit/>
          </a:bodyPr>
          <a:lstStyle/>
          <a:p>
            <a:pPr algn="ctr">
              <a:lnSpc>
                <a:spcPct val="100000"/>
              </a:lnSpc>
            </a:pPr>
            <a:r>
              <a:rPr lang="tr-TR" sz="916" b="0">
                <a:solidFill>
                  <a:srgbClr val="000000"/>
                </a:solidFill>
                <a:latin typeface="Arial"/>
              </a:rPr>
              <a:t>Kan</a:t>
            </a:r>
          </a:p>
          <a:p>
            <a:pPr algn="ctr">
              <a:lnSpc>
                <a:spcPct val="100000"/>
              </a:lnSpc>
            </a:pPr>
            <a:r>
              <a:rPr lang="tr-TR" sz="916" b="0">
                <a:solidFill>
                  <a:srgbClr val="000000"/>
                </a:solidFill>
                <a:latin typeface="Arial"/>
              </a:rPr>
              <a:t>şekeri</a:t>
            </a:r>
          </a:p>
        </p:txBody>
      </p:sp>
      <p:sp>
        <p:nvSpPr>
          <p:cNvPr id="18440" name="Türkçe şema etiketi 18440"/>
          <p:cNvSpPr txBox="1"/>
          <p:nvPr/>
        </p:nvSpPr>
        <p:spPr>
          <a:xfrm>
            <a:off x="6147145" y="2545401"/>
            <a:ext cx="958548" cy="409838"/>
          </a:xfrm>
          <a:prstGeom prst="rect">
            <a:avLst/>
          </a:prstGeom>
          <a:noFill/>
          <a:ln>
            <a:noFill/>
          </a:ln>
        </p:spPr>
        <p:txBody>
          <a:bodyPr wrap="square" lIns="0" rIns="0" tIns="0" bIns="0" anchor="ctr">
            <a:normAutofit/>
          </a:bodyPr>
          <a:lstStyle/>
          <a:p>
            <a:pPr algn="ctr">
              <a:lnSpc>
                <a:spcPct val="100000"/>
              </a:lnSpc>
            </a:pPr>
            <a:r>
              <a:rPr lang="tr-TR" sz="1093" b="0">
                <a:solidFill>
                  <a:srgbClr val="000000"/>
                </a:solidFill>
                <a:latin typeface="Arial"/>
              </a:rPr>
              <a:t>İnsülini</a:t>
            </a:r>
          </a:p>
          <a:p>
            <a:pPr algn="ctr">
              <a:lnSpc>
                <a:spcPct val="100000"/>
              </a:lnSpc>
            </a:pPr>
            <a:r>
              <a:rPr lang="tr-TR" sz="1093" b="0">
                <a:solidFill>
                  <a:srgbClr val="000000"/>
                </a:solidFill>
                <a:latin typeface="Arial"/>
              </a:rPr>
              <a:t>hesapla</a:t>
            </a:r>
          </a:p>
        </p:txBody>
      </p:sp>
      <p:sp>
        <p:nvSpPr>
          <p:cNvPr id="18441" name="Türkçe şema etiketi 18441"/>
          <p:cNvSpPr txBox="1"/>
          <p:nvPr/>
        </p:nvSpPr>
        <p:spPr>
          <a:xfrm>
            <a:off x="6405050" y="3287422"/>
            <a:ext cx="485722" cy="409838"/>
          </a:xfrm>
          <a:prstGeom prst="rect">
            <a:avLst/>
          </a:prstGeom>
          <a:noFill/>
          <a:ln>
            <a:noFill/>
          </a:ln>
        </p:spPr>
        <p:txBody>
          <a:bodyPr wrap="square" lIns="0" rIns="0" tIns="0" bIns="0" anchor="ctr">
            <a:normAutofit/>
          </a:bodyPr>
          <a:lstStyle/>
          <a:p>
            <a:pPr algn="ctr">
              <a:lnSpc>
                <a:spcPct val="100000"/>
              </a:lnSpc>
            </a:pPr>
            <a:r>
              <a:rPr lang="tr-TR" sz="916" b="0">
                <a:solidFill>
                  <a:srgbClr val="000000"/>
                </a:solidFill>
                <a:latin typeface="Arial"/>
              </a:rPr>
              <a:t>İnsülin</a:t>
            </a:r>
          </a:p>
          <a:p>
            <a:pPr algn="ctr">
              <a:lnSpc>
                <a:spcPct val="100000"/>
              </a:lnSpc>
            </a:pPr>
            <a:r>
              <a:rPr lang="tr-TR" sz="916" b="0">
                <a:solidFill>
                  <a:srgbClr val="000000"/>
                </a:solidFill>
                <a:latin typeface="Arial"/>
              </a:rPr>
              <a:t>dozu</a:t>
            </a:r>
          </a:p>
        </p:txBody>
      </p:sp>
      <p:sp>
        <p:nvSpPr>
          <p:cNvPr id="18442" name="Türkçe şema etiketi 18442"/>
          <p:cNvSpPr txBox="1"/>
          <p:nvPr/>
        </p:nvSpPr>
        <p:spPr>
          <a:xfrm>
            <a:off x="5592649" y="4314173"/>
            <a:ext cx="1014428" cy="319242"/>
          </a:xfrm>
          <a:prstGeom prst="rect">
            <a:avLst/>
          </a:prstGeom>
          <a:noFill/>
          <a:ln>
            <a:noFill/>
          </a:ln>
        </p:spPr>
        <p:txBody>
          <a:bodyPr wrap="square" lIns="0" rIns="0" tIns="0" bIns="0" anchor="ctr">
            <a:normAutofit/>
          </a:bodyPr>
          <a:lstStyle/>
          <a:p>
            <a:pPr algn="ctr">
              <a:lnSpc>
                <a:spcPct val="100000"/>
              </a:lnSpc>
            </a:pPr>
            <a:r>
              <a:rPr lang="tr-TR" sz="798" b="0">
                <a:solidFill>
                  <a:srgbClr val="000000"/>
                </a:solidFill>
                <a:latin typeface="Arial"/>
              </a:rPr>
              <a:t>Pompa komutlarını</a:t>
            </a:r>
          </a:p>
          <a:p>
            <a:pPr algn="ctr">
              <a:lnSpc>
                <a:spcPct val="100000"/>
              </a:lnSpc>
            </a:pPr>
            <a:r>
              <a:rPr lang="tr-TR" sz="798" b="0">
                <a:solidFill>
                  <a:srgbClr val="000000"/>
                </a:solidFill>
                <a:latin typeface="Arial"/>
              </a:rPr>
              <a:t>hesapla</a:t>
            </a:r>
          </a:p>
        </p:txBody>
      </p:sp>
      <p:sp>
        <p:nvSpPr>
          <p:cNvPr id="18443" name="Türkçe şema etiketi 18443"/>
          <p:cNvSpPr txBox="1"/>
          <p:nvPr/>
        </p:nvSpPr>
        <p:spPr>
          <a:xfrm>
            <a:off x="7479656" y="2532459"/>
            <a:ext cx="537303" cy="388267"/>
          </a:xfrm>
          <a:prstGeom prst="rect">
            <a:avLst/>
          </a:prstGeom>
          <a:noFill/>
          <a:ln>
            <a:noFill/>
          </a:ln>
        </p:spPr>
        <p:txBody>
          <a:bodyPr wrap="square" lIns="0" rIns="0" tIns="0" bIns="0" anchor="ctr">
            <a:normAutofit/>
          </a:bodyPr>
          <a:lstStyle/>
          <a:p>
            <a:pPr algn="ctr">
              <a:lnSpc>
                <a:spcPct val="100000"/>
              </a:lnSpc>
            </a:pPr>
            <a:r>
              <a:rPr lang="tr-TR" sz="1153" b="0">
                <a:solidFill>
                  <a:srgbClr val="000000"/>
                </a:solidFill>
                <a:latin typeface="Arial"/>
              </a:rPr>
              <a:t>İnsülin</a:t>
            </a:r>
          </a:p>
          <a:p>
            <a:pPr algn="ctr">
              <a:lnSpc>
                <a:spcPct val="100000"/>
              </a:lnSpc>
            </a:pPr>
            <a:r>
              <a:rPr lang="tr-TR" sz="1153" b="0">
                <a:solidFill>
                  <a:srgbClr val="000000"/>
                </a:solidFill>
                <a:latin typeface="Arial"/>
              </a:rPr>
              <a:t>kaydı</a:t>
            </a:r>
          </a:p>
        </p:txBody>
      </p:sp>
      <p:sp>
        <p:nvSpPr>
          <p:cNvPr id="18444" name="Türkçe şema etiketi 18444"/>
          <p:cNvSpPr txBox="1"/>
          <p:nvPr/>
        </p:nvSpPr>
        <p:spPr>
          <a:xfrm>
            <a:off x="7226049" y="4378884"/>
            <a:ext cx="593182" cy="185505"/>
          </a:xfrm>
          <a:prstGeom prst="rect">
            <a:avLst/>
          </a:prstGeom>
          <a:noFill/>
          <a:ln>
            <a:noFill/>
          </a:ln>
        </p:spPr>
        <p:txBody>
          <a:bodyPr wrap="square" lIns="0" rIns="0" tIns="0" bIns="0" anchor="ctr">
            <a:normAutofit/>
          </a:bodyPr>
          <a:lstStyle/>
          <a:p>
            <a:pPr algn="ctr">
              <a:lnSpc>
                <a:spcPct val="100000"/>
              </a:lnSpc>
            </a:pPr>
            <a:r>
              <a:rPr lang="tr-TR" sz="709" b="0">
                <a:solidFill>
                  <a:srgbClr val="000000"/>
                </a:solidFill>
                <a:latin typeface="Arial"/>
              </a:rPr>
              <a:t>Dozu kaydet</a:t>
            </a:r>
          </a:p>
        </p:txBody>
      </p:sp>
      <p:sp>
        <p:nvSpPr>
          <p:cNvPr id="18445" name="Türkçe şema etiketi 18445"/>
          <p:cNvSpPr txBox="1"/>
          <p:nvPr/>
        </p:nvSpPr>
        <p:spPr>
          <a:xfrm>
            <a:off x="4634101" y="4292603"/>
            <a:ext cx="520109" cy="371011"/>
          </a:xfrm>
          <a:prstGeom prst="rect">
            <a:avLst/>
          </a:prstGeom>
          <a:noFill/>
          <a:ln>
            <a:noFill/>
          </a:ln>
        </p:spPr>
        <p:txBody>
          <a:bodyPr wrap="square" lIns="0" rIns="0" tIns="0" bIns="0" anchor="ctr">
            <a:normAutofit/>
          </a:bodyPr>
          <a:lstStyle/>
          <a:p>
            <a:pPr algn="ctr">
              <a:lnSpc>
                <a:spcPct val="100000"/>
              </a:lnSpc>
            </a:pPr>
            <a:r>
              <a:rPr lang="tr-TR" sz="1093" b="0">
                <a:solidFill>
                  <a:srgbClr val="000000"/>
                </a:solidFill>
                <a:latin typeface="Arial"/>
              </a:rPr>
              <a:t>Pompa</a:t>
            </a:r>
          </a:p>
          <a:p>
            <a:pPr algn="ctr">
              <a:lnSpc>
                <a:spcPct val="100000"/>
              </a:lnSpc>
            </a:pPr>
            <a:r>
              <a:rPr lang="tr-TR" sz="1093" b="0">
                <a:solidFill>
                  <a:srgbClr val="000000"/>
                </a:solidFill>
                <a:latin typeface="Arial"/>
              </a:rPr>
              <a:t>verileri</a:t>
            </a:r>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Temel üst düzey gereksinimler</a:t>
            </a:r>
          </a:p>
        </p:txBody>
      </p:sp>
      <p:sp>
        <p:nvSpPr>
          <p:cNvPr id="3" name="Content Placeholder 2"/>
          <p:cNvSpPr>
            <a:spLocks noGrp="1"/>
          </p:cNvSpPr>
          <p:nvPr>
            <p:ph idx="1"/>
          </p:nvPr>
        </p:nvSpPr>
        <p:spPr/>
        <p:txBody>
          <a:bodyPr/>
          <a:lstStyle/>
          <a:p>
            <a:r>
              <a:rPr lang="tr-TR" dirty="0"/>
              <a:t>Sistem, gerektiğinde insülin verebilmek için kullanılabilir olmalıdır.</a:t>
            </a:r>
          </a:p>
          <a:p>
            <a:r>
              <a:rPr lang="tr-TR" dirty="0"/>
              <a:t>Sistem güvenilir biçimde çalışmalı ve mevcut kan şekeri düzeyini dengelemek için doğru miktarda insülin vermelidir.</a:t>
            </a:r>
          </a:p>
          <a:p>
            <a:r>
              <a:rPr lang="tr-TR" dirty="0"/>
              <a:t>Bu nedenle sistem, bu gereksinimleri her zaman karşılamasını sağlayacak biçimde tasarlanmalı ve gerçekleştirilmelidir.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40</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Mentcare: Ruh sağlığı bakımı için hasta bilgi sistemi</a:t>
            </a:r>
          </a:p>
        </p:txBody>
      </p:sp>
      <p:sp>
        <p:nvSpPr>
          <p:cNvPr id="3" name="Content Placeholder 2"/>
          <p:cNvSpPr>
            <a:spLocks noGrp="1"/>
          </p:cNvSpPr>
          <p:nvPr>
            <p:ph idx="1"/>
          </p:nvPr>
        </p:nvSpPr>
        <p:spPr/>
        <p:txBody>
          <a:bodyPr/>
          <a:lstStyle/>
          <a:p>
            <a:r>
              <a:rPr lang="tr-TR" dirty="0"/>
              <a:t>Ruh sağlığı bakımını destekleyen hasta bilgi sistemi, ruh sağlığı sorunları yaşayan hastalara ve aldıkları tedavilere ilişkin bilgileri tutan bir tıbbi bilgi sistemidir.</a:t>
            </a:r>
          </a:p>
          <a:p>
            <a:r>
              <a:rPr lang="tr-TR" dirty="0"/>
              <a:t>Ruh sağlığı hastalarının çoğu özel hastane tedavisine ihtiyaç duymaz. Ancak sorunlarını ayrıntılı bilen bir doktorla görüşebilecekleri uzman kliniklere düzenli olarak gitmeleri gerekir.</a:t>
            </a:r>
          </a:p>
          <a:p>
            <a:r>
              <a:rPr lang="tr-TR" dirty="0"/>
              <a:t>Hastaların erişimini kolaylaştırmak için bu klinikler yalnızca hastanelerde hizmet vermez. Yerel muayenehanelerde veya toplum merkezlerinde de hizmet verebilirler.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41</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Mentcare</a:t>
            </a:r>
          </a:p>
        </p:txBody>
      </p:sp>
      <p:sp>
        <p:nvSpPr>
          <p:cNvPr id="3" name="Content Placeholder 2"/>
          <p:cNvSpPr>
            <a:spLocks noGrp="1"/>
          </p:cNvSpPr>
          <p:nvPr>
            <p:ph idx="1"/>
          </p:nvPr>
        </p:nvSpPr>
        <p:spPr/>
        <p:txBody>
          <a:bodyPr/>
          <a:lstStyle/>
          <a:p>
            <a:r>
              <a:rPr lang="tr-TR" dirty="0"/>
              <a:t>Mentcare, kliniklerde kullanılmak üzere tasarlanmış bir bilgi sistemidir.</a:t>
            </a:r>
          </a:p>
          <a:p>
            <a:r>
              <a:rPr lang="tr-TR" dirty="0"/>
              <a:t>Merkezi bir hasta bilgi veritabanı kullanır. Ayrıca güvenli ağ bağlantısı olmayan yerlerden erişilip kullanılabilmesi için kişisel bilgisayarda çalışacak biçimde tasarlanmıştır.</a:t>
            </a:r>
          </a:p>
          <a:p>
            <a:r>
              <a:rPr lang="tr-TR" dirty="0"/>
              <a:t>Yerel sistemler güvenli ağ erişimine sahipken veritabanındaki hasta bilgilerini kullanır. Bağlantı kesildiğinde ise hasta kayıtlarının yerel kopyalarını indirip kullanabilirler.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42</a:t>
            </a:fld>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Mentcare'in hedefleri</a:t>
            </a:r>
          </a:p>
        </p:txBody>
      </p:sp>
      <p:sp>
        <p:nvSpPr>
          <p:cNvPr id="3" name="Content Placeholder 2"/>
          <p:cNvSpPr>
            <a:spLocks noGrp="1"/>
          </p:cNvSpPr>
          <p:nvPr>
            <p:ph idx="1"/>
          </p:nvPr>
        </p:nvSpPr>
        <p:spPr/>
        <p:txBody>
          <a:bodyPr/>
          <a:lstStyle/>
          <a:p>
            <a:r>
              <a:rPr lang="tr-TR" dirty="0"/>
              <a:t>Sağlık hizmeti yöneticilerinin performansı yerel ve devlet hedefleriyle karşılaştırarak değerlendirmesini sağlayan yönetim bilgileri üretmek.</a:t>
            </a:r>
          </a:p>
          <a:p>
            <a:r>
              <a:rPr lang="tr-TR" dirty="0"/>
              <a:t>Hastaların tedavisini desteklemek için sağlık personeline zamanında bilgi sağlamak.</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43</a:t>
            </a:fld>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tr-TR" dirty="0"/>
              <a:t>Mentcare sisteminin düzeni</a:t>
            </a:r>
            <a:endParaRPr lang="en-US" dirty="0"/>
          </a:p>
        </p:txBody>
      </p:sp>
      <p:pic>
        <p:nvPicPr>
          <p:cNvPr id="2" name="Picture 1" descr="1.6 MHC-P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799" y="1784350"/>
            <a:ext cx="5071533" cy="4259210"/>
          </a:xfrm>
          <a:prstGeom prst="rect">
            <a:avLst/>
          </a:prstGeom>
        </p:spPr>
      </p:pic>
      <p:sp>
        <p:nvSpPr>
          <p:cNvPr id="4" name="Footer Placeholder 3"/>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44</a:t>
            </a:fld>
            <a:endParaRPr lang="en-US"/>
          </a:p>
        </p:txBody>
      </p:sp>
      <p:sp>
        <p:nvSpPr>
          <p:cNvPr id="19459" name="Türkçe şema etiketi 19459"/>
          <p:cNvSpPr txBox="1"/>
          <p:nvPr/>
        </p:nvSpPr>
        <p:spPr>
          <a:xfrm>
            <a:off x="4421683" y="3087974"/>
            <a:ext cx="695163" cy="179446"/>
          </a:xfrm>
          <a:prstGeom prst="rect">
            <a:avLst/>
          </a:prstGeom>
          <a:noFill/>
          <a:ln>
            <a:noFill/>
          </a:ln>
        </p:spPr>
        <p:txBody>
          <a:bodyPr wrap="square" lIns="0" rIns="0" tIns="0" bIns="0" anchor="ctr">
            <a:normAutofit/>
          </a:bodyPr>
          <a:lstStyle/>
          <a:p>
            <a:pPr algn="ctr">
              <a:lnSpc>
                <a:spcPct val="100000"/>
              </a:lnSpc>
            </a:pPr>
            <a:r>
              <a:rPr lang="tr-TR" sz="1012" b="0">
                <a:solidFill>
                  <a:srgbClr val="000000"/>
                </a:solidFill>
                <a:latin typeface="Arial"/>
              </a:rPr>
              <a:t>Ağ</a:t>
            </a:r>
          </a:p>
        </p:txBody>
      </p:sp>
      <p:sp>
        <p:nvSpPr>
          <p:cNvPr id="19460" name="Türkçe şema etiketi 19460"/>
          <p:cNvSpPr txBox="1"/>
          <p:nvPr/>
        </p:nvSpPr>
        <p:spPr>
          <a:xfrm>
            <a:off x="4174162" y="4143541"/>
            <a:ext cx="1279733" cy="168891"/>
          </a:xfrm>
          <a:prstGeom prst="rect">
            <a:avLst/>
          </a:prstGeom>
          <a:noFill/>
          <a:ln>
            <a:noFill/>
          </a:ln>
        </p:spPr>
        <p:txBody>
          <a:bodyPr wrap="square" lIns="0" rIns="0" tIns="0" bIns="0" anchor="ctr">
            <a:normAutofit/>
          </a:bodyPr>
          <a:lstStyle/>
          <a:p>
            <a:pPr algn="ctr">
              <a:lnSpc>
                <a:spcPct val="100000"/>
              </a:lnSpc>
            </a:pPr>
            <a:r>
              <a:rPr lang="tr-TR" sz="940" b="0">
                <a:solidFill>
                  <a:srgbClr val="000000"/>
                </a:solidFill>
                <a:latin typeface="Arial"/>
              </a:rPr>
              <a:t>Mentcare sunucusu</a:t>
            </a:r>
          </a:p>
        </p:txBody>
      </p:sp>
      <p:sp>
        <p:nvSpPr>
          <p:cNvPr id="19461" name="Türkçe şema etiketi 19461"/>
          <p:cNvSpPr txBox="1"/>
          <p:nvPr/>
        </p:nvSpPr>
        <p:spPr>
          <a:xfrm>
            <a:off x="4105699" y="5362720"/>
            <a:ext cx="1321864" cy="184724"/>
          </a:xfrm>
          <a:prstGeom prst="rect">
            <a:avLst/>
          </a:prstGeom>
          <a:noFill/>
          <a:ln>
            <a:noFill/>
          </a:ln>
        </p:spPr>
        <p:txBody>
          <a:bodyPr wrap="square" lIns="0" rIns="0" tIns="0" bIns="0" anchor="ctr">
            <a:normAutofit/>
          </a:bodyPr>
          <a:lstStyle/>
          <a:p>
            <a:pPr algn="ctr">
              <a:lnSpc>
                <a:spcPct val="100000"/>
              </a:lnSpc>
            </a:pPr>
            <a:r>
              <a:rPr lang="tr-TR" sz="1049" b="0">
                <a:solidFill>
                  <a:srgbClr val="000000"/>
                </a:solidFill>
                <a:latin typeface="Arial"/>
              </a:rPr>
              <a:t>Hasta veritabanı</a:t>
            </a:r>
          </a:p>
        </p:txBody>
      </p:sp>
      <p:sp>
        <p:nvSpPr>
          <p:cNvPr id="19462" name="Türkçe şema etiketi 19462"/>
          <p:cNvSpPr txBox="1"/>
          <p:nvPr/>
        </p:nvSpPr>
        <p:spPr>
          <a:xfrm>
            <a:off x="2346725" y="1884629"/>
            <a:ext cx="1042745" cy="480283"/>
          </a:xfrm>
          <a:prstGeom prst="rect">
            <a:avLst/>
          </a:prstGeom>
          <a:noFill/>
          <a:ln>
            <a:noFill/>
          </a:ln>
        </p:spPr>
        <p:txBody>
          <a:bodyPr wrap="square" lIns="0" rIns="0" tIns="0" bIns="0" anchor="ctr">
            <a:normAutofit/>
          </a:bodyPr>
          <a:lstStyle/>
          <a:p>
            <a:pPr algn="ctr">
              <a:lnSpc>
                <a:spcPct val="100000"/>
              </a:lnSpc>
            </a:pPr>
            <a:r>
              <a:rPr lang="tr-TR" sz="1338" b="0">
                <a:solidFill>
                  <a:srgbClr val="000000"/>
                </a:solidFill>
                <a:latin typeface="Arial"/>
              </a:rPr>
              <a:t>Mentcare</a:t>
            </a:r>
          </a:p>
          <a:p>
            <a:pPr algn="ctr">
              <a:lnSpc>
                <a:spcPct val="100000"/>
              </a:lnSpc>
            </a:pPr>
            <a:r>
              <a:rPr lang="tr-TR" sz="1338" b="0">
                <a:solidFill>
                  <a:srgbClr val="000000"/>
                </a:solidFill>
                <a:latin typeface="Arial"/>
              </a:rPr>
              <a:t>istemcisi</a:t>
            </a:r>
          </a:p>
        </p:txBody>
      </p:sp>
      <p:sp>
        <p:nvSpPr>
          <p:cNvPr id="19463" name="Türkçe şema etiketi 19463"/>
          <p:cNvSpPr txBox="1"/>
          <p:nvPr/>
        </p:nvSpPr>
        <p:spPr>
          <a:xfrm>
            <a:off x="4216293" y="1868795"/>
            <a:ext cx="1042745" cy="480283"/>
          </a:xfrm>
          <a:prstGeom prst="rect">
            <a:avLst/>
          </a:prstGeom>
          <a:noFill/>
          <a:ln>
            <a:noFill/>
          </a:ln>
        </p:spPr>
        <p:txBody>
          <a:bodyPr wrap="square" lIns="0" rIns="0" tIns="0" bIns="0" anchor="ctr">
            <a:normAutofit/>
          </a:bodyPr>
          <a:lstStyle/>
          <a:p>
            <a:pPr algn="ctr">
              <a:lnSpc>
                <a:spcPct val="100000"/>
              </a:lnSpc>
            </a:pPr>
            <a:r>
              <a:rPr lang="tr-TR" sz="1338" b="0">
                <a:solidFill>
                  <a:srgbClr val="000000"/>
                </a:solidFill>
                <a:latin typeface="Arial"/>
              </a:rPr>
              <a:t>Mentcare</a:t>
            </a:r>
          </a:p>
          <a:p>
            <a:pPr algn="ctr">
              <a:lnSpc>
                <a:spcPct val="100000"/>
              </a:lnSpc>
            </a:pPr>
            <a:r>
              <a:rPr lang="tr-TR" sz="1338" b="0">
                <a:solidFill>
                  <a:srgbClr val="000000"/>
                </a:solidFill>
                <a:latin typeface="Arial"/>
              </a:rPr>
              <a:t>istemcisi</a:t>
            </a:r>
          </a:p>
        </p:txBody>
      </p:sp>
      <p:sp>
        <p:nvSpPr>
          <p:cNvPr id="19464" name="Türkçe şema etiketi 19464"/>
          <p:cNvSpPr txBox="1"/>
          <p:nvPr/>
        </p:nvSpPr>
        <p:spPr>
          <a:xfrm>
            <a:off x="6033198" y="1868795"/>
            <a:ext cx="1042745" cy="480283"/>
          </a:xfrm>
          <a:prstGeom prst="rect">
            <a:avLst/>
          </a:prstGeom>
          <a:noFill/>
          <a:ln>
            <a:noFill/>
          </a:ln>
        </p:spPr>
        <p:txBody>
          <a:bodyPr wrap="square" lIns="0" rIns="0" tIns="0" bIns="0" anchor="ctr">
            <a:normAutofit/>
          </a:bodyPr>
          <a:lstStyle/>
          <a:p>
            <a:pPr algn="ctr">
              <a:lnSpc>
                <a:spcPct val="100000"/>
              </a:lnSpc>
            </a:pPr>
            <a:r>
              <a:rPr lang="tr-TR" sz="1338" b="0">
                <a:solidFill>
                  <a:srgbClr val="000000"/>
                </a:solidFill>
                <a:latin typeface="Arial"/>
              </a:rPr>
              <a:t>Mentcare</a:t>
            </a:r>
          </a:p>
          <a:p>
            <a:pPr algn="ctr">
              <a:lnSpc>
                <a:spcPct val="100000"/>
              </a:lnSpc>
            </a:pPr>
            <a:r>
              <a:rPr lang="tr-TR" sz="1338" b="0">
                <a:solidFill>
                  <a:srgbClr val="000000"/>
                </a:solidFill>
                <a:latin typeface="Arial"/>
              </a:rPr>
              <a:t>istemcisi</a:t>
            </a:r>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Mentcare sisteminin temel özellikleri</a:t>
            </a:r>
          </a:p>
        </p:txBody>
      </p:sp>
      <p:sp>
        <p:nvSpPr>
          <p:cNvPr id="3" name="Content Placeholder 2"/>
          <p:cNvSpPr>
            <a:spLocks noGrp="1"/>
          </p:cNvSpPr>
          <p:nvPr>
            <p:ph idx="1"/>
          </p:nvPr>
        </p:nvSpPr>
        <p:spPr>
          <a:xfrm>
            <a:off x="457200" y="1600200"/>
            <a:ext cx="8473992" cy="4525963"/>
          </a:xfrm>
        </p:spPr>
        <p:txBody>
          <a:bodyPr/>
          <a:lstStyle/>
          <a:p>
            <a:r>
              <a:rPr lang="tr-TR" dirty="0" sz="2160"/>
              <a:t>Bireysel bakım yönetimi</a:t>
            </a:r>
          </a:p>
          <a:p>
            <a:pPr lvl="1"/>
            <a:r>
              <a:rPr lang="tr-TR" dirty="0" sz="1890"/>
              <a:t>Klinisyenler hasta kayıtları oluşturabilir, sistemdeki bilgileri düzenleyebilir, hasta geçmişini görüntüleyebilir vb. Sistem, doktorların temel sorunları ve reçete edilmiş tedavileri hızla öğrenmesi için veri özetlerini destekler.</a:t>
            </a:r>
          </a:p>
          <a:p>
            <a:r>
              <a:rPr lang="tr-TR" dirty="0" sz="2160"/>
              <a:t>Hasta izleme</a:t>
            </a:r>
          </a:p>
          <a:p>
            <a:pPr lvl="1"/>
            <a:r>
              <a:rPr lang="tr-TR" dirty="0" sz="1890"/>
              <a:t>Sistem, tedavi gören hastaların kayıtlarını izler ve olası sorunlar tespit ederse uyarı verir.</a:t>
            </a:r>
          </a:p>
          <a:p>
            <a:r>
              <a:rPr lang="tr-TR" dirty="0" sz="2160"/>
              <a:t>İdari raporlama</a:t>
            </a:r>
          </a:p>
          <a:p>
            <a:pPr lvl="1"/>
            <a:r>
              <a:rPr lang="tr-TR" dirty="0" sz="1890"/>
              <a:t>Sistem, her klinikte tedavi edilen hasta sayısını, bakım sistemine giren ve çıkan hastaları, zorunlu yatış kararı verilen hastaları, reçete edilen ilaçları ve maliyetlerini vb. gösteren aylık yönetim raporları üretir.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45</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Mentcare sisteminde önem taşıyan konular</a:t>
            </a:r>
          </a:p>
        </p:txBody>
      </p:sp>
      <p:sp>
        <p:nvSpPr>
          <p:cNvPr id="3" name="Content Placeholder 2"/>
          <p:cNvSpPr>
            <a:spLocks noGrp="1"/>
          </p:cNvSpPr>
          <p:nvPr>
            <p:ph idx="1"/>
          </p:nvPr>
        </p:nvSpPr>
        <p:spPr/>
        <p:txBody>
          <a:bodyPr/>
          <a:lstStyle/>
          <a:p>
            <a:r>
              <a:rPr lang="tr-TR" dirty="0"/>
              <a:t>Mahremiyet</a:t>
            </a:r>
          </a:p>
          <a:p>
            <a:pPr lvl="1"/>
            <a:r>
              <a:rPr lang="tr-TR" dirty="0"/>
              <a:t>Hasta bilgilerinin gizli tutulması ve yetkili sağlık personeli ile hastanın kendisi dışında hiç kimseye açıklanmaması zorunludur.</a:t>
            </a:r>
            <a:endParaRPr lang="en-US" dirty="0"/>
          </a:p>
          <a:p>
            <a:r>
              <a:rPr lang="tr-TR" dirty="0"/>
              <a:t>Emniyet</a:t>
            </a:r>
          </a:p>
          <a:p>
            <a:pPr lvl="1"/>
            <a:r>
              <a:rPr lang="tr-TR" dirty="0"/>
              <a:t>Bazı ruhsal hastalıklar, hastaların intihara eğilimli veya başkaları için tehlikeli hale gelmesine yol açar. Sistem, mümkün olduğunda sağlık personelini intihar riski taşıyan veya tehlikeli olabilecek hastalar hakkında uyarmalıdır.</a:t>
            </a:r>
          </a:p>
          <a:p>
            <a:pPr lvl="1"/>
            <a:r>
              <a:rPr lang="tr-TR" dirty="0"/>
              <a:t>Sistem gerektiğinde kullanılabilir olmalıdır. Aksi halde emniyet tehlikeye girebilir ve hastalara doğru ilacı reçete etmek mümkün olmayabilir.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46</a:t>
            </a:fld>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Issız bölge hava istasyonu</a:t>
            </a:r>
          </a:p>
        </p:txBody>
      </p:sp>
      <p:sp>
        <p:nvSpPr>
          <p:cNvPr id="3" name="Content Placeholder 2"/>
          <p:cNvSpPr>
            <a:spLocks noGrp="1"/>
          </p:cNvSpPr>
          <p:nvPr>
            <p:ph idx="1"/>
          </p:nvPr>
        </p:nvSpPr>
        <p:spPr/>
        <p:txBody>
          <a:bodyPr/>
          <a:lstStyle/>
          <a:p>
            <a:r>
              <a:rPr lang="tr-TR" dirty="0"/>
              <a:t>Geniş ıssız alanlara sahip bir ülkenin hükümeti, uzak bölgelere birkaç yüz hava istasyonu yerleştirmeye karar verir.</a:t>
            </a:r>
          </a:p>
          <a:p>
            <a:r>
              <a:rPr lang="tr-TR" dirty="0"/>
              <a:t>Hava istasyonları sıcaklık, basınç, güneş ışığı, yağış, rüzgâr hızı ve yönünü ölçen bir dizi araçtan veri toplar.</a:t>
            </a:r>
          </a:p>
          <a:p>
            <a:pPr lvl="1"/>
            <a:r>
              <a:rPr lang="tr-TR" dirty="0"/>
              <a:t>Hava istasyonu, rüzgâr hızı ve yönü, yer ve hava sıcaklığı, atmosfer basıncı ve 24 saatlik yağış gibi hava parametrelerini ölçen çeşitli araçlar içerir. Her araç, belirli aralıklarla ölçüm alan ve araçlardan toplanan verileri yöneten bir yazılım sistemi tarafından kontrol edilir.</a:t>
            </a:r>
          </a:p>
          <a:p>
            <a:r>
              <a:rPr lang="en-GB" dirty="0"/>
              <a:t> </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47</a:t>
            </a:fld>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tr-TR" dirty="0"/>
              <a:t>Hava istasyonunun çevresi</a:t>
            </a:r>
            <a:endParaRPr lang="en-US" dirty="0"/>
          </a:p>
        </p:txBody>
      </p:sp>
      <p:pic>
        <p:nvPicPr>
          <p:cNvPr id="4" name="Picture 3" descr="1.7 WeatherStationEnv.eps"/>
          <p:cNvPicPr>
            <a:picLocks noChangeAspect="1"/>
          </p:cNvPicPr>
          <p:nvPr/>
        </p:nvPicPr>
        <p:blipFill>
          <a:blip r:embed="rId2"/>
          <a:stretch>
            <a:fillRect/>
          </a:stretch>
        </p:blipFill>
        <p:spPr>
          <a:xfrm>
            <a:off x="1932944" y="2314698"/>
            <a:ext cx="5159738" cy="2490908"/>
          </a:xfrm>
          <a:prstGeom prst="rect">
            <a:avLst/>
          </a:prstGeom>
        </p:spPr>
      </p:pic>
      <p:sp>
        <p:nvSpPr>
          <p:cNvPr id="3" name="Footer Placeholder 2"/>
          <p:cNvSpPr>
            <a:spLocks noGrp="1"/>
          </p:cNvSpPr>
          <p:nvPr>
            <p:ph type="ftr" sz="quarter" idx="10"/>
          </p:nvPr>
        </p:nvSpPr>
        <p:spPr/>
        <p:txBody>
          <a:bodyPr/>
          <a:lstStyle/>
          <a:p>
            <a:r>
              <a:rPr lang="tr-TR"/>
              <a:t>Bölüm 1 Giriş</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48</a:t>
            </a:fld>
            <a:endParaRPr lang="en-US"/>
          </a:p>
        </p:txBody>
      </p:sp>
      <p:sp>
        <p:nvSpPr>
          <p:cNvPr id="20483" name="Türkçe şema etiketi 20483"/>
          <p:cNvSpPr txBox="1"/>
          <p:nvPr/>
        </p:nvSpPr>
        <p:spPr>
          <a:xfrm>
            <a:off x="2518446" y="2644377"/>
            <a:ext cx="841659" cy="231996"/>
          </a:xfrm>
          <a:prstGeom prst="rect">
            <a:avLst/>
          </a:prstGeom>
          <a:noFill/>
          <a:ln>
            <a:noFill/>
          </a:ln>
        </p:spPr>
        <p:txBody>
          <a:bodyPr wrap="square" lIns="0" rIns="0" tIns="0" bIns="0" anchor="ctr">
            <a:normAutofit/>
          </a:bodyPr>
          <a:lstStyle/>
          <a:p>
            <a:pPr algn="ctr">
              <a:lnSpc>
                <a:spcPct val="100000"/>
              </a:lnSpc>
            </a:pPr>
            <a:r>
              <a:rPr lang="tr-TR" sz="1338" b="0">
                <a:solidFill>
                  <a:srgbClr val="000000"/>
                </a:solidFill>
                <a:latin typeface="Arial"/>
              </a:rPr>
              <a:t>«sistem»</a:t>
            </a:r>
          </a:p>
        </p:txBody>
      </p:sp>
      <p:sp>
        <p:nvSpPr>
          <p:cNvPr id="20484" name="Türkçe şema etiketi 20484"/>
          <p:cNvSpPr txBox="1"/>
          <p:nvPr/>
        </p:nvSpPr>
        <p:spPr>
          <a:xfrm>
            <a:off x="2201299" y="2821427"/>
            <a:ext cx="1457656" cy="213681"/>
          </a:xfrm>
          <a:prstGeom prst="rect">
            <a:avLst/>
          </a:prstGeom>
          <a:noFill/>
          <a:ln>
            <a:noFill/>
          </a:ln>
        </p:spPr>
        <p:txBody>
          <a:bodyPr wrap="square" lIns="0" rIns="0" tIns="0" bIns="0" anchor="ctr">
            <a:normAutofit/>
          </a:bodyPr>
          <a:lstStyle/>
          <a:p>
            <a:pPr algn="ctr">
              <a:lnSpc>
                <a:spcPct val="100000"/>
              </a:lnSpc>
            </a:pPr>
            <a:r>
              <a:rPr lang="tr-TR" sz="1213" b="0">
                <a:solidFill>
                  <a:srgbClr val="000000"/>
                </a:solidFill>
                <a:latin typeface="Arial"/>
              </a:rPr>
              <a:t>Hava istasyonu</a:t>
            </a:r>
          </a:p>
        </p:txBody>
      </p:sp>
      <p:sp>
        <p:nvSpPr>
          <p:cNvPr id="20485" name="Türkçe şema etiketi 20485"/>
          <p:cNvSpPr txBox="1"/>
          <p:nvPr/>
        </p:nvSpPr>
        <p:spPr>
          <a:xfrm>
            <a:off x="2536743" y="4231720"/>
            <a:ext cx="841659" cy="231996"/>
          </a:xfrm>
          <a:prstGeom prst="rect">
            <a:avLst/>
          </a:prstGeom>
          <a:noFill/>
          <a:ln>
            <a:noFill/>
          </a:ln>
        </p:spPr>
        <p:txBody>
          <a:bodyPr wrap="square" lIns="0" rIns="0" tIns="0" bIns="0" anchor="ctr">
            <a:normAutofit/>
          </a:bodyPr>
          <a:lstStyle/>
          <a:p>
            <a:pPr algn="ctr">
              <a:lnSpc>
                <a:spcPct val="100000"/>
              </a:lnSpc>
            </a:pPr>
            <a:r>
              <a:rPr lang="tr-TR" sz="1338" b="0">
                <a:solidFill>
                  <a:srgbClr val="000000"/>
                </a:solidFill>
                <a:latin typeface="Arial"/>
              </a:rPr>
              <a:t>«sistem»</a:t>
            </a:r>
          </a:p>
        </p:txBody>
      </p:sp>
      <p:sp>
        <p:nvSpPr>
          <p:cNvPr id="20486" name="Türkçe şema etiketi 20486"/>
          <p:cNvSpPr txBox="1"/>
          <p:nvPr/>
        </p:nvSpPr>
        <p:spPr>
          <a:xfrm>
            <a:off x="2006132" y="4414875"/>
            <a:ext cx="1902882" cy="207576"/>
          </a:xfrm>
          <a:prstGeom prst="rect">
            <a:avLst/>
          </a:prstGeom>
          <a:noFill/>
          <a:ln>
            <a:noFill/>
          </a:ln>
        </p:spPr>
        <p:txBody>
          <a:bodyPr wrap="square" lIns="0" rIns="0" tIns="0" bIns="0" anchor="ctr">
            <a:normAutofit/>
          </a:bodyPr>
          <a:lstStyle/>
          <a:p>
            <a:pPr algn="ctr">
              <a:lnSpc>
                <a:spcPct val="100000"/>
              </a:lnSpc>
            </a:pPr>
            <a:r>
              <a:rPr lang="tr-TR" sz="1171" b="0">
                <a:solidFill>
                  <a:srgbClr val="000000"/>
                </a:solidFill>
                <a:latin typeface="Arial"/>
              </a:rPr>
              <a:t>İstasyon bakımı</a:t>
            </a:r>
          </a:p>
        </p:txBody>
      </p:sp>
      <p:sp>
        <p:nvSpPr>
          <p:cNvPr id="20487" name="Türkçe şema etiketi 20487"/>
          <p:cNvSpPr txBox="1"/>
          <p:nvPr/>
        </p:nvSpPr>
        <p:spPr>
          <a:xfrm>
            <a:off x="5677718" y="2619956"/>
            <a:ext cx="841659" cy="238102"/>
          </a:xfrm>
          <a:prstGeom prst="rect">
            <a:avLst/>
          </a:prstGeom>
          <a:noFill/>
          <a:ln>
            <a:noFill/>
          </a:ln>
        </p:spPr>
        <p:txBody>
          <a:bodyPr wrap="square" lIns="0" rIns="0" tIns="0" bIns="0" anchor="ctr">
            <a:normAutofit/>
          </a:bodyPr>
          <a:lstStyle/>
          <a:p>
            <a:pPr algn="ctr">
              <a:lnSpc>
                <a:spcPct val="100000"/>
              </a:lnSpc>
            </a:pPr>
            <a:r>
              <a:rPr lang="tr-TR" sz="1380" b="0">
                <a:solidFill>
                  <a:srgbClr val="000000"/>
                </a:solidFill>
                <a:latin typeface="Arial"/>
              </a:rPr>
              <a:t>«sistem»</a:t>
            </a:r>
          </a:p>
        </p:txBody>
      </p:sp>
      <p:sp>
        <p:nvSpPr>
          <p:cNvPr id="20488" name="Türkçe şema etiketi 20488"/>
          <p:cNvSpPr txBox="1"/>
          <p:nvPr/>
        </p:nvSpPr>
        <p:spPr>
          <a:xfrm>
            <a:off x="5250790" y="2821427"/>
            <a:ext cx="1713814" cy="445677"/>
          </a:xfrm>
          <a:prstGeom prst="rect">
            <a:avLst/>
          </a:prstGeom>
          <a:noFill/>
          <a:ln>
            <a:noFill/>
          </a:ln>
        </p:spPr>
        <p:txBody>
          <a:bodyPr wrap="square" lIns="0" rIns="0" tIns="0" bIns="0" anchor="ctr">
            <a:normAutofit/>
          </a:bodyPr>
          <a:lstStyle/>
          <a:p>
            <a:pPr algn="ctr">
              <a:lnSpc>
                <a:spcPct val="100000"/>
              </a:lnSpc>
            </a:pPr>
            <a:r>
              <a:rPr lang="tr-TR" sz="1297" b="0">
                <a:solidFill>
                  <a:srgbClr val="000000"/>
                </a:solidFill>
                <a:latin typeface="Arial"/>
              </a:rPr>
              <a:t>Veri yönetimi</a:t>
            </a:r>
          </a:p>
          <a:p>
            <a:pPr algn="ctr">
              <a:lnSpc>
                <a:spcPct val="100000"/>
              </a:lnSpc>
            </a:pPr>
            <a:r>
              <a:rPr lang="tr-TR" sz="1297" b="0">
                <a:solidFill>
                  <a:srgbClr val="000000"/>
                </a:solidFill>
                <a:latin typeface="Arial"/>
              </a:rPr>
              <a:t>ve arşivleme</a:t>
            </a:r>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Hava durumu bilgi sistemi</a:t>
            </a:r>
          </a:p>
        </p:txBody>
      </p:sp>
      <p:sp>
        <p:nvSpPr>
          <p:cNvPr id="3" name="Content Placeholder 2"/>
          <p:cNvSpPr>
            <a:spLocks noGrp="1"/>
          </p:cNvSpPr>
          <p:nvPr>
            <p:ph idx="1"/>
          </p:nvPr>
        </p:nvSpPr>
        <p:spPr>
          <a:xfrm>
            <a:off x="283745" y="1600200"/>
            <a:ext cx="8606912" cy="4525963"/>
          </a:xfrm>
        </p:spPr>
        <p:txBody>
          <a:bodyPr/>
          <a:lstStyle/>
          <a:p>
            <a:r>
              <a:rPr lang="tr-TR" dirty="0"/>
              <a:t>Hava istasyonu sistemi</a:t>
            </a:r>
          </a:p>
          <a:p>
            <a:pPr lvl="1"/>
            <a:r>
              <a:rPr lang="tr-TR" dirty="0"/>
              <a:t>Hava verilerini toplamaktan, bazı ön veri işlemlerini gerçekleştirmekten ve verileri veri yönetim sistemine iletmekten sorumludur.</a:t>
            </a:r>
          </a:p>
          <a:p>
            <a:r>
              <a:rPr lang="tr-TR" dirty="0"/>
              <a:t>Veri yönetimi ve arşivleme sistemi</a:t>
            </a:r>
          </a:p>
          <a:p>
            <a:pPr lvl="1"/>
            <a:r>
              <a:rPr lang="tr-TR" dirty="0"/>
              <a:t>Bu sistem, tüm ıssız bölge hava istasyonlarından verileri toplar, işler, analiz eder ve arşivler.</a:t>
            </a:r>
          </a:p>
          <a:p>
            <a:r>
              <a:rPr lang="tr-TR" dirty="0"/>
              <a:t>İstasyon bakım sistemi</a:t>
            </a:r>
          </a:p>
          <a:p>
            <a:pPr lvl="1"/>
            <a:r>
              <a:rPr lang="tr-TR" dirty="0"/>
              <a:t>Bu sistem, sistemlerin durumunu izlemek ve sorun raporları sağlamak için tüm ıssız bölge hava istasyonlarıyla uydu üzerinden iletişim kurabilir.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49</a:t>
            </a:fld>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Ek yazılım işlevleri</a:t>
            </a:r>
          </a:p>
        </p:txBody>
      </p:sp>
      <p:sp>
        <p:nvSpPr>
          <p:cNvPr id="3" name="Content Placeholder 2"/>
          <p:cNvSpPr>
            <a:spLocks noGrp="1"/>
          </p:cNvSpPr>
          <p:nvPr>
            <p:ph idx="1"/>
          </p:nvPr>
        </p:nvSpPr>
        <p:spPr/>
        <p:txBody>
          <a:bodyPr/>
          <a:lstStyle/>
          <a:p>
            <a:r>
              <a:rPr lang="tr-TR" dirty="0"/>
              <a:t>Ölçüm araçlarını, güç ve iletişim donanımını izlemek ve arızaları yönetim sistemine bildirmek.</a:t>
            </a:r>
          </a:p>
          <a:p>
            <a:r>
              <a:rPr lang="tr-TR" dirty="0"/>
              <a:t>Çevre koşulları izin verdiğinde pillerin şarj edilmesini, güçlü rüzgâr gibi hasara yol açabilecek hava koşullarında ise jeneratörlerin kapatılmasını sağlayarak sistemin enerjisini yönetmek.</a:t>
            </a:r>
          </a:p>
          <a:p>
            <a:r>
              <a:rPr lang="tr-TR" dirty="0"/>
              <a:t>Yazılım parçalarının yeni sürümlerle değiştirildiği ve sistem arızasında yedek ölçüm araçlarının devreye alındığı dinamik yeniden yapılandırmayı desteklemek.</a:t>
            </a:r>
          </a:p>
          <a:p>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50</a:t>
            </a:fld>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iLearn: Dijital öğrenme ortamı</a:t>
            </a:r>
            <a:r>
              <a:rPr lang="tr-TR" dirty="0"/>
              <a:t/>
            </a:r>
          </a:p>
        </p:txBody>
      </p:sp>
      <p:sp>
        <p:nvSpPr>
          <p:cNvPr id="3" name="Content Placeholder 2"/>
          <p:cNvSpPr>
            <a:spLocks noGrp="1"/>
          </p:cNvSpPr>
          <p:nvPr>
            <p:ph idx="1"/>
          </p:nvPr>
        </p:nvSpPr>
        <p:spPr/>
        <p:txBody>
          <a:bodyPr/>
          <a:lstStyle/>
          <a:p>
            <a:r>
              <a:rPr lang="tr-TR" dirty="0"/>
              <a:t>Dijital öğrenme ortamı, genel amaçlı ve öğrenme için özel tasarlanmış araçların yanı sıra sistemi kullanan öğrencilerin ihtiyaçlarına yönelik uygulamaların yerleştirilebildiği bir çerçevedir.</a:t>
            </a:r>
          </a:p>
          <a:p>
            <a:r>
              <a:rPr lang="tr-TR" dirty="0"/>
              <a:t>Ortamın her sürümündeki araçları, öğretmenler ve öğrenciler kendi ihtiyaçlarına göre seçer.</a:t>
            </a:r>
          </a:p>
          <a:p>
            <a:pPr lvl="1"/>
            <a:r>
              <a:rPr lang="tr-TR" dirty="0"/>
              <a:t>Bunlar elektronik tablolar gibi genel uygulamaları, ödev teslimini ve değerlendirmeyi yöneten Sanal Öğrenme Ortamı (VLE) gibi öğrenme yönetimi uygulamalarını, oyunları ve benzetimleri içerebilir.</a:t>
            </a:r>
            <a:r>
              <a:rPr lang="tr-TR" dirty="0" err="1"/>
              <a:t/>
            </a:r>
            <a:r>
              <a:rPr lang="tr-TR" dirty="0"/>
              <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51</a:t>
            </a:fld>
            <a:endParaRPr lang="en-US"/>
          </a:p>
        </p:txBody>
      </p:sp>
    </p:spTree>
    <p:extLst>
      <p:ext uri="{BB962C8B-B14F-4D97-AF65-F5344CB8AC3E}">
        <p14:creationId xmlns:p14="http://schemas.microsoft.com/office/powerpoint/2010/main" val="3735641553"/>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Hizmet odaklı sistemler</a:t>
            </a:r>
          </a:p>
        </p:txBody>
      </p:sp>
      <p:sp>
        <p:nvSpPr>
          <p:cNvPr id="3" name="Content Placeholder 2"/>
          <p:cNvSpPr>
            <a:spLocks noGrp="1"/>
          </p:cNvSpPr>
          <p:nvPr>
            <p:ph idx="1"/>
          </p:nvPr>
        </p:nvSpPr>
        <p:spPr/>
        <p:txBody>
          <a:bodyPr/>
          <a:lstStyle/>
          <a:p>
            <a:r>
              <a:rPr lang="tr-TR" dirty="0"/>
              <a:t>Sistem, tüm bileşenlerin değiştirilebilir birer hizmet olarak ele alındığı hizmet odaklı bir sistemdir.</a:t>
            </a:r>
          </a:p>
          <a:p>
            <a:r>
              <a:rPr lang="tr-TR" dirty="0"/>
              <a:t>Bu, yeni hizmetler kullanıma sunuldukça sistemin artımlı olarak güncellenmesini sağlar.</a:t>
            </a:r>
          </a:p>
          <a:p>
            <a:r>
              <a:rPr lang="tr-TR" dirty="0"/>
              <a:t>Ayrıca sistemin, henüz okuyamayan küçük çocuklar veya ileri sınıflardaki öğrenciler gibi farklı gruplar için ortam sürümleri oluşturacak biçimde hızla yapılandırılmasını mümkün kılar.</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52</a:t>
            </a:fld>
            <a:endParaRPr lang="en-US"/>
          </a:p>
        </p:txBody>
      </p:sp>
    </p:spTree>
    <p:extLst>
      <p:ext uri="{BB962C8B-B14F-4D97-AF65-F5344CB8AC3E}">
        <p14:creationId xmlns:p14="http://schemas.microsoft.com/office/powerpoint/2010/main" val="910177017"/>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iLearn hizmetleri</a:t>
            </a:r>
            <a:r>
              <a:rPr lang="tr-TR" dirty="0"/>
              <a:t/>
            </a:r>
          </a:p>
        </p:txBody>
      </p:sp>
      <p:sp>
        <p:nvSpPr>
          <p:cNvPr id="3" name="Content Placeholder 2"/>
          <p:cNvSpPr>
            <a:spLocks noGrp="1"/>
          </p:cNvSpPr>
          <p:nvPr>
            <p:ph idx="1"/>
          </p:nvPr>
        </p:nvSpPr>
        <p:spPr/>
        <p:txBody>
          <a:bodyPr/>
          <a:lstStyle/>
          <a:p>
            <a:r>
              <a:rPr lang="tr-TR" i="1" dirty="0"/>
              <a:t>Temel, uygulamadan bağımsız işlevler sağlayan ve sistemdeki diğer hizmetlerin kullanabildiği yardımcı hizmetler.</a:t>
            </a:r>
            <a:r>
              <a:rPr lang="tr-TR" dirty="0"/>
              <a:t/>
            </a:r>
          </a:p>
          <a:p>
            <a:r>
              <a:rPr lang="tr-TR" i="1" dirty="0"/>
              <a:t>E-posta, konferans, fotoğraf paylaşımı vb. belirli uygulamalar sunan ve bilimsel filmler veya tarih kaynakları gibi belirli eğitim içeriklerine erişim sağlayan uygulama hizmetleri.</a:t>
            </a:r>
            <a:r>
              <a:rPr lang="tr-TR" dirty="0"/>
              <a:t/>
            </a:r>
          </a:p>
          <a:p>
            <a:r>
              <a:rPr lang="tr-TR" i="1" dirty="0"/>
              <a:t>Ortamı belirli bir uygulama hizmetleri kümesine uyarlamak ve hizmetlerin öğrenciler, öğretmenler ve veliler arasında nasıl paylaşıldığını tanımlamak için kullanılan yapılandırma hizmetleri.</a:t>
            </a:r>
            <a:r>
              <a:rPr lang="tr-TR" dirty="0"/>
              <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53</a:t>
            </a:fld>
            <a:endParaRPr lang="en-US"/>
          </a:p>
        </p:txBody>
      </p:sp>
    </p:spTree>
    <p:extLst>
      <p:ext uri="{BB962C8B-B14F-4D97-AF65-F5344CB8AC3E}">
        <p14:creationId xmlns:p14="http://schemas.microsoft.com/office/powerpoint/2010/main" val="2155081538"/>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iLearn mimarisi</a:t>
            </a:r>
            <a:r>
              <a:rPr lang="tr-TR" dirty="0"/>
              <a:t/>
            </a:r>
          </a:p>
        </p:txBody>
      </p:sp>
      <p:pic>
        <p:nvPicPr>
          <p:cNvPr id="6" name="Picture 5" descr="1.8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701" y="1538798"/>
            <a:ext cx="5866216" cy="4881050"/>
          </a:xfrm>
          <a:prstGeom prst="rect">
            <a:avLst/>
          </a:prstGeom>
        </p:spPr>
      </p:pic>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54</a:t>
            </a:fld>
            <a:endParaRPr lang="en-US"/>
          </a:p>
        </p:txBody>
      </p:sp>
      <p:sp>
        <p:nvSpPr>
          <p:cNvPr id="10" name="Türkçe şema etiketi 10"/>
          <p:cNvSpPr txBox="1"/>
          <p:nvPr/>
        </p:nvSpPr>
        <p:spPr>
          <a:xfrm>
            <a:off x="2793631" y="1764325"/>
            <a:ext cx="2352933" cy="182570"/>
          </a:xfrm>
          <a:prstGeom prst="rect">
            <a:avLst/>
          </a:prstGeom>
          <a:noFill/>
          <a:ln>
            <a:noFill/>
          </a:ln>
        </p:spPr>
        <p:txBody>
          <a:bodyPr wrap="square" lIns="0" rIns="0" tIns="0" bIns="0" anchor="ctr">
            <a:normAutofit/>
          </a:bodyPr>
          <a:lstStyle/>
          <a:p>
            <a:pPr algn="ctr">
              <a:lnSpc>
                <a:spcPct val="100000"/>
              </a:lnSpc>
            </a:pPr>
            <a:r>
              <a:rPr lang="tr-TR" sz="1030" b="0">
                <a:solidFill>
                  <a:srgbClr val="000000"/>
                </a:solidFill>
                <a:latin typeface="Arial"/>
              </a:rPr>
              <a:t>Tarayıcı tabanlı kullanıcı arayüzü</a:t>
            </a:r>
          </a:p>
        </p:txBody>
      </p:sp>
      <p:sp>
        <p:nvSpPr>
          <p:cNvPr id="11" name="Türkçe şema etiketi 11"/>
          <p:cNvSpPr txBox="1"/>
          <p:nvPr/>
        </p:nvSpPr>
        <p:spPr>
          <a:xfrm>
            <a:off x="2251060" y="2430167"/>
            <a:ext cx="1778130" cy="225527"/>
          </a:xfrm>
          <a:prstGeom prst="rect">
            <a:avLst/>
          </a:prstGeom>
          <a:noFill/>
          <a:ln>
            <a:noFill/>
          </a:ln>
        </p:spPr>
        <p:txBody>
          <a:bodyPr wrap="square" lIns="0" rIns="0" tIns="0" bIns="0" anchor="ctr">
            <a:normAutofit/>
          </a:bodyPr>
          <a:lstStyle/>
          <a:p>
            <a:pPr algn="ctr">
              <a:lnSpc>
                <a:spcPct val="100000"/>
              </a:lnSpc>
            </a:pPr>
            <a:r>
              <a:rPr lang="tr-TR" sz="1140" b="0">
                <a:solidFill>
                  <a:srgbClr val="000000"/>
                </a:solidFill>
                <a:latin typeface="Arial"/>
              </a:rPr>
              <a:t>Yapılandırma hizmetleri</a:t>
            </a:r>
          </a:p>
        </p:txBody>
      </p:sp>
      <p:sp>
        <p:nvSpPr>
          <p:cNvPr id="12" name="Türkçe şema etiketi 12"/>
          <p:cNvSpPr txBox="1"/>
          <p:nvPr/>
        </p:nvSpPr>
        <p:spPr>
          <a:xfrm>
            <a:off x="2514288" y="2789936"/>
            <a:ext cx="1090515" cy="429575"/>
          </a:xfrm>
          <a:prstGeom prst="rect">
            <a:avLst/>
          </a:prstGeom>
          <a:noFill/>
          <a:ln>
            <a:noFill/>
          </a:ln>
        </p:spPr>
        <p:txBody>
          <a:bodyPr wrap="square" lIns="0" rIns="0" tIns="0" bIns="0" anchor="ctr">
            <a:normAutofit/>
          </a:bodyPr>
          <a:lstStyle/>
          <a:p>
            <a:pPr algn="ctr">
              <a:lnSpc>
                <a:spcPct val="100000"/>
              </a:lnSpc>
            </a:pPr>
            <a:r>
              <a:rPr lang="tr-TR" sz="1251" b="0">
                <a:solidFill>
                  <a:srgbClr val="000000"/>
                </a:solidFill>
                <a:latin typeface="Arial"/>
              </a:rPr>
              <a:t>Grup</a:t>
            </a:r>
          </a:p>
          <a:p>
            <a:pPr algn="ctr">
              <a:lnSpc>
                <a:spcPct val="100000"/>
              </a:lnSpc>
            </a:pPr>
            <a:r>
              <a:rPr lang="tr-TR" sz="1251" b="0">
                <a:solidFill>
                  <a:srgbClr val="000000"/>
                </a:solidFill>
                <a:latin typeface="Arial"/>
              </a:rPr>
              <a:t>yönetimi</a:t>
            </a:r>
          </a:p>
        </p:txBody>
      </p:sp>
      <p:sp>
        <p:nvSpPr>
          <p:cNvPr id="13" name="Türkçe şema etiketi 13"/>
          <p:cNvSpPr txBox="1"/>
          <p:nvPr/>
        </p:nvSpPr>
        <p:spPr>
          <a:xfrm>
            <a:off x="2213456" y="3563172"/>
            <a:ext cx="1890941" cy="300703"/>
          </a:xfrm>
          <a:prstGeom prst="rect">
            <a:avLst/>
          </a:prstGeom>
          <a:noFill/>
          <a:ln>
            <a:noFill/>
          </a:ln>
        </p:spPr>
        <p:txBody>
          <a:bodyPr wrap="square" lIns="0" rIns="0" tIns="0" bIns="0" anchor="ctr">
            <a:normAutofit/>
          </a:bodyPr>
          <a:lstStyle/>
          <a:p>
            <a:pPr algn="ctr">
              <a:lnSpc>
                <a:spcPct val="100000"/>
              </a:lnSpc>
            </a:pPr>
            <a:r>
              <a:rPr lang="tr-TR" sz="1398" b="0">
                <a:solidFill>
                  <a:srgbClr val="000000"/>
                </a:solidFill>
                <a:latin typeface="Arial"/>
              </a:rPr>
              <a:t>Uygulama hizmetleri</a:t>
            </a:r>
          </a:p>
        </p:txBody>
      </p:sp>
      <p:sp>
        <p:nvSpPr>
          <p:cNvPr id="14" name="Türkçe şema etiketi 14"/>
          <p:cNvSpPr txBox="1"/>
          <p:nvPr/>
        </p:nvSpPr>
        <p:spPr>
          <a:xfrm>
            <a:off x="4367625" y="2779197"/>
            <a:ext cx="1095887" cy="440315"/>
          </a:xfrm>
          <a:prstGeom prst="rect">
            <a:avLst/>
          </a:prstGeom>
          <a:noFill/>
          <a:ln>
            <a:noFill/>
          </a:ln>
        </p:spPr>
        <p:txBody>
          <a:bodyPr wrap="square" lIns="0" rIns="0" tIns="0" bIns="0" anchor="ctr">
            <a:normAutofit/>
          </a:bodyPr>
          <a:lstStyle/>
          <a:p>
            <a:pPr algn="ctr">
              <a:lnSpc>
                <a:spcPct val="100000"/>
              </a:lnSpc>
            </a:pPr>
            <a:r>
              <a:rPr lang="tr-TR" sz="1287" b="0">
                <a:solidFill>
                  <a:srgbClr val="000000"/>
                </a:solidFill>
                <a:latin typeface="Arial"/>
              </a:rPr>
              <a:t>Uygulama</a:t>
            </a:r>
          </a:p>
          <a:p>
            <a:pPr algn="ctr">
              <a:lnSpc>
                <a:spcPct val="100000"/>
              </a:lnSpc>
            </a:pPr>
            <a:r>
              <a:rPr lang="tr-TR" sz="1287" b="0">
                <a:solidFill>
                  <a:srgbClr val="000000"/>
                </a:solidFill>
                <a:latin typeface="Arial"/>
              </a:rPr>
              <a:t>yönetimi</a:t>
            </a:r>
          </a:p>
        </p:txBody>
      </p:sp>
      <p:sp>
        <p:nvSpPr>
          <p:cNvPr id="15" name="Türkçe şema etiketi 15"/>
          <p:cNvSpPr txBox="1"/>
          <p:nvPr/>
        </p:nvSpPr>
        <p:spPr>
          <a:xfrm>
            <a:off x="5678391" y="1780434"/>
            <a:ext cx="864891" cy="225527"/>
          </a:xfrm>
          <a:prstGeom prst="rect">
            <a:avLst/>
          </a:prstGeom>
          <a:noFill/>
          <a:ln>
            <a:noFill/>
          </a:ln>
        </p:spPr>
        <p:txBody>
          <a:bodyPr wrap="square" lIns="0" rIns="0" tIns="0" bIns="0" anchor="ctr">
            <a:normAutofit/>
          </a:bodyPr>
          <a:lstStyle/>
          <a:p>
            <a:pPr algn="ctr">
              <a:lnSpc>
                <a:spcPct val="100000"/>
              </a:lnSpc>
            </a:pPr>
            <a:r>
              <a:rPr lang="tr-TR" sz="662" b="0">
                <a:solidFill>
                  <a:srgbClr val="000000"/>
                </a:solidFill>
                <a:latin typeface="Arial"/>
              </a:rPr>
              <a:t>iLearn uygulaması</a:t>
            </a:r>
          </a:p>
        </p:txBody>
      </p:sp>
      <p:sp>
        <p:nvSpPr>
          <p:cNvPr id="16" name="Türkçe şema etiketi 16"/>
          <p:cNvSpPr txBox="1"/>
          <p:nvPr/>
        </p:nvSpPr>
        <p:spPr>
          <a:xfrm>
            <a:off x="5909387" y="2816785"/>
            <a:ext cx="1090515" cy="440315"/>
          </a:xfrm>
          <a:prstGeom prst="rect">
            <a:avLst/>
          </a:prstGeom>
          <a:noFill/>
          <a:ln>
            <a:noFill/>
          </a:ln>
        </p:spPr>
        <p:txBody>
          <a:bodyPr wrap="square" lIns="0" rIns="0" tIns="0" bIns="0" anchor="ctr">
            <a:normAutofit/>
          </a:bodyPr>
          <a:lstStyle/>
          <a:p>
            <a:pPr algn="ctr">
              <a:lnSpc>
                <a:spcPct val="100000"/>
              </a:lnSpc>
            </a:pPr>
            <a:r>
              <a:rPr lang="tr-TR" sz="1287" b="0">
                <a:solidFill>
                  <a:srgbClr val="000000"/>
                </a:solidFill>
                <a:latin typeface="Arial"/>
              </a:rPr>
              <a:t>Kimlik</a:t>
            </a:r>
          </a:p>
          <a:p>
            <a:pPr algn="ctr">
              <a:lnSpc>
                <a:spcPct val="100000"/>
              </a:lnSpc>
            </a:pPr>
            <a:r>
              <a:rPr lang="tr-TR" sz="1287" b="0">
                <a:solidFill>
                  <a:srgbClr val="000000"/>
                </a:solidFill>
                <a:latin typeface="Arial"/>
              </a:rPr>
              <a:t>yönetimi</a:t>
            </a:r>
          </a:p>
        </p:txBody>
      </p:sp>
      <p:sp>
        <p:nvSpPr>
          <p:cNvPr id="17" name="Türkçe şema etiketi 17"/>
          <p:cNvSpPr txBox="1"/>
          <p:nvPr/>
        </p:nvSpPr>
        <p:spPr>
          <a:xfrm>
            <a:off x="2390732" y="4003487"/>
            <a:ext cx="4775701" cy="230897"/>
          </a:xfrm>
          <a:prstGeom prst="rect">
            <a:avLst/>
          </a:prstGeom>
          <a:noFill/>
          <a:ln>
            <a:noFill/>
          </a:ln>
        </p:spPr>
        <p:txBody>
          <a:bodyPr wrap="square" lIns="0" rIns="0" tIns="0" bIns="0" anchor="ctr">
            <a:normAutofit/>
          </a:bodyPr>
          <a:lstStyle/>
          <a:p>
            <a:pPr algn="ctr">
              <a:lnSpc>
                <a:spcPct val="100000"/>
              </a:lnSpc>
            </a:pPr>
            <a:r>
              <a:rPr lang="tr-TR" sz="1324" b="0">
                <a:solidFill>
                  <a:srgbClr val="000000"/>
                </a:solidFill>
                <a:latin typeface="Arial"/>
              </a:rPr>
              <a:t>E-posta Mesajlaşma Video konferans Gazete arşivi</a:t>
            </a:r>
          </a:p>
        </p:txBody>
      </p:sp>
      <p:sp>
        <p:nvSpPr>
          <p:cNvPr id="18" name="Türkçe şema etiketi 18"/>
          <p:cNvSpPr txBox="1"/>
          <p:nvPr/>
        </p:nvSpPr>
        <p:spPr>
          <a:xfrm>
            <a:off x="2261804" y="4325668"/>
            <a:ext cx="5028185" cy="230897"/>
          </a:xfrm>
          <a:prstGeom prst="rect">
            <a:avLst/>
          </a:prstGeom>
          <a:noFill/>
          <a:ln>
            <a:noFill/>
          </a:ln>
        </p:spPr>
        <p:txBody>
          <a:bodyPr wrap="square" lIns="0" rIns="0" tIns="0" bIns="0" anchor="ctr">
            <a:normAutofit/>
          </a:bodyPr>
          <a:lstStyle/>
          <a:p>
            <a:pPr algn="ctr">
              <a:lnSpc>
                <a:spcPct val="100000"/>
              </a:lnSpc>
            </a:pPr>
            <a:r>
              <a:rPr lang="tr-TR" sz="1140" b="0">
                <a:solidFill>
                  <a:srgbClr val="000000"/>
                </a:solidFill>
                <a:latin typeface="Arial"/>
              </a:rPr>
              <a:t>Kelime işlem Benzetim Video depolama Kaynak bulma</a:t>
            </a:r>
          </a:p>
        </p:txBody>
      </p:sp>
      <p:sp>
        <p:nvSpPr>
          <p:cNvPr id="19" name="Türkçe şema etiketi 19"/>
          <p:cNvSpPr txBox="1"/>
          <p:nvPr/>
        </p:nvSpPr>
        <p:spPr>
          <a:xfrm>
            <a:off x="2390732" y="4615631"/>
            <a:ext cx="4775701" cy="230897"/>
          </a:xfrm>
          <a:prstGeom prst="rect">
            <a:avLst/>
          </a:prstGeom>
          <a:noFill/>
          <a:ln>
            <a:noFill/>
          </a:ln>
        </p:spPr>
        <p:txBody>
          <a:bodyPr wrap="square" lIns="0" rIns="0" tIns="0" bIns="0" anchor="ctr">
            <a:normAutofit/>
          </a:bodyPr>
          <a:lstStyle/>
          <a:p>
            <a:pPr algn="ctr">
              <a:lnSpc>
                <a:spcPct val="100000"/>
              </a:lnSpc>
            </a:pPr>
            <a:r>
              <a:rPr lang="tr-TR" sz="1324" b="0">
                <a:solidFill>
                  <a:srgbClr val="000000"/>
                </a:solidFill>
                <a:latin typeface="Arial"/>
              </a:rPr>
              <a:t>Elektronik tablo Sanal öğrenme ortamı Tarih arşivi</a:t>
            </a:r>
          </a:p>
        </p:txBody>
      </p:sp>
      <p:sp>
        <p:nvSpPr>
          <p:cNvPr id="20" name="Türkçe şema etiketi 20"/>
          <p:cNvSpPr txBox="1"/>
          <p:nvPr/>
        </p:nvSpPr>
        <p:spPr>
          <a:xfrm>
            <a:off x="2256432" y="5249255"/>
            <a:ext cx="1149606" cy="230897"/>
          </a:xfrm>
          <a:prstGeom prst="rect">
            <a:avLst/>
          </a:prstGeom>
          <a:noFill/>
          <a:ln>
            <a:noFill/>
          </a:ln>
        </p:spPr>
        <p:txBody>
          <a:bodyPr wrap="square" lIns="0" rIns="0" tIns="0" bIns="0" anchor="ctr">
            <a:normAutofit/>
          </a:bodyPr>
          <a:lstStyle/>
          <a:p>
            <a:pPr algn="ctr">
              <a:lnSpc>
                <a:spcPct val="100000"/>
              </a:lnSpc>
            </a:pPr>
            <a:r>
              <a:rPr lang="tr-TR" sz="920" b="0">
                <a:solidFill>
                  <a:srgbClr val="000000"/>
                </a:solidFill>
                <a:latin typeface="Arial"/>
              </a:rPr>
              <a:t>Yardımcı hizmetler</a:t>
            </a:r>
          </a:p>
        </p:txBody>
      </p:sp>
      <p:sp>
        <p:nvSpPr>
          <p:cNvPr id="21" name="Türkçe şema etiketi 21"/>
          <p:cNvSpPr txBox="1"/>
          <p:nvPr/>
        </p:nvSpPr>
        <p:spPr>
          <a:xfrm>
            <a:off x="2369244" y="5662721"/>
            <a:ext cx="1197954" cy="187939"/>
          </a:xfrm>
          <a:prstGeom prst="rect">
            <a:avLst/>
          </a:prstGeom>
          <a:noFill/>
          <a:ln>
            <a:noFill/>
          </a:ln>
        </p:spPr>
        <p:txBody>
          <a:bodyPr wrap="square" lIns="0" rIns="0" tIns="0" bIns="0" anchor="ctr">
            <a:normAutofit/>
          </a:bodyPr>
          <a:lstStyle/>
          <a:p>
            <a:pPr algn="ctr">
              <a:lnSpc>
                <a:spcPct val="100000"/>
              </a:lnSpc>
            </a:pPr>
            <a:r>
              <a:rPr lang="tr-TR" sz="1067" b="0">
                <a:solidFill>
                  <a:srgbClr val="000000"/>
                </a:solidFill>
                <a:latin typeface="Arial"/>
              </a:rPr>
              <a:t>Kimlik doğrulama</a:t>
            </a:r>
          </a:p>
        </p:txBody>
      </p:sp>
      <p:sp>
        <p:nvSpPr>
          <p:cNvPr id="22" name="Türkçe şema etiketi 22"/>
          <p:cNvSpPr txBox="1"/>
          <p:nvPr/>
        </p:nvSpPr>
        <p:spPr>
          <a:xfrm>
            <a:off x="2471312" y="5963424"/>
            <a:ext cx="1020679" cy="214788"/>
          </a:xfrm>
          <a:prstGeom prst="rect">
            <a:avLst/>
          </a:prstGeom>
          <a:noFill/>
          <a:ln>
            <a:noFill/>
          </a:ln>
        </p:spPr>
        <p:txBody>
          <a:bodyPr wrap="square" lIns="0" rIns="0" tIns="0" bIns="0" anchor="ctr">
            <a:normAutofit/>
          </a:bodyPr>
          <a:lstStyle/>
          <a:p>
            <a:pPr algn="ctr">
              <a:lnSpc>
                <a:spcPct val="100000"/>
              </a:lnSpc>
            </a:pPr>
            <a:r>
              <a:rPr lang="tr-TR" sz="736" b="0">
                <a:solidFill>
                  <a:srgbClr val="000000"/>
                </a:solidFill>
                <a:latin typeface="Arial"/>
              </a:rPr>
              <a:t>Kullanıcı depolaması</a:t>
            </a:r>
          </a:p>
        </p:txBody>
      </p:sp>
      <p:sp>
        <p:nvSpPr>
          <p:cNvPr id="23" name="Türkçe şema etiketi 23"/>
          <p:cNvSpPr txBox="1"/>
          <p:nvPr/>
        </p:nvSpPr>
        <p:spPr>
          <a:xfrm>
            <a:off x="3744474" y="5662721"/>
            <a:ext cx="2922364" cy="230897"/>
          </a:xfrm>
          <a:prstGeom prst="rect">
            <a:avLst/>
          </a:prstGeom>
          <a:noFill/>
          <a:ln>
            <a:noFill/>
          </a:ln>
        </p:spPr>
        <p:txBody>
          <a:bodyPr wrap="square" lIns="0" rIns="0" tIns="0" bIns="0" anchor="ctr">
            <a:normAutofit/>
          </a:bodyPr>
          <a:lstStyle/>
          <a:p>
            <a:pPr algn="ctr">
              <a:lnSpc>
                <a:spcPct val="100000"/>
              </a:lnSpc>
            </a:pPr>
            <a:r>
              <a:rPr lang="tr-TR" sz="1324" b="0">
                <a:solidFill>
                  <a:srgbClr val="000000"/>
                </a:solidFill>
                <a:latin typeface="Arial"/>
              </a:rPr>
              <a:t>Kayıt ve izleme Arayüz sağlama</a:t>
            </a:r>
          </a:p>
        </p:txBody>
      </p:sp>
      <p:sp>
        <p:nvSpPr>
          <p:cNvPr id="24" name="Türkçe şema etiketi 24"/>
          <p:cNvSpPr txBox="1"/>
          <p:nvPr/>
        </p:nvSpPr>
        <p:spPr>
          <a:xfrm>
            <a:off x="3980842" y="5947315"/>
            <a:ext cx="1563250" cy="230897"/>
          </a:xfrm>
          <a:prstGeom prst="rect">
            <a:avLst/>
          </a:prstGeom>
          <a:noFill/>
          <a:ln>
            <a:noFill/>
          </a:ln>
        </p:spPr>
        <p:txBody>
          <a:bodyPr wrap="square" lIns="0" rIns="0" tIns="0" bIns="0" anchor="ctr">
            <a:normAutofit/>
          </a:bodyPr>
          <a:lstStyle/>
          <a:p>
            <a:pPr algn="ctr">
              <a:lnSpc>
                <a:spcPct val="100000"/>
              </a:lnSpc>
            </a:pPr>
            <a:r>
              <a:rPr lang="tr-TR" sz="1067" b="0">
                <a:solidFill>
                  <a:srgbClr val="000000"/>
                </a:solidFill>
                <a:latin typeface="Arial"/>
              </a:rPr>
              <a:t>Uygulama depolaması</a:t>
            </a:r>
          </a:p>
        </p:txBody>
      </p:sp>
      <p:sp>
        <p:nvSpPr>
          <p:cNvPr id="25" name="Türkçe şema etiketi 25"/>
          <p:cNvSpPr txBox="1"/>
          <p:nvPr/>
        </p:nvSpPr>
        <p:spPr>
          <a:xfrm>
            <a:off x="5984595" y="5947315"/>
            <a:ext cx="558687" cy="187939"/>
          </a:xfrm>
          <a:prstGeom prst="rect">
            <a:avLst/>
          </a:prstGeom>
          <a:noFill/>
          <a:ln>
            <a:noFill/>
          </a:ln>
        </p:spPr>
        <p:txBody>
          <a:bodyPr wrap="square" lIns="0" rIns="0" tIns="0" bIns="0" anchor="ctr">
            <a:normAutofit/>
          </a:bodyPr>
          <a:lstStyle/>
          <a:p>
            <a:pPr algn="ctr">
              <a:lnSpc>
                <a:spcPct val="100000"/>
              </a:lnSpc>
            </a:pPr>
            <a:r>
              <a:rPr lang="tr-TR" sz="1067" b="0">
                <a:solidFill>
                  <a:srgbClr val="000000"/>
                </a:solidFill>
                <a:latin typeface="Arial"/>
              </a:rPr>
              <a:t>Arama</a:t>
            </a:r>
          </a:p>
        </p:txBody>
      </p:sp>
    </p:spTree>
    <p:extLst>
      <p:ext uri="{BB962C8B-B14F-4D97-AF65-F5344CB8AC3E}">
        <p14:creationId xmlns:p14="http://schemas.microsoft.com/office/powerpoint/2010/main" val="2004859144"/>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iLearn hizmetlerinin bütünleştirilmesi</a:t>
            </a:r>
            <a:r>
              <a:rPr lang="tr-TR" dirty="0"/>
              <a:t/>
            </a:r>
          </a:p>
        </p:txBody>
      </p:sp>
      <p:sp>
        <p:nvSpPr>
          <p:cNvPr id="3" name="Content Placeholder 2"/>
          <p:cNvSpPr>
            <a:spLocks noGrp="1"/>
          </p:cNvSpPr>
          <p:nvPr>
            <p:ph idx="1"/>
          </p:nvPr>
        </p:nvSpPr>
        <p:spPr/>
        <p:txBody>
          <a:bodyPr/>
          <a:lstStyle/>
          <a:p>
            <a:r>
              <a:rPr lang="tr-TR" i="1" dirty="0"/>
              <a:t>Bütünleşik hizmetler, bir API (uygulama programlama arayüzü) sunan ve diğer hizmetlerin bu API üzerinden erişebildiği hizmetlerdir. Böylece doğrudan hizmetler arası iletişim mümkün olur.</a:t>
            </a:r>
            <a:r>
              <a:rPr lang="tr-TR" dirty="0"/>
              <a:t/>
            </a:r>
          </a:p>
          <a:p>
            <a:r>
              <a:rPr lang="tr-TR" i="1" dirty="0"/>
              <a:t>Bağımsız hizmetler, yalnızca tarayıcı arayüzüyle erişilen ve diğer hizmetlerden bağımsız çalışan hizmetlerdir. Bilgiler, diğer hizmetlerle ancak kopyalama ve yapıştırma gibi açık kullanıcı işlemleriyle paylaşılabilir. Her bağımsız hizmet için yeniden kimlik doğrulama gerekebilir.</a:t>
            </a:r>
            <a:r>
              <a:rPr lang="tr-TR" dirty="0"/>
              <a:t/>
            </a:r>
            <a:r>
              <a:rPr lang="tr-TR" dirty="0"/>
              <a:t/>
            </a: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55</a:t>
            </a:fld>
            <a:endParaRPr lang="en-US"/>
          </a:p>
        </p:txBody>
      </p:sp>
    </p:spTree>
    <p:extLst>
      <p:ext uri="{BB962C8B-B14F-4D97-AF65-F5344CB8AC3E}">
        <p14:creationId xmlns:p14="http://schemas.microsoft.com/office/powerpoint/2010/main" val="3076887263"/>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Temel noktalar</a:t>
            </a:r>
          </a:p>
        </p:txBody>
      </p:sp>
      <p:sp>
        <p:nvSpPr>
          <p:cNvPr id="3" name="Content Placeholder 2"/>
          <p:cNvSpPr>
            <a:spLocks noGrp="1"/>
          </p:cNvSpPr>
          <p:nvPr>
            <p:ph idx="1"/>
          </p:nvPr>
        </p:nvSpPr>
        <p:spPr/>
        <p:txBody>
          <a:bodyPr/>
          <a:lstStyle/>
          <a:p>
            <a:r>
              <a:rPr lang="tr-TR" dirty="0"/>
              <a:t>Yazılım mühendisliği, yazılım üretiminin tüm yönleriyle ilgilenen bir mühendislik disiplinidir.</a:t>
            </a:r>
          </a:p>
          <a:p>
            <a:r>
              <a:rPr lang="tr-TR" dirty="0"/>
              <a:t>Yazılım ürününün temel özellikleri, bakım yapılabilirlik, güvenilirlik ve güvenlik, verimlilik ve kabul edilebilirliktir.</a:t>
            </a:r>
          </a:p>
          <a:p>
            <a:r>
              <a:rPr lang="tr-TR" dirty="0"/>
              <a:t>Belirtim, geliştirme, geçerleme ve evrim gibi üst düzey faaliyetler tüm yazılım süreçlerinin parçasıdır.</a:t>
            </a:r>
          </a:p>
          <a:p>
            <a:r>
              <a:rPr lang="tr-TR" dirty="0"/>
              <a:t>Yazılım mühendisliğinin temel kavramları, tüm sistem geliştirme türlerinde evrensel olarak uygulanabilir.</a:t>
            </a:r>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56</a:t>
            </a:fld>
            <a:endParaRPr lang="en-US"/>
          </a:p>
        </p:txBody>
      </p:sp>
    </p:spTree>
    <p:extLst>
      <p:ext uri="{BB962C8B-B14F-4D97-AF65-F5344CB8AC3E}">
        <p14:creationId xmlns:p14="http://schemas.microsoft.com/office/powerpoint/2010/main" val="1610917383"/>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Temel noktalar</a:t>
            </a:r>
          </a:p>
        </p:txBody>
      </p:sp>
      <p:sp>
        <p:nvSpPr>
          <p:cNvPr id="3" name="Content Placeholder 2"/>
          <p:cNvSpPr>
            <a:spLocks noGrp="1"/>
          </p:cNvSpPr>
          <p:nvPr>
            <p:ph idx="1"/>
          </p:nvPr>
        </p:nvSpPr>
        <p:spPr/>
        <p:txBody>
          <a:bodyPr/>
          <a:lstStyle/>
          <a:p>
            <a:r>
              <a:rPr lang="tr-TR" dirty="0"/>
              <a:t>Birçok farklı sistem türü vardır ve her biri geliştirme için uygun yazılım mühendisliği araçları ve teknikleri gerektirir.</a:t>
            </a:r>
          </a:p>
          <a:p>
            <a:r>
              <a:rPr lang="tr-TR" dirty="0"/>
              <a:t>Yazılım mühendisliğinin temel fikirleri, tüm yazılım sistemi türlerine uygulanabilir.</a:t>
            </a:r>
          </a:p>
          <a:p>
            <a:r>
              <a:rPr lang="tr-TR" dirty="0"/>
              <a:t>Yazılım mühendislerinin mesleklerine ve topluma karşı sorumlulukları vardır. Yalnızca teknik konularla ilgilenmemelidirler.</a:t>
            </a:r>
          </a:p>
          <a:p>
            <a:r>
              <a:rPr lang="tr-TR" dirty="0"/>
              <a:t>Meslek kuruluşları, üyelerinden beklenen davranış standartlarını belirleyen davranış kuralları yayımlar.</a:t>
            </a:r>
          </a:p>
          <a:p>
            <a:endParaRPr lang="en-US" dirty="0"/>
          </a:p>
          <a:p>
            <a:pPr>
              <a:buNone/>
            </a:pPr>
            <a:endParaRPr lang="en-US" dirty="0"/>
          </a:p>
        </p:txBody>
      </p:sp>
      <p:sp>
        <p:nvSpPr>
          <p:cNvPr id="7" name="Footer Placeholder 6"/>
          <p:cNvSpPr>
            <a:spLocks noGrp="1"/>
          </p:cNvSpPr>
          <p:nvPr>
            <p:ph type="ftr" sz="quarter" idx="10"/>
          </p:nvPr>
        </p:nvSpPr>
        <p:spPr/>
        <p:txBody>
          <a:bodyPr/>
          <a:lstStyle/>
          <a:p>
            <a:r>
              <a:rPr lang="tr-TR"/>
              <a:t>Bölüm 1 Giriş</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57</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1961</TotalTime>
  <Words>4357</Words>
  <Application>Microsoft Office PowerPoint</Application>
  <PresentationFormat>Ekran Gösterisi (4:3)</PresentationFormat>
  <Paragraphs>447</Paragraphs>
  <Slides>57</Slides>
  <Notes>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57</vt:i4>
      </vt:variant>
    </vt:vector>
  </HeadingPairs>
  <TitlesOfParts>
    <vt:vector size="61" baseType="lpstr">
      <vt:lpstr>Arial</vt:lpstr>
      <vt:lpstr>Calibri</vt:lpstr>
      <vt:lpstr>Wingdings</vt:lpstr>
      <vt:lpstr>SE10 slides</vt:lpstr>
      <vt:lpstr>Chapter 1- Introduction</vt:lpstr>
      <vt:lpstr>Topics covered</vt:lpstr>
      <vt:lpstr>Software engineering</vt:lpstr>
      <vt:lpstr>Software costs</vt:lpstr>
      <vt:lpstr>Software project failure</vt:lpstr>
      <vt:lpstr>Professional software development</vt:lpstr>
      <vt:lpstr>Frequently asked questions about software engineering </vt:lpstr>
      <vt:lpstr>Frequently asked questions about software engineering</vt:lpstr>
      <vt:lpstr>Software products</vt:lpstr>
      <vt:lpstr>Product specification</vt:lpstr>
      <vt:lpstr>Essential attributes of good software</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Internet software engineering</vt:lpstr>
      <vt:lpstr>Web-based software engineering</vt:lpstr>
      <vt:lpstr>Web software engineering</vt:lpstr>
      <vt:lpstr>Web software engineering</vt:lpstr>
      <vt:lpstr>Software engineering ethics</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Case studies</vt:lpstr>
      <vt:lpstr>Ethical dilemmas</vt:lpstr>
      <vt:lpstr>Case studies</vt:lpstr>
      <vt:lpstr>Insulin pump control system</vt:lpstr>
      <vt:lpstr>Insulin pump hardware architecture</vt:lpstr>
      <vt:lpstr>Activity model of the insulin pump</vt:lpstr>
      <vt:lpstr>Essential high-level requirements</vt:lpstr>
      <vt:lpstr>Mentcare: A patient information system for mental health care</vt:lpstr>
      <vt:lpstr>Mentcare</vt:lpstr>
      <vt:lpstr>Mentcare goals</vt:lpstr>
      <vt:lpstr>The organization of the Mentcare system</vt:lpstr>
      <vt:lpstr>Key features of the Mentcare system</vt:lpstr>
      <vt:lpstr>Mentcare system concerns</vt:lpstr>
      <vt:lpstr>Wilderness weather station</vt:lpstr>
      <vt:lpstr>The weather station’s environment </vt:lpstr>
      <vt:lpstr>Weather information system</vt:lpstr>
      <vt:lpstr>Additional software functionality</vt:lpstr>
      <vt:lpstr>iLearn: A digital learning environment</vt:lpstr>
      <vt:lpstr>Service-oriented systems</vt:lpstr>
      <vt:lpstr>iLearn services</vt:lpstr>
      <vt:lpstr>iLearn architecture</vt:lpstr>
      <vt:lpstr>iLearn service integration</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vehbi1986@gmail.com</cp:lastModifiedBy>
  <cp:revision>33</cp:revision>
  <dcterms:created xsi:type="dcterms:W3CDTF">2009-12-29T10:39:27Z</dcterms:created>
  <dcterms:modified xsi:type="dcterms:W3CDTF">2026-07-27T21:49:28Z</dcterms:modified>
</cp:coreProperties>
</file>