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Mevcut Bölüm 2 sunumunu tamamlayan uygulama sunumudur. Araçlar gerçek ürünlerdir. Kampüs projesi ve bu projeye ait kayıtlar ders için hazırlanmış örneklerdir. Belirli bir kurumun uygulamasını veya ölçülmüş performansını temsil etmez.</a:t>
            </a:r>
          </a:p>
          <a:p>
            <a:endParaRPr/>
          </a:p>
          <a:p>
            <a:endParaRPr/>
          </a:p>
          <a:p>
            <a:endParaRPr/>
          </a:p>
          <a:p>
            <a:r>
              <a:t>Resmî kaynaklar</a:t>
            </a:r>
          </a:p>
          <a:p>
            <a:endParaRPr/>
          </a:p>
          <a:p>
            <a:endParaRP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Araç isimlerini ezberletmek yerine her aracın hangi belirsizliği azalttığını ve hangi kanıtı ürettiğini tartışın. Araç seçimi tek başına süreç modelini belirlemez.</a:t>
            </a:r>
          </a:p>
          <a:p>
            <a:endParaRPr/>
          </a:p>
          <a:p>
            <a:r>
              <a:t>Kaynak sunum: 2, 20, 33–36, 47–53</a:t>
            </a:r>
          </a:p>
          <a:p>
            <a:endParaRPr/>
          </a:p>
          <a:p>
            <a:r>
              <a:t>Resmî kaynaklar</a:t>
            </a:r>
          </a:p>
          <a:p>
            <a:endParaRPr/>
          </a:p>
          <a:p>
            <a:r>
              <a:t>GitHub Projects: https://docs.github.com/en/issues/planning-and-tracking-with-projects/learning-about-projects/about-projects</a:t>
            </a:r>
          </a:p>
          <a:p>
            <a:r>
              <a:t>Unleash özellik bayrakları: https://docs.getunleash.io/concepts/feature-flags</a:t>
            </a:r>
          </a:p>
          <a:p>
            <a:r>
              <a:t>DORA ölçütleri: https://dora.dev/guides/dora-metrics/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Önce öğrencilerden aynı etkinliğe iki kez kayıt, eşzamanlı son koltuk isteği ve yetkisiz yönetici işlemi gibi uç durumları bulmalarını isteyin.</a:t>
            </a:r>
          </a:p>
          <a:p>
            <a:endParaRPr/>
          </a:p>
          <a:p>
            <a:endParaRPr/>
          </a:p>
          <a:p>
            <a:endParaRPr/>
          </a:p>
          <a:p>
            <a:r>
              <a:t>Resmî kaynaklar</a:t>
            </a:r>
          </a:p>
          <a:p>
            <a:endParaRPr/>
          </a:p>
          <a:p>
            <a:endParaRP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 ve GitHub farklı kavramlardır. Git sürüm kontrol sistemidir. GitHub, depoları barındıran ve pull request gibi ekip işlevleri sunan bir platformdur. Commit belirli bir değişiklik kaydı, branch ayrı bir çalışma dalıdır. Öğrenci etkinliği: resmî kaynakta bir branch ve bir merge örneğini inceleyin.</a:t>
            </a:r>
          </a:p>
          <a:p>
            <a:endParaRPr/>
          </a:p>
          <a:p>
            <a:endParaRPr/>
          </a:p>
          <a:p>
            <a:endParaRPr/>
          </a:p>
          <a:p>
            <a:r>
              <a:t>Resmî kaynaklar</a:t>
            </a:r>
          </a:p>
          <a:p>
            <a:endParaRPr/>
          </a:p>
          <a:p>
            <a:r>
              <a:t>Git: https://git-scm.com/</a:t>
            </a:r>
          </a:p>
          <a:p>
            <a:r>
              <a:t>Pull request: https://docs.github.com/en/pull-requests/reference/pull-requests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 uygulamaların belirlenmiş kurallarla iletişim kurduğu arayüzdür. SQL, ilişkisel veriyle çalışırken kullanılan sorgu dilidir. FastAPI uygulamanın servis davranışını, PostgreSQL verinin kalıcı saklanmasını üstlenir. Öğrenci etkinliği: FastAPI ana sayfasındaki küçük örneği ve PostgreSQL giriş sayfasındaki kullanım alanlarını inceleyin.</a:t>
            </a:r>
          </a:p>
          <a:p>
            <a:endParaRPr/>
          </a:p>
          <a:p>
            <a:endParaRPr/>
          </a:p>
          <a:p>
            <a:endParaRPr/>
          </a:p>
          <a:p>
            <a:r>
              <a:t>Resmî kaynaklar</a:t>
            </a:r>
          </a:p>
          <a:p>
            <a:endParaRPr/>
          </a:p>
          <a:p>
            <a:r>
              <a:t>FastAPI: https://fastapi.tiangolo.com/</a:t>
            </a:r>
          </a:p>
          <a:p>
            <a:r>
              <a:t>PostgreSQL: https://www.postgresql.org/about/</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pytest yalnızca birim testleriyle sınırlı değildir. Bütünleştirme testlerini de çalıştırabilir. Playwright tarayıcıdan uçtan uca test için kullanılır ve farklı programlama dilleriyle kullanılabilir. Öğrenci etkinliği: her araç için resmî dokümantasyondaki ilk test örneğini inceleyip aradaki farkı bir cümleyle yazın.</a:t>
            </a:r>
          </a:p>
          <a:p>
            <a:endParaRPr/>
          </a:p>
          <a:p>
            <a:endParaRPr/>
          </a:p>
          <a:p>
            <a:endParaRPr/>
          </a:p>
          <a:p>
            <a:r>
              <a:t>Resmî kaynaklar</a:t>
            </a:r>
          </a:p>
          <a:p>
            <a:endParaRPr/>
          </a:p>
          <a:p>
            <a:r>
              <a:t>pytest: https://docs.pytest.org/en/stable/</a:t>
            </a:r>
          </a:p>
          <a:p>
            <a:r>
              <a:t>Playwright: https://playwright.dev/</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DORA bir test kütüphanesi veya kurulacak tek bir uygulama değildir. Araştırma bulguları ve ölçütler sunar. Metrikleri Git, CI/CD ve olay kayıtları gibi veri kaynaklarından hesaplayan farklı yazılımlar bulunabilir. Öğrenci etkinliği: beş ölçütten birini seçip hangi iki zaman veya sayım kaydına ihtiyaç duyduğunu yazın.</a:t>
            </a:r>
          </a:p>
          <a:p>
            <a:endParaRPr/>
          </a:p>
          <a:p>
            <a:endParaRPr/>
          </a:p>
          <a:p>
            <a:endParaRPr/>
          </a:p>
          <a:p>
            <a:r>
              <a:t>Resmî kaynaklar</a:t>
            </a:r>
          </a:p>
          <a:p>
            <a:endParaRPr/>
          </a:p>
          <a:p>
            <a:r>
              <a:t>DORA araştırma programı: https://dora.dev/</a:t>
            </a:r>
          </a:p>
          <a:p>
            <a:r>
              <a:t>DORA ölçütleri: https://dora.dev/guides/dora-metrics/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Deployment kodun ortama dağıtılması, release ise işlevin kullanıcıya açılması olarak ayrı ele alınabilir. Unleash ile strateji ve bağlam değerlendirmesi üzerinden bu açılış kontrol edilebilir. Öğrenci etkinliği: bekleme listesi için bir bayrak adı ve ilk açılacak kullanıcı grubunu önerin.</a:t>
            </a:r>
          </a:p>
          <a:p>
            <a:endParaRPr/>
          </a:p>
          <a:p>
            <a:endParaRPr/>
          </a:p>
          <a:p>
            <a:endParaRPr/>
          </a:p>
          <a:p>
            <a:r>
              <a:t>Resmî kaynaklar</a:t>
            </a:r>
          </a:p>
          <a:p>
            <a:endParaRPr/>
          </a:p>
          <a:p>
            <a:r>
              <a:t>Unleash özellik bayrakları: https://docs.getunleash.io/concepts/feature-flags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Metrik sayısal ölçüm, log olay kaydı, trace bir isteğin bileşenler arasındaki izidir. OpenTelemetry verileri uygun bir arka uca aktarabilir. Grafana yapılandırılmış veri kaynaklarını kullanır. İki aracı birlikte kullanmak için veri akışı ve saklama arka ucu ayrıca yapılandırılır. Öğrenci etkinliği: “kayıt yavaş” şikâyetinde önce hangi metriğe, sonra hangi trace bilgisine bakacağınızı yazın.</a:t>
            </a:r>
          </a:p>
          <a:p>
            <a:endParaRPr/>
          </a:p>
          <a:p>
            <a:endParaRPr/>
          </a:p>
          <a:p>
            <a:endParaRPr/>
          </a:p>
          <a:p>
            <a:r>
              <a:t>Resmî kaynaklar</a:t>
            </a:r>
          </a:p>
          <a:p>
            <a:endParaRPr/>
          </a:p>
          <a:p>
            <a:r>
              <a:t>OpenTelemetry: https://opentelemetry.io/docs/concepts/signals/</a:t>
            </a:r>
          </a:p>
          <a:p>
            <a:r>
              <a:t>Grafana: https://grafana.com/docs/grafana/latest/fundamentals/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Dosya adları örnektir. Gereksinim, kod, test ve sürüm arasında bağlantı kurulduğunda ekip değişikliğin neden yapıldığını izleyebilir.</a:t>
            </a:r>
          </a:p>
          <a:p>
            <a:endParaRPr/>
          </a:p>
          <a:p>
            <a:r>
              <a:t>Kaynak sunum: 3, 20–32</a:t>
            </a:r>
          </a:p>
          <a:p>
            <a:endParaRPr/>
          </a:p>
          <a:p>
            <a:r>
              <a:t>Resmî kaynaklar</a:t>
            </a:r>
          </a:p>
          <a:p>
            <a:endParaRPr/>
          </a:p>
          <a:p>
            <a:r>
              <a:t>GitHub Projects: https://docs.github.com/en/issues/planning-and-tracking-with-projects/learning-about-projects/about-projects</a:t>
            </a:r>
          </a:p>
          <a:p>
            <a:r>
              <a:t>draw.io UML: https://www.drawio.com/docs/diagram-types/uml/</a:t>
            </a:r>
          </a:p>
          <a:p>
            <a:r>
              <a:t>OpenAPI: https://spec.openapis.org/oas/latest.html</a:t>
            </a:r>
          </a:p>
          <a:p>
            <a:r>
              <a:t>FastAPI: https://fastapi.tiangolo.com/features/</a:t>
            </a:r>
          </a:p>
          <a:p>
            <a:r>
              <a:t>pytest: https://docs.pytest.org/en/stable/</a:t>
            </a:r>
          </a:p>
          <a:p>
            <a:r>
              <a:t>Playwright: https://playwright.dev/docs/writing-tests</a:t>
            </a:r>
          </a:p>
          <a:p>
            <a:r>
              <a:t>Unleash özellik bayrakları: https://docs.getunleash.io/concepts/feature-flags</a:t>
            </a:r>
          </a:p>
          <a:p>
            <a:r>
              <a:t>OpenTelemetry: https://opentelemetry.io/docs/concepts/signals/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slayt plan odaklı bir uygulama örneğidir. Şelale kullanan ekipler de Git ve otomatik test kullanabilir. Onay mekanizması yalnızca dosya üretmekten ibaret değildir.</a:t>
            </a:r>
          </a:p>
          <a:p>
            <a:endParaRPr/>
          </a:p>
          <a:p>
            <a:r>
              <a:t>Kaynak sunum: 6–10</a:t>
            </a:r>
          </a:p>
          <a:p>
            <a:endParaRPr/>
          </a:p>
          <a:p>
            <a:r>
              <a:t>Resmî kaynaklar</a:t>
            </a:r>
          </a:p>
          <a:p>
            <a:endParaRPr/>
          </a:p>
          <a:p>
            <a:r>
              <a:t>Git dalları: https://git-scm.com/book/en/v2/Git-Branching-Basic-Branching-and-Merging</a:t>
            </a:r>
          </a:p>
          <a:p>
            <a:r>
              <a:t>GitHub Projects: https://docs.github.com/en/issues/planning-and-tracking-with-projects/learning-about-projects/about-projects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Sürümler ve geri bildirimler ders senaryosuna aittir. Geliştirilmiş bir artımın mutlaka anında üretime çıkması gerekmez. Scrum artım, inceleme ve uyarlama kavramlarını destekler.</a:t>
            </a:r>
          </a:p>
          <a:p>
            <a:endParaRPr/>
          </a:p>
          <a:p>
            <a:r>
              <a:t>Kaynak sunum: 11–14, 42–46</a:t>
            </a:r>
          </a:p>
          <a:p>
            <a:endParaRPr/>
          </a:p>
          <a:p>
            <a:r>
              <a:t>Resmî kaynaklar</a:t>
            </a:r>
          </a:p>
          <a:p>
            <a:endParaRPr/>
          </a:p>
          <a:p>
            <a:r>
              <a:t>GitHub Projects: https://docs.github.com/en/issues/planning-and-tracking-with-projects/learning-about-projects/about-projects</a:t>
            </a:r>
          </a:p>
          <a:p>
            <a:r>
              <a:t>Scrum Guide: https://scrumguides.org/scrum-guide.html</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Scrum bir araç ya da sadece pano değildir. Ürün hedefi, sorumluluklar, etkinlikler ve tamamlanma tanımı süreç kararlarıdır. GitHub Projects burada somut araç örneğidir.</a:t>
            </a:r>
          </a:p>
          <a:p>
            <a:endParaRPr/>
          </a:p>
          <a:p>
            <a:r>
              <a:t>Kaynak sunum: 4–5, 49</a:t>
            </a:r>
          </a:p>
          <a:p>
            <a:endParaRPr/>
          </a:p>
          <a:p>
            <a:r>
              <a:t>Resmî kaynaklar</a:t>
            </a:r>
          </a:p>
          <a:p>
            <a:endParaRPr/>
          </a:p>
          <a:p>
            <a:r>
              <a:t>GitHub Projects: https://docs.github.com/en/issues/planning-and-tracking-with-projects/learning-about-projects/about-projects</a:t>
            </a:r>
          </a:p>
          <a:p>
            <a:r>
              <a:t>Scrum Guide: https://scrumguides.org/scrum-guide.html</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Keycloak OIDC ve SAML gibi standartlarla bütünleşme sunar. Kullanıcıyı tanımak ile etkinlik yönetme yetkisi vermek ayrı denetimlerdir. Hazır bileşen, bakım ve entegrasyon işini ortadan kaldırmaz.</a:t>
            </a:r>
          </a:p>
          <a:p>
            <a:endParaRPr/>
          </a:p>
          <a:p>
            <a:r>
              <a:t>Kaynak sunum: 15–18</a:t>
            </a:r>
          </a:p>
          <a:p>
            <a:endParaRPr/>
          </a:p>
          <a:p>
            <a:r>
              <a:t>Resmî kaynaklar</a:t>
            </a:r>
          </a:p>
          <a:p>
            <a:endParaRPr/>
          </a:p>
          <a:p>
            <a:r>
              <a:t>Keycloak: https://www.keycloak.org/securing-apps/overview</a:t>
            </a:r>
          </a:p>
          <a:p>
            <a:r>
              <a:t>PostgreSQL kısıtları: https://www.postgresql.org/docs/current/ddl-constraints.html</a:t>
            </a:r>
          </a:p>
          <a:p>
            <a:r>
              <a:t>Dependabot: https://docs.github.com/en/code-security/concepts/supply-chain-security/dependabot-alerts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Issue numarası örnektir. Paydaş gereksinimi onaylar, geliştirici teknik yaklaşımı açıklar ve test sorumlusu her kabul ölçütünün nasıl kontrol edileceğini belirler.</a:t>
            </a:r>
          </a:p>
          <a:p>
            <a:endParaRPr/>
          </a:p>
          <a:p>
            <a:r>
              <a:t>Kaynak sunum: 21–22</a:t>
            </a:r>
          </a:p>
          <a:p>
            <a:endParaRPr/>
          </a:p>
          <a:p>
            <a:r>
              <a:t>Resmî kaynaklar</a:t>
            </a:r>
          </a:p>
          <a:p>
            <a:endParaRPr/>
          </a:p>
          <a:p>
            <a:r>
              <a:t>GitHub Projects: https://docs.github.com/en/issues/planning-and-tracking-with-projects/learning-about-projects/about-projects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Performans hedefinde donanım, veri miktarı, eşzamanlı kullanıcı ve ölçüm süresi de tanımlanmalıdır. Güvenlik tek bir kabul ölçütüyle tamamlanmış sayılmaz.</a:t>
            </a:r>
          </a:p>
          <a:p>
            <a:endParaRPr/>
          </a:p>
          <a:p>
            <a:r>
              <a:t>Kaynak sunum: 22, 27–29</a:t>
            </a:r>
          </a:p>
          <a:p>
            <a:endParaRPr/>
          </a:p>
          <a:p>
            <a:r>
              <a:t>Resmî kaynaklar</a:t>
            </a:r>
          </a:p>
          <a:p>
            <a:endParaRPr/>
          </a:p>
          <a:p>
            <a:endParaRP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Bir prototipin çıktısı yalnızca ekran değildir. Gözlem notu ve hangi gereksinimin değiştiği de kaydedilir. Araç seçimi örnektir, her projeye aynı araç seti gerekmez.</a:t>
            </a:r>
          </a:p>
          <a:p>
            <a:endParaRPr/>
          </a:p>
          <a:p>
            <a:r>
              <a:t>Kaynak sunum: 35–41</a:t>
            </a:r>
          </a:p>
          <a:p>
            <a:endParaRPr/>
          </a:p>
          <a:p>
            <a:r>
              <a:t>Resmî kaynaklar</a:t>
            </a:r>
          </a:p>
          <a:p>
            <a:endParaRPr/>
          </a:p>
          <a:p>
            <a:r>
              <a:t>Figma prototipleme: https://www.figma.com/prototyping/</a:t>
            </a:r>
          </a:p>
          <a:p>
            <a:r>
              <a:t>Streamlit: https://docs.streamlit.io/get-started</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Başlangıç senaryosu için tek uygulama servisi yeterli kabul edilir. Mikroservis zorunlu değildir. Karar kaydı seçenekleri, gerekçeyi ve ileride yeniden değerlendirme koşulunu içerir.</a:t>
            </a:r>
          </a:p>
          <a:p>
            <a:endParaRPr/>
          </a:p>
          <a:p>
            <a:r>
              <a:t>Kaynak sunum: 23–25</a:t>
            </a:r>
          </a:p>
          <a:p>
            <a:endParaRPr/>
          </a:p>
          <a:p>
            <a:r>
              <a:t>Resmî kaynaklar</a:t>
            </a:r>
          </a:p>
          <a:p>
            <a:endParaRPr/>
          </a:p>
          <a:p>
            <a:r>
              <a:t>draw.io UML: https://www.drawio.com/docs/diagram-types/uml/</a:t>
            </a:r>
          </a:p>
          <a:p>
            <a:r>
              <a:t>OpenAPI: https://spec.openapis.org/oas/latest.html</a:t>
            </a:r>
          </a:p>
          <a:p>
            <a:r>
              <a:t>FastAPI: https://fastapi.tiangolo.com/features/</a:t>
            </a:r>
          </a:p>
          <a:p>
            <a:r>
              <a:t>PostgreSQL kısıtları: https://www.postgresql.org/docs/current/ddl-constraints.html</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sözleşmenin kavramsal HTTP örneğidir ve tam OpenAPI YAML belgesi değildir. event_id, registration_id, hata kodları ve yanıt tercihleri ders için belirlenmiştir. Kullanıcı kimliği erişim belirtecinden elde edilir.</a:t>
            </a:r>
          </a:p>
          <a:p>
            <a:endParaRPr/>
          </a:p>
          <a:p>
            <a:r>
              <a:t>Kaynak sunum: 24–25</a:t>
            </a:r>
          </a:p>
          <a:p>
            <a:endParaRPr/>
          </a:p>
          <a:p>
            <a:r>
              <a:t>Resmî kaynaklar</a:t>
            </a:r>
          </a:p>
          <a:p>
            <a:endParaRPr/>
          </a:p>
          <a:p>
            <a:r>
              <a:t>OpenAPI: https://spec.openapis.org/oas/latest.html</a:t>
            </a:r>
          </a:p>
          <a:p>
            <a:r>
              <a:t>FastAPI: https://fastapi.tiangolo.com/features/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Kesit sözdizimi olarak çalışabilir. Tam şemada event_id ve student_id ilgili tablolara dış anahtarla bağlanmalıdır. UNIQUE toplam kontenjanı korumaz. Son koltuk işlemi için transaction içinde uygun kilitleme veya atomik güncelleme gerekir.</a:t>
            </a:r>
          </a:p>
          <a:p>
            <a:endParaRPr/>
          </a:p>
          <a:p>
            <a:r>
              <a:t>Kaynak sunum: 25</a:t>
            </a:r>
          </a:p>
          <a:p>
            <a:endParaRPr/>
          </a:p>
          <a:p>
            <a:r>
              <a:t>Resmî kaynaklar</a:t>
            </a:r>
          </a:p>
          <a:p>
            <a:endParaRPr/>
          </a:p>
          <a:p>
            <a:r>
              <a:t>PostgreSQL kısıtları: https://www.postgresql.org/docs/current/ddl-constraints.html</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Komutlar origin uzak bağlantısı ayarlanmış bir depoyu ve var olan src/tests klasörlerini varsayar. Öğrencilere commit ile push işlemlerinin farklı olduğunu gösterin.</a:t>
            </a:r>
          </a:p>
          <a:p>
            <a:endParaRPr/>
          </a:p>
          <a:p>
            <a:r>
              <a:t>Kaynak sunum: 26, 31–32</a:t>
            </a:r>
          </a:p>
          <a:p>
            <a:endParaRPr/>
          </a:p>
          <a:p>
            <a:r>
              <a:t>Resmî kaynaklar</a:t>
            </a:r>
          </a:p>
          <a:p>
            <a:endParaRPr/>
          </a:p>
          <a:p>
            <a:r>
              <a:t>Git dalları: https://git-scm.com/book/en/v2/Git-Branching-Basic-Branching-and-Merging</a:t>
            </a:r>
          </a:p>
          <a:p>
            <a:r>
              <a:t>Pull request: https://docs.github.com/en/pull-requests/reference/pull-requests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 ve issue numaraları ders örneğidir. Depo kurallarının nasıl ayarlandığına bağlı olarak onay veya test zorunlu olabilir. Pull request açmak tek başına kalite güvencesi sağlamaz.</a:t>
            </a:r>
          </a:p>
          <a:p>
            <a:endParaRPr/>
          </a:p>
          <a:p>
            <a:r>
              <a:t>Kaynak sunum: 26–27, 31–32</a:t>
            </a:r>
          </a:p>
          <a:p>
            <a:endParaRPr/>
          </a:p>
          <a:p>
            <a:r>
              <a:t>Resmî kaynaklar</a:t>
            </a:r>
          </a:p>
          <a:p>
            <a:endParaRPr/>
          </a:p>
          <a:p>
            <a:r>
              <a:t>Pull request: https://docs.github.com/en/pull-requests/reference/pull-requests</a:t>
            </a:r>
          </a:p>
          <a:p>
            <a:r>
              <a:t>GitHub Actions: https://docs.github.com/en/actions/get-started/understand-github-actions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olay ve kontenjan değeri kurgusaldır. Tek birim testi paralel işlemlerin davranışını kanıtlamaz. Loglara erişim belirteci veya kişisel veri yazılmamalıdır.</a:t>
            </a:r>
          </a:p>
          <a:p>
            <a:endParaRPr/>
          </a:p>
          <a:p>
            <a:r>
              <a:t>Kaynak sunum: 26–29</a:t>
            </a:r>
          </a:p>
          <a:p>
            <a:endParaRPr/>
          </a:p>
          <a:p>
            <a:r>
              <a:t>Resmî kaynaklar</a:t>
            </a:r>
          </a:p>
          <a:p>
            <a:endParaRPr/>
          </a:p>
          <a:p>
            <a:endParaRP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Bütünleştirme testinde gerçek PostgreSQL örneği ve kontrollü test verisi kullanılması bir tercih örneğidir. Kabul testleri de otomatikleştirilebilir, ancak paydaşın beklenen davranışı onaylaması gerekir.</a:t>
            </a:r>
          </a:p>
          <a:p>
            <a:endParaRPr/>
          </a:p>
          <a:p>
            <a:r>
              <a:t>Kaynak sunum: 27–30</a:t>
            </a:r>
          </a:p>
          <a:p>
            <a:endParaRPr/>
          </a:p>
          <a:p>
            <a:r>
              <a:t>Resmî kaynaklar</a:t>
            </a:r>
          </a:p>
          <a:p>
            <a:endParaRPr/>
          </a:p>
          <a:p>
            <a:r>
              <a:t>pytest: https://docs.pytest.org/en/stable/</a:t>
            </a:r>
          </a:p>
          <a:p>
            <a:r>
              <a:t>Playwright: https://playwright.dev/docs/writing-tests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Örneği test_kayit.py olarak kaydedin. pytest kurulu ortamda pytest -q ile çalıştırın. Bu kod tam kayıt sistemi değildir. Negatif değer gibi ek giriş doğrulamaları kapsam dışında tutulmuştur.</a:t>
            </a:r>
          </a:p>
          <a:p>
            <a:endParaRPr/>
          </a:p>
          <a:p>
            <a:r>
              <a:t>Kaynak sunum: 28–29</a:t>
            </a:r>
          </a:p>
          <a:p>
            <a:endParaRPr/>
          </a:p>
          <a:p>
            <a:r>
              <a:t>Resmî kaynaklar</a:t>
            </a:r>
          </a:p>
          <a:p>
            <a:endParaRPr/>
          </a:p>
          <a:p>
            <a:r>
              <a:t>pytest: https://docs.pytest.org/en/stable/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kesit, Playwright projesi, giriş yapmış kullanıcıya ait storageState veya eşdeğer fixture ve role=status içeren örnek uygulama ister. Kayıt ol düğmesi ve mesaj bu dersin arayüz sözleşmesidir. Çalışan sisteme uyarlanmadan doğrudan çalışmaz.</a:t>
            </a:r>
          </a:p>
          <a:p>
            <a:endParaRPr/>
          </a:p>
          <a:p>
            <a:r>
              <a:t>Kaynak sunum: 28–29</a:t>
            </a:r>
          </a:p>
          <a:p>
            <a:endParaRPr/>
          </a:p>
          <a:p>
            <a:r>
              <a:t>Resmî kaynaklar</a:t>
            </a:r>
          </a:p>
          <a:p>
            <a:endParaRPr/>
          </a:p>
          <a:p>
            <a:r>
              <a:t>Playwright: https://playwright.dev/docs/writing-tests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Tablo, V modelini ders örneğine bağlayan bir eşleştirmedir. Her ekipte test adlandırmaları değişebilir. Amaç sol tarafta verilen kararların sağ tarafta hangi testle kontrol edildiğini göstermektir.</a:t>
            </a:r>
          </a:p>
          <a:p>
            <a:endParaRPr/>
          </a:p>
          <a:p>
            <a:r>
              <a:t>Kaynak sunum: 30</a:t>
            </a:r>
          </a:p>
          <a:p>
            <a:endParaRPr/>
          </a:p>
          <a:p>
            <a:r>
              <a:t>Resmî kaynaklar</a:t>
            </a:r>
          </a:p>
          <a:p>
            <a:endParaRPr/>
          </a:p>
          <a:p>
            <a:r>
              <a:t>pytest: https://docs.pytest.org/en/stable/</a:t>
            </a:r>
          </a:p>
          <a:p>
            <a:r>
              <a:t>OpenAPI: https://spec.openapis.org/oas/latest.html</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GitHub Actions yapılandırması YAML biçimindedir. Buradaki maddeler tam workflow kodu değildir. CI continuous integration, CD ise bağlama göre continuous delivery veya continuous deployment anlamına gelir. Otomatik yayın için uygun testler ve yetkiler gerekir.</a:t>
            </a:r>
          </a:p>
          <a:p>
            <a:endParaRPr/>
          </a:p>
          <a:p>
            <a:r>
              <a:t>Kaynak sunum: 26–30, 42–46</a:t>
            </a:r>
          </a:p>
          <a:p>
            <a:endParaRPr/>
          </a:p>
          <a:p>
            <a:r>
              <a:t>Resmî kaynaklar</a:t>
            </a:r>
          </a:p>
          <a:p>
            <a:endParaRPr/>
          </a:p>
          <a:p>
            <a:r>
              <a:t>GitHub Actions: https://docs.github.com/en/actions/get-started/understand-github-actions</a:t>
            </a:r>
          </a:p>
          <a:p>
            <a:r>
              <a:t>Docker Compose: https://docs.docker.com/compose/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bir yerel geliştirme kesitidir, tam üretim yapılandırması değildir. API .env içindeki bağlantı ayarlarıyla db servisine bağlanır. DB_PASSWORD ortam değişkeni veya Compose .env dosyasında tanımlanır. Kalıcı volume, sağlık kontrolü, migration ve üretim sır yönetimi ayrıca gerekir. postgres:17 örnek sürüm hattıdır, en güncel sürüm iddiası değildir.</a:t>
            </a:r>
          </a:p>
          <a:p>
            <a:endParaRPr/>
          </a:p>
          <a:p>
            <a:r>
              <a:t>Kaynak sunum: 23–26, 31–32</a:t>
            </a:r>
          </a:p>
          <a:p>
            <a:endParaRPr/>
          </a:p>
          <a:p>
            <a:r>
              <a:t>Resmî kaynaklar</a:t>
            </a:r>
          </a:p>
          <a:p>
            <a:endParaRPr/>
          </a:p>
          <a:p>
            <a:r>
              <a:t>Docker Compose: https://docs.docker.com/compose/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Staging, hazırlık veya ön üretim ortamı olarak da adlandırılır. Örnek yayın kararında test sonucu, sorumlu onayı ve geri dönüş planı birlikte ele alınır. Üretim verisini test ortamına kopyalamak zorunlu değildir ve mahremiyet riski yaratabilir.</a:t>
            </a:r>
          </a:p>
          <a:p>
            <a:endParaRPr/>
          </a:p>
          <a:p>
            <a:r>
              <a:t>Kaynak sunum: 31–32, 42–46</a:t>
            </a:r>
          </a:p>
          <a:p>
            <a:endParaRPr/>
          </a:p>
          <a:p>
            <a:r>
              <a:t>Resmî kaynaklar</a:t>
            </a:r>
          </a:p>
          <a:p>
            <a:endParaRPr/>
          </a:p>
          <a:p>
            <a:r>
              <a:t>GitHub Actions: https://docs.github.com/en/actions/get-started/understand-github-actions</a:t>
            </a:r>
          </a:p>
          <a:p>
            <a:r>
              <a:t>Docker Compose: https://docs.docker.com/compose/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Pilot kulüp senaryosu varsayımsaldır. Özellik bayraklarının yaşam döngüsü yönetilmelidir. Kalıcı hâle gelen davranıştan sonra gereksiz bayrak ve eski kod temizlenir.</a:t>
            </a:r>
          </a:p>
          <a:p>
            <a:endParaRPr/>
          </a:p>
          <a:p>
            <a:r>
              <a:t>Kaynak sunum: 34–36, 42–46</a:t>
            </a:r>
          </a:p>
          <a:p>
            <a:endParaRPr/>
          </a:p>
          <a:p>
            <a:r>
              <a:t>Resmî kaynaklar</a:t>
            </a:r>
          </a:p>
          <a:p>
            <a:endParaRPr/>
          </a:p>
          <a:p>
            <a:r>
              <a:t>Unleash özellik bayrakları: https://docs.getunleash.io/concepts/feature-flags</a:t>
            </a:r>
          </a:p>
          <a:p>
            <a:r>
              <a:t>GitHub Projects: https://docs.github.com/en/issues/planning-and-tracking-with-projects/learning-about-projects/about-projects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OpenTelemetry sinyal üretme, toplama ve dışa aktarma yaklaşımı sunar. Grafana bu verileri uygun veri kaynaklarından sorgular ve görselleştirir. Örnekte metrik, log ve trace odak alınmıştır. Uyarı bunları kullanan işletim kararıdır.</a:t>
            </a:r>
          </a:p>
          <a:p>
            <a:endParaRPr/>
          </a:p>
          <a:p>
            <a:r>
              <a:t>Kaynak sunum: 31–32, 51–53</a:t>
            </a:r>
          </a:p>
          <a:p>
            <a:endParaRPr/>
          </a:p>
          <a:p>
            <a:r>
              <a:t>Resmî kaynaklar</a:t>
            </a:r>
          </a:p>
          <a:p>
            <a:endParaRPr/>
          </a:p>
          <a:p>
            <a:r>
              <a:t>OpenTelemetry: https://opentelemetry.io/docs/concepts/signals/</a:t>
            </a:r>
          </a:p>
          <a:p>
            <a:r>
              <a:t>Grafana: https://grafana.com/docs/grafana/latest/fundamentals/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bir ders olayıdır. Sorumlu ekip, zaman çizelgesi, etki ve alınan önlemler kayıt altına alınır. Güvenlik uyarısı her zaman üretim arızası demek değildir. Uygulanabilirlik ve düzeltme önceliği değerlendirilir.</a:t>
            </a:r>
          </a:p>
          <a:p>
            <a:endParaRPr/>
          </a:p>
          <a:p>
            <a:r>
              <a:t>Kaynak sunum: 26, 31–32, 48–51</a:t>
            </a:r>
          </a:p>
          <a:p>
            <a:endParaRPr/>
          </a:p>
          <a:p>
            <a:r>
              <a:t>Resmî kaynaklar</a:t>
            </a:r>
          </a:p>
          <a:p>
            <a:endParaRPr/>
          </a:p>
          <a:p>
            <a:r>
              <a:t>OpenTelemetry: https://opentelemetry.io/docs/concepts/signals/</a:t>
            </a:r>
          </a:p>
          <a:p>
            <a:r>
              <a:t>Dependabot: https://docs.github.com/en/code-security/concepts/supply-chain-security/dependabot-alerts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DORA’nın 5 Ocak 2026 güncellemeli rehberi beş ölçüt kullanır. Eski kaynaklardaki dört ölçüt anlatımıyla karıştırmayın. Sınırları ve olay/dağıtım tanımlarını ölçümden önce belirleyin.</a:t>
            </a:r>
          </a:p>
          <a:p>
            <a:endParaRPr/>
          </a:p>
          <a:p>
            <a:r>
              <a:t>Kaynak sunum: 51–53</a:t>
            </a:r>
          </a:p>
          <a:p>
            <a:endParaRPr/>
          </a:p>
          <a:p>
            <a:r>
              <a:t>Resmî kaynaklar</a:t>
            </a:r>
          </a:p>
          <a:p>
            <a:endParaRPr/>
          </a:p>
          <a:p>
            <a:r>
              <a:t>DORA ölçütleri: https://dora.dev/guides/dora-metrics/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Metrik iyileştirme hedefinin yerine geçmez. Kişileri hızlı incelemeye zorlamak yüzeysel onaya yol açabilir. Süre ile birlikte üretim kusuru ve yeniden çalışma gözlenir.</a:t>
            </a:r>
          </a:p>
          <a:p>
            <a:endParaRPr/>
          </a:p>
          <a:p>
            <a:r>
              <a:t>Kaynak sunum: 48–53</a:t>
            </a:r>
          </a:p>
          <a:p>
            <a:endParaRPr/>
          </a:p>
          <a:p>
            <a:r>
              <a:t>Resmî kaynaklar</a:t>
            </a:r>
          </a:p>
          <a:p>
            <a:endParaRPr/>
          </a:p>
          <a:p>
            <a:r>
              <a:t>DORA ölçütleri: https://dora.dev/guides/dora-metrics/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slayt, kaynak sunumdaki olgunluk yaklaşımını örnek kanıtlarla açıklar. Resmî düzey tayini veya appraisal önerisi değildir. Kaynak sunum tarihsel SEI modelini de içerir, güncel CMMI terminolojisiyle birebir eşleştirme yapılmamıştır.</a:t>
            </a:r>
          </a:p>
          <a:p>
            <a:endParaRPr/>
          </a:p>
          <a:p>
            <a:r>
              <a:t>Kaynak sunum: 49, 54–55</a:t>
            </a:r>
          </a:p>
          <a:p>
            <a:endParaRPr/>
          </a:p>
          <a:p>
            <a:r>
              <a:t>Resmî kaynaklar</a:t>
            </a:r>
          </a:p>
          <a:p>
            <a:endParaRPr/>
          </a:p>
          <a:p>
            <a:r>
              <a:t>CMMI düzeyleri: https://cmmiinstitute.com/learning/appraisals/levels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Önerilen ders uygulaması 20–25 dakikadır. Beklenen yanıt örneği: yalnızca kayıt sahibi iptal eder, aynı iptal iki kez koltuk artırmaz, bekleme listesinden geçiş belirlenmiş sıra kuralına uyar. Bir sonraki slaytta yaşam döngüsü bağlantılarını tekrar kurun.</a:t>
            </a:r>
          </a:p>
          <a:p>
            <a:endParaRPr/>
          </a:p>
          <a:p>
            <a:endParaRPr/>
          </a:p>
          <a:p>
            <a:endParaRPr/>
          </a:p>
          <a:p>
            <a:r>
              <a:t>Resmî kaynaklar</a:t>
            </a:r>
          </a:p>
          <a:p>
            <a:endParaRPr/>
          </a:p>
          <a:p>
            <a:endParaRP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maddeler ders projesi için örnek tamamlanma kontrolüdür. Her ürünün kalite ve mevzuat ihtiyaçları aynı değildir. Öğrenciden bir araç adı değil, aracın ürettiği çıktıyı söylemesini isteyin.</a:t>
            </a:r>
          </a:p>
          <a:p>
            <a:endParaRPr/>
          </a:p>
          <a:p>
            <a:r>
              <a:t>Kaynak sunum: 56–58</a:t>
            </a:r>
          </a:p>
          <a:p>
            <a:endParaRPr/>
          </a:p>
          <a:p>
            <a:r>
              <a:t>Resmî kaynaklar</a:t>
            </a:r>
          </a:p>
          <a:p>
            <a:endParaRPr/>
          </a:p>
          <a:p>
            <a:r>
              <a:t>Pull request: https://docs.github.com/en/pull-requests/reference/pull-requests</a:t>
            </a:r>
          </a:p>
          <a:p>
            <a:r>
              <a:t>GitHub Actions: https://docs.github.com/en/actions/get-started/understand-github-actions</a:t>
            </a:r>
          </a:p>
          <a:p>
            <a:r>
              <a:t>pytest: https://docs.pytest.org/en/stable/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Araç işlevleri resmî dokümantasyondan kontrol edilmiştir. Bağlantılar ilgili slaytların konuşmacı notlarında da yer alır. Erişim: 14 Ekim 2026.</a:t>
            </a:r>
          </a:p>
          <a:p>
            <a:endParaRPr/>
          </a:p>
          <a:p>
            <a:endParaRPr/>
          </a:p>
          <a:p>
            <a:endParaRPr/>
          </a:p>
          <a:p>
            <a:r>
              <a:t>Resmî kaynaklar</a:t>
            </a:r>
          </a:p>
          <a:p>
            <a:endParaRPr/>
          </a:p>
          <a:p>
            <a:r>
              <a:t>GitHub Projects: https://docs.github.com/en/issues/planning-and-tracking-with-projects/learning-about-projects/about-projects</a:t>
            </a:r>
          </a:p>
          <a:p>
            <a:r>
              <a:t>Git dalları: https://git-scm.com/book/en/v2/Git-Branching-Basic-Branching-and-Merging</a:t>
            </a:r>
          </a:p>
          <a:p>
            <a:r>
              <a:t>Pull request: https://docs.github.com/en/pull-requests/reference/pull-requests</a:t>
            </a:r>
          </a:p>
          <a:p>
            <a:r>
              <a:t>GitHub Actions: https://docs.github.com/en/actions/get-started/understand-github-actions</a:t>
            </a:r>
          </a:p>
          <a:p>
            <a:r>
              <a:t>OpenAPI: https://spec.openapis.org/oas/latest.html</a:t>
            </a:r>
          </a:p>
          <a:p>
            <a:r>
              <a:t>FastAPI: https://fastapi.tiangolo.com/features/</a:t>
            </a:r>
          </a:p>
          <a:p>
            <a:r>
              <a:t>PostgreSQL kısıtları: https://www.postgresql.org/docs/current/ddl-constraints.html</a:t>
            </a:r>
          </a:p>
          <a:p>
            <a:r>
              <a:t>pytest: https://docs.pytest.org/en/stable/</a:t>
            </a:r>
          </a:p>
          <a:p>
            <a:r>
              <a:t>Playwright: https://playwright.dev/docs/writing-tests</a:t>
            </a:r>
          </a:p>
          <a:p>
            <a:r>
              <a:t>Docker Compose: https://docs.docker.com/compose/</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Temel konu sırası kullanıcının 02_Yazilim_Surecleri_Turkce.pptx sunumundan alınmıştır. Bu ek sunumdaki kampüs senaryosu, kod kesitleri ve sayılar öğretim örnekleridir. Erişim: 14 Ekim 2026.</a:t>
            </a:r>
          </a:p>
          <a:p>
            <a:endParaRPr/>
          </a:p>
          <a:p>
            <a:endParaRPr/>
          </a:p>
          <a:p>
            <a:endParaRPr/>
          </a:p>
          <a:p>
            <a:r>
              <a:t>Resmî kaynaklar</a:t>
            </a:r>
          </a:p>
          <a:p>
            <a:endParaRPr/>
          </a:p>
          <a:p>
            <a:r>
              <a:t>Figma prototipleme: https://www.figma.com/prototyping/</a:t>
            </a:r>
          </a:p>
          <a:p>
            <a:r>
              <a:t>Streamlit: https://docs.streamlit.io/get-started</a:t>
            </a:r>
          </a:p>
          <a:p>
            <a:r>
              <a:t>draw.io UML: https://www.drawio.com/docs/diagram-types/uml/</a:t>
            </a:r>
          </a:p>
          <a:p>
            <a:r>
              <a:t>Keycloak: https://www.keycloak.org/securing-apps/overview</a:t>
            </a:r>
          </a:p>
          <a:p>
            <a:r>
              <a:t>Unleash özellik bayrakları: https://docs.getunleash.io/concepts/feature-flags</a:t>
            </a:r>
          </a:p>
          <a:p>
            <a:r>
              <a:t>OpenTelemetry: https://opentelemetry.io/docs/concepts/signals/</a:t>
            </a:r>
          </a:p>
          <a:p>
            <a:r>
              <a:t>Grafana: https://grafana.com/docs/grafana/latest/fundamentals/</a:t>
            </a:r>
          </a:p>
          <a:p>
            <a:r>
              <a:t>DORA ölçütleri: https://dora.dev/guides/dora-metrics/</a:t>
            </a:r>
          </a:p>
          <a:p>
            <a:r>
              <a:t>CMMI düzeyleri: https://cmmiinstitute.com/learning/appraisals/levels</a:t>
            </a:r>
          </a:p>
          <a:p>
            <a:r>
              <a:t>Scrum Guide: https://scrumguides.org/scrum-guide.html</a:t>
            </a:r>
          </a:p>
          <a:p>
            <a:r>
              <a:t>Dependabot: https://docs.github.com/en/code-security/concepts/supply-chain-security/dependabot-alerts</a:t>
            </a:r>
          </a:p>
          <a:p>
            <a:endParaRPr/>
          </a:p>
          <a:p>
            <a:r>
              <a:t>Ders senaryosu: örnek proje, kayıtlar, uç noktalar ve sayılar öğretim amacıyla hazırlanmıştır.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E111CDC-EA37-4ACC-A4D7-0A54F4EE460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EBA6A88-8520-420D-A42A-F45B013C8D6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4022594-EC3F-42BF-8CD2-345C82351FA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F412B3-98D4-489F-9BF4-A2650F19CDB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AEB0655-AB4F-4167-916C-16687832C1B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42AA622-92CB-45D3-9C73-31FED2CBFCE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5C98740-5019-45C4-93F7-FFFA0697B1C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6B22792-8E6D-4B59-A6D0-409D9ABE9CE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7C58B3C-8A90-4328-99FD-FFA3650A42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F88C232-319F-48E2-B9EC-E787414B94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docs.github.com/en/pull-requests/reference/pull-requests"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fastapi.tiangolo.com/"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www.postgresql.org/abou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pytest.org/en/stable/"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s://playwright.dev/"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ra.dev/guides/dora-metrics/"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docs.getunleash.io/concepts/feature-flags"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opentelemetry.io/docs/concepts/signals/"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hyperlink" Target="https://grafana.com/docs/grafana/latest/fundamental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hyperlink" Target="https://fastapi.tiangolo.com/features/" TargetMode="External"/><Relationship Id="rId3" Type="http://schemas.openxmlformats.org/officeDocument/2006/relationships/hyperlink" Target="https://docs.github.com/en/issues/planning-and-tracking-with-projects/learning-about-projects/about-projects" TargetMode="External"/><Relationship Id="rId7" Type="http://schemas.openxmlformats.org/officeDocument/2006/relationships/hyperlink" Target="https://spec.openapis.org/oas/latest.html" TargetMode="External"/><Relationship Id="rId12" Type="http://schemas.openxmlformats.org/officeDocument/2006/relationships/hyperlink" Target="https://docs.docker.com/compose/"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hyperlink" Target="https://docs.github.com/en/actions/get-started/understand-github-actions" TargetMode="External"/><Relationship Id="rId11" Type="http://schemas.openxmlformats.org/officeDocument/2006/relationships/hyperlink" Target="https://playwright.dev/docs/writing-tests" TargetMode="External"/><Relationship Id="rId5" Type="http://schemas.openxmlformats.org/officeDocument/2006/relationships/hyperlink" Target="https://docs.github.com/en/pull-requests/reference/pull-requests" TargetMode="External"/><Relationship Id="rId10" Type="http://schemas.openxmlformats.org/officeDocument/2006/relationships/hyperlink" Target="https://docs.pytest.org/en/stable/" TargetMode="External"/><Relationship Id="rId4" Type="http://schemas.openxmlformats.org/officeDocument/2006/relationships/hyperlink" Target="https://git-scm.com/book/en/v2/Git-Branching-Basic-Branching-and-Merging" TargetMode="External"/><Relationship Id="rId9" Type="http://schemas.openxmlformats.org/officeDocument/2006/relationships/hyperlink" Target="https://www.postgresql.org/docs/current/ddl-constraints.html"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opentelemetry.io/docs/concepts/signals/" TargetMode="External"/><Relationship Id="rId13" Type="http://schemas.openxmlformats.org/officeDocument/2006/relationships/hyperlink" Target="https://docs.github.com/en/code-security/concepts/supply-chain-security/dependabot-alerts" TargetMode="External"/><Relationship Id="rId3" Type="http://schemas.openxmlformats.org/officeDocument/2006/relationships/hyperlink" Target="https://www.figma.com/prototyping/" TargetMode="External"/><Relationship Id="rId7" Type="http://schemas.openxmlformats.org/officeDocument/2006/relationships/hyperlink" Target="https://docs.getunleash.io/concepts/feature-flags" TargetMode="External"/><Relationship Id="rId12" Type="http://schemas.openxmlformats.org/officeDocument/2006/relationships/hyperlink" Target="https://scrumguides.org/scrum-guide.html" TargetMode="External"/><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hyperlink" Target="https://www.keycloak.org/securing-apps/overview" TargetMode="External"/><Relationship Id="rId11" Type="http://schemas.openxmlformats.org/officeDocument/2006/relationships/hyperlink" Target="https://cmmiinstitute.com/learning/appraisals/levels" TargetMode="External"/><Relationship Id="rId5" Type="http://schemas.openxmlformats.org/officeDocument/2006/relationships/hyperlink" Target="https://www.drawio.com/docs/diagram-types/uml/" TargetMode="External"/><Relationship Id="rId10" Type="http://schemas.openxmlformats.org/officeDocument/2006/relationships/hyperlink" Target="https://dora.dev/guides/dora-metrics/" TargetMode="External"/><Relationship Id="rId4" Type="http://schemas.openxmlformats.org/officeDocument/2006/relationships/hyperlink" Target="https://docs.streamlit.io/get-started" TargetMode="External"/><Relationship Id="rId9" Type="http://schemas.openxmlformats.org/officeDocument/2006/relationships/hyperlink" Target="https://grafana.com/docs/grafana/latest/fundamenta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F4C"/>
        </a:solidFill>
        <a:effectLst/>
      </p:bgPr>
    </p:bg>
    <p:spTree>
      <p:nvGrpSpPr>
        <p:cNvPr id="1" name=""/>
        <p:cNvGrpSpPr/>
        <p:nvPr/>
      </p:nvGrpSpPr>
      <p:grpSpPr>
        <a:xfrm>
          <a:off x="0" y="0"/>
          <a:ext cx="0" cy="0"/>
          <a:chOff x="0" y="0"/>
          <a:chExt cx="0" cy="0"/>
        </a:xfrm>
      </p:grpSpPr>
      <p:sp>
        <p:nvSpPr>
          <p:cNvPr id="5" name="Yazılım Mühendisliğine Giriş">
            <a:extLst>
              <a:ext uri="{FF2B5EF4-FFF2-40B4-BE49-F238E27FC236}">
                <a16:creationId xmlns:a16="http://schemas.microsoft.com/office/drawing/2014/main" id="{CD83D558-AAB7-42B7-A519-6C457A1B751C}"/>
              </a:ext>
            </a:extLst>
          </p:cNvPr>
          <p:cNvSpPr>
            <a:spLocks noGrp="1"/>
          </p:cNvSpPr>
          <p:nvPr/>
        </p:nvSpPr>
        <p:spPr>
          <a:xfrm>
            <a:off x="666750" y="685800"/>
            <a:ext cx="10477500" cy="400050"/>
          </a:xfrm>
          <a:prstGeom prst="rect">
            <a:avLst/>
          </a:prstGeom>
          <a:noFill/>
          <a:ln w="0">
            <a:noFill/>
          </a:ln>
        </p:spPr>
        <p:txBody>
          <a:bodyPr wrap="square" lIns="0" tIns="0" rIns="0" bIns="0" anchor="t">
            <a:noAutofit/>
          </a:bodyPr>
          <a:lstStyle>
            <a:defPPr>
              <a:defRPr sz="2025" b="0">
                <a:solidFill>
                  <a:srgbClr val="69D3CB"/>
                </a:solidFill>
                <a:latin typeface="Arial"/>
                <a:ea typeface="Arial"/>
                <a:cs typeface="Arial"/>
              </a:defRPr>
            </a:defPPr>
          </a:lstStyle>
          <a:p>
            <a:pPr>
              <a:defRPr sz="2025" b="0">
                <a:solidFill>
                  <a:srgbClr val="69D3CB"/>
                </a:solidFill>
                <a:latin typeface="Arial"/>
                <a:ea typeface="Arial"/>
                <a:cs typeface="Arial"/>
              </a:defRPr>
            </a:pPr>
            <a:r>
              <a:rPr sz="2025" b="0">
                <a:solidFill>
                  <a:srgbClr val="69D3CB"/>
                </a:solidFill>
                <a:latin typeface="Arial"/>
                <a:ea typeface="Arial"/>
                <a:cs typeface="Arial"/>
              </a:rPr>
              <a:t>Yazılım Mühendisliğine Giriş</a:t>
            </a:r>
          </a:p>
        </p:txBody>
      </p:sp>
      <p:sp>
        <p:nvSpPr>
          <p:cNvPr id="2" name="Yazılım süreçleri&#10;Uygulamada araçlar ve örnekler">
            <a:extLst>
              <a:ext uri="{FF2B5EF4-FFF2-40B4-BE49-F238E27FC236}">
                <a16:creationId xmlns:a16="http://schemas.microsoft.com/office/drawing/2014/main" id="{145E0FA2-4D6B-4CDE-9412-316E978518EA}"/>
              </a:ext>
            </a:extLst>
          </p:cNvPr>
          <p:cNvSpPr>
            <a:spLocks noGrp="1"/>
          </p:cNvSpPr>
          <p:nvPr/>
        </p:nvSpPr>
        <p:spPr>
          <a:xfrm>
            <a:off x="666750" y="2095500"/>
            <a:ext cx="10572750" cy="1905000"/>
          </a:xfrm>
          <a:prstGeom prst="rect">
            <a:avLst/>
          </a:prstGeom>
          <a:noFill/>
          <a:ln w="0">
            <a:noFill/>
          </a:ln>
        </p:spPr>
        <p:txBody>
          <a:bodyPr wrap="square" lIns="0" tIns="0" rIns="0" bIns="0" anchor="t">
            <a:noAutofit/>
          </a:bodyPr>
          <a:lstStyle>
            <a:defPPr>
              <a:defRPr sz="4200" b="1">
                <a:solidFill>
                  <a:srgbClr val="FFFFFF"/>
                </a:solidFill>
                <a:latin typeface="Arial"/>
                <a:ea typeface="Arial"/>
                <a:cs typeface="Arial"/>
              </a:defRPr>
            </a:defPPr>
          </a:lstStyle>
          <a:p>
            <a:pPr>
              <a:defRPr sz="4200" b="1">
                <a:solidFill>
                  <a:srgbClr val="FFFFFF"/>
                </a:solidFill>
                <a:latin typeface="Arial"/>
                <a:ea typeface="Arial"/>
                <a:cs typeface="Arial"/>
              </a:defRPr>
            </a:pPr>
            <a:r>
              <a:rPr sz="4200" b="1">
                <a:solidFill>
                  <a:srgbClr val="FFFFFF"/>
                </a:solidFill>
                <a:latin typeface="Arial"/>
                <a:ea typeface="Arial"/>
                <a:cs typeface="Arial"/>
              </a:rPr>
              <a:t>Yazılım süreçleri</a:t>
            </a:r>
          </a:p>
          <a:p>
            <a:pPr>
              <a:defRPr sz="4200" b="1">
                <a:solidFill>
                  <a:srgbClr val="FFFFFF"/>
                </a:solidFill>
                <a:latin typeface="Arial"/>
                <a:ea typeface="Arial"/>
                <a:cs typeface="Arial"/>
              </a:defRPr>
            </a:pPr>
            <a:r>
              <a:rPr sz="4200" b="1">
                <a:solidFill>
                  <a:srgbClr val="FFFFFF"/>
                </a:solidFill>
                <a:latin typeface="Arial"/>
                <a:ea typeface="Arial"/>
                <a:cs typeface="Arial"/>
              </a:rPr>
              <a:t>Uygulamada araçlar ve örnekler</a:t>
            </a:r>
          </a:p>
        </p:txBody>
      </p:sp>
      <p:sp>
        <p:nvSpPr>
          <p:cNvPr id="3" name="Bir etkinlik kayıt sisteminin gereksinimden bakıma uzanan ya">
            <a:extLst>
              <a:ext uri="{FF2B5EF4-FFF2-40B4-BE49-F238E27FC236}">
                <a16:creationId xmlns:a16="http://schemas.microsoft.com/office/drawing/2014/main" id="{07622287-143A-42F6-A1CD-DBD5CDEAA042}"/>
              </a:ext>
            </a:extLst>
          </p:cNvPr>
          <p:cNvSpPr>
            <a:spLocks noGrp="1"/>
          </p:cNvSpPr>
          <p:nvPr/>
        </p:nvSpPr>
        <p:spPr>
          <a:xfrm>
            <a:off x="704850" y="4857750"/>
            <a:ext cx="9715500" cy="952500"/>
          </a:xfrm>
          <a:prstGeom prst="rect">
            <a:avLst/>
          </a:prstGeom>
          <a:noFill/>
          <a:ln w="0">
            <a:noFill/>
          </a:ln>
        </p:spPr>
        <p:txBody>
          <a:bodyPr wrap="square" lIns="0" tIns="0" rIns="0" bIns="0" anchor="t">
            <a:noAutofit/>
          </a:bodyPr>
          <a:lstStyle>
            <a:defPPr>
              <a:defRPr sz="2250" b="0">
                <a:solidFill>
                  <a:srgbClr val="D6E2EC"/>
                </a:solidFill>
                <a:latin typeface="Arial"/>
                <a:ea typeface="Arial"/>
                <a:cs typeface="Arial"/>
              </a:defRPr>
            </a:defPPr>
          </a:lstStyle>
          <a:p>
            <a:pPr>
              <a:defRPr sz="2250" b="0">
                <a:solidFill>
                  <a:srgbClr val="D6E2EC"/>
                </a:solidFill>
                <a:latin typeface="Arial"/>
                <a:ea typeface="Arial"/>
                <a:cs typeface="Arial"/>
              </a:defRPr>
            </a:pPr>
            <a:r>
              <a:rPr sz="2250" b="0">
                <a:solidFill>
                  <a:srgbClr val="D6E2EC"/>
                </a:solidFill>
                <a:latin typeface="Arial"/>
                <a:ea typeface="Arial"/>
                <a:cs typeface="Arial"/>
              </a:rPr>
              <a:t>Bir etkinlik kayıt sisteminin gereksinimden bakıma uzanan yaşam döngüsü</a:t>
            </a:r>
          </a:p>
        </p:txBody>
      </p:sp>
      <p:sp>
        <p:nvSpPr>
          <p:cNvPr id="4" name="01">
            <a:extLst>
              <a:ext uri="{FF2B5EF4-FFF2-40B4-BE49-F238E27FC236}">
                <a16:creationId xmlns:a16="http://schemas.microsoft.com/office/drawing/2014/main" id="{8B033E56-249D-4DB3-942D-699EC16A5BC0}"/>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C4D7E4"/>
                </a:solidFill>
                <a:latin typeface="Arial"/>
                <a:ea typeface="Arial"/>
                <a:cs typeface="Arial"/>
              </a:defRPr>
            </a:defPPr>
          </a:lstStyle>
          <a:p>
            <a:pPr>
              <a:defRPr sz="1350" b="0">
                <a:solidFill>
                  <a:srgbClr val="C4D7E4"/>
                </a:solidFill>
                <a:latin typeface="Arial"/>
                <a:ea typeface="Arial"/>
                <a:cs typeface="Arial"/>
              </a:defRPr>
            </a:pPr>
            <a:r>
              <a:rPr sz="1350" b="0">
                <a:solidFill>
                  <a:srgbClr val="C4D7E4"/>
                </a:solidFill>
                <a:latin typeface="Arial"/>
                <a:ea typeface="Arial"/>
                <a:cs typeface="Arial"/>
              </a:rPr>
              <a:t>01</a:t>
            </a:r>
          </a:p>
        </p:txBody>
      </p:sp>
    </p:spTree>
    <p:extLst>
      <p:ext uri="{BB962C8B-B14F-4D97-AF65-F5344CB8AC3E}">
        <p14:creationId xmlns:p14="http://schemas.microsoft.com/office/powerpoint/2010/main" val="578966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Teorik konuların uygulamadaki karşılığı">
            <a:extLst>
              <a:ext uri="{FF2B5EF4-FFF2-40B4-BE49-F238E27FC236}">
                <a16:creationId xmlns:a16="http://schemas.microsoft.com/office/drawing/2014/main" id="{0A29D282-2781-4EDD-BE05-ED678B074213}"/>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Teorik konuların uygulamadaki karşılığı</a:t>
            </a:r>
          </a:p>
        </p:txBody>
      </p:sp>
      <p:graphicFrame>
        <p:nvGraphicFramePr>
          <p:cNvPr id="2" name="Tablo 1">
            <a:extLst>
              <a:ext uri="{FF2B5EF4-FFF2-40B4-BE49-F238E27FC236}">
                <a16:creationId xmlns:a16="http://schemas.microsoft.com/office/drawing/2014/main" id="{311289EA-0B78-40C9-AE77-4ED887C4CF75}"/>
              </a:ext>
            </a:extLst>
          </p:cNvPr>
          <p:cNvGraphicFramePr/>
          <p:nvPr/>
        </p:nvGraphicFramePr>
        <p:xfrm>
          <a:off x="609600" y="1466850"/>
          <a:ext cx="10953750" cy="3977640"/>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Kaynak sunumdaki konu</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Bu sunumdaki araç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Öğrencinin göreceği çıktı</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Süreç modelleri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GitHub Projects, sürüm planı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Aşama onayı ve küçük artımlar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Süreç faaliyetleri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OpenAPI, Git, pytest, Playwright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Gereksinim, kod ve test bağlantısı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Değişimle başa çıkma</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Figma, Unleash, sürüm yönetimi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Prototip, geri bildirim ve kontrollü açılış</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Süreç iyileştirme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GitHub kayıtları, DORA ölçütleri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Darboğaz analizi ve iyileştirme deneyi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Kaynak sunum: 2, 20, 33–36, 47–53">
            <a:extLst>
              <a:ext uri="{FF2B5EF4-FFF2-40B4-BE49-F238E27FC236}">
                <a16:creationId xmlns:a16="http://schemas.microsoft.com/office/drawing/2014/main" id="{5590B2AF-DEC3-4B56-9371-BFAF291CE87E}"/>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 20, 33–36, 47–53</a:t>
            </a:r>
          </a:p>
        </p:txBody>
      </p:sp>
      <p:sp>
        <p:nvSpPr>
          <p:cNvPr id="4" name="02">
            <a:extLst>
              <a:ext uri="{FF2B5EF4-FFF2-40B4-BE49-F238E27FC236}">
                <a16:creationId xmlns:a16="http://schemas.microsoft.com/office/drawing/2014/main" id="{47C426FC-0938-474D-9402-FD1B578A80A2}"/>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02</a:t>
            </a:r>
          </a:p>
        </p:txBody>
      </p:sp>
    </p:spTree>
    <p:extLst>
      <p:ext uri="{BB962C8B-B14F-4D97-AF65-F5344CB8AC3E}">
        <p14:creationId xmlns:p14="http://schemas.microsoft.com/office/powerpoint/2010/main" val="391580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Ders boyunca izlenecek örnek proje">
            <a:extLst>
              <a:ext uri="{FF2B5EF4-FFF2-40B4-BE49-F238E27FC236}">
                <a16:creationId xmlns:a16="http://schemas.microsoft.com/office/drawing/2014/main" id="{E05E6BCC-FC95-400F-9909-FD2C4D043D08}"/>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Ders boyunca izlenecek örnek proje</a:t>
            </a:r>
          </a:p>
        </p:txBody>
      </p:sp>
      <p:sp>
        <p:nvSpPr>
          <p:cNvPr id="2" name="Ürün">
            <a:extLst>
              <a:ext uri="{FF2B5EF4-FFF2-40B4-BE49-F238E27FC236}">
                <a16:creationId xmlns:a16="http://schemas.microsoft.com/office/drawing/2014/main" id="{2D57DDBB-14B5-4F29-9050-097026F272AD}"/>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Ürün</a:t>
            </a:r>
          </a:p>
        </p:txBody>
      </p:sp>
      <p:sp>
        <p:nvSpPr>
          <p:cNvPr id="3" name="Öğrencilerin kampüs etkinliklerine kaydolduğu bir web uygula">
            <a:extLst>
              <a:ext uri="{FF2B5EF4-FFF2-40B4-BE49-F238E27FC236}">
                <a16:creationId xmlns:a16="http://schemas.microsoft.com/office/drawing/2014/main" id="{545D7A15-795B-4848-B5DB-1D6B18A9B424}"/>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Öğrencilerin kampüs etkinliklerine kaydolduğu bir web uygulaması.</a:t>
            </a:r>
          </a:p>
        </p:txBody>
      </p:sp>
      <p:sp>
        <p:nvSpPr>
          <p:cNvPr id="4" name="Kullanıcılar">
            <a:extLst>
              <a:ext uri="{FF2B5EF4-FFF2-40B4-BE49-F238E27FC236}">
                <a16:creationId xmlns:a16="http://schemas.microsoft.com/office/drawing/2014/main" id="{7C7B963C-25F5-4666-B7CA-6A3B60E8AFE5}"/>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Kullanıcılar</a:t>
            </a:r>
          </a:p>
        </p:txBody>
      </p:sp>
      <p:sp>
        <p:nvSpPr>
          <p:cNvPr id="5" name="Öğrenci etkinlikleri listeler. Kulüp yöneticisi etkinlik ve ">
            <a:extLst>
              <a:ext uri="{FF2B5EF4-FFF2-40B4-BE49-F238E27FC236}">
                <a16:creationId xmlns:a16="http://schemas.microsoft.com/office/drawing/2014/main" id="{F9DD1561-E9DB-4A8D-AD02-31F2BE20E0C9}"/>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Öğrenci etkinlikleri listeler. Kulüp yöneticisi etkinlik ve kontenjan tanımlar.</a:t>
            </a:r>
          </a:p>
        </p:txBody>
      </p:sp>
      <p:sp>
        <p:nvSpPr>
          <p:cNvPr id="6" name="İlk sürüm">
            <a:extLst>
              <a:ext uri="{FF2B5EF4-FFF2-40B4-BE49-F238E27FC236}">
                <a16:creationId xmlns:a16="http://schemas.microsoft.com/office/drawing/2014/main" id="{936E91C4-3C52-49AE-9313-7995833D90FE}"/>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İlk sürüm</a:t>
            </a:r>
          </a:p>
        </p:txBody>
      </p:sp>
      <p:sp>
        <p:nvSpPr>
          <p:cNvPr id="7" name="Etkinlik listesi, öğrenci girişi ve kontenjan kontrollü kayı">
            <a:extLst>
              <a:ext uri="{FF2B5EF4-FFF2-40B4-BE49-F238E27FC236}">
                <a16:creationId xmlns:a16="http://schemas.microsoft.com/office/drawing/2014/main" id="{F9023F8C-97C0-47B7-93C1-705385262A56}"/>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Etkinlik listesi, öğrenci girişi ve kontenjan kontrollü kayıt.</a:t>
            </a:r>
          </a:p>
        </p:txBody>
      </p:sp>
      <p:sp>
        <p:nvSpPr>
          <p:cNvPr id="8" name="Sonraki değişiklik">
            <a:extLst>
              <a:ext uri="{FF2B5EF4-FFF2-40B4-BE49-F238E27FC236}">
                <a16:creationId xmlns:a16="http://schemas.microsoft.com/office/drawing/2014/main" id="{D54D116B-7381-45CC-B6FC-F5FDCF720977}"/>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Sonraki değişiklik</a:t>
            </a:r>
          </a:p>
        </p:txBody>
      </p:sp>
      <p:sp>
        <p:nvSpPr>
          <p:cNvPr id="9" name="Kontenjan dolduğunda bekleme listesi ve kayıt iptali.">
            <a:extLst>
              <a:ext uri="{FF2B5EF4-FFF2-40B4-BE49-F238E27FC236}">
                <a16:creationId xmlns:a16="http://schemas.microsoft.com/office/drawing/2014/main" id="{6D278F1B-7031-45DD-9911-AB58213646A1}"/>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Kontenjan dolduğunda bekleme listesi ve kayıt iptali.</a:t>
            </a:r>
          </a:p>
        </p:txBody>
      </p:sp>
      <p:sp>
        <p:nvSpPr>
          <p:cNvPr id="10" name="Ders senaryosu: gereksinimler ve sayısal örnekler öğretim am">
            <a:extLst>
              <a:ext uri="{FF2B5EF4-FFF2-40B4-BE49-F238E27FC236}">
                <a16:creationId xmlns:a16="http://schemas.microsoft.com/office/drawing/2014/main" id="{04695825-E84D-4811-AAF2-4E7503E0D6C9}"/>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Ders senaryosu: gereksinimler ve sayısal örnekler öğretim amacıyla hazırlanmıştır.</a:t>
            </a:r>
          </a:p>
        </p:txBody>
      </p:sp>
      <p:sp>
        <p:nvSpPr>
          <p:cNvPr id="11" name="03">
            <a:extLst>
              <a:ext uri="{FF2B5EF4-FFF2-40B4-BE49-F238E27FC236}">
                <a16:creationId xmlns:a16="http://schemas.microsoft.com/office/drawing/2014/main" id="{1D720352-DC02-4CEF-A85B-BC8EADEED35A}"/>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03</a:t>
            </a:r>
          </a:p>
        </p:txBody>
      </p:sp>
    </p:spTree>
    <p:extLst>
      <p:ext uri="{BB962C8B-B14F-4D97-AF65-F5344CB8AC3E}">
        <p14:creationId xmlns:p14="http://schemas.microsoft.com/office/powerpoint/2010/main" val="1752590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Git ve pull request">
            <a:extLst>
              <a:ext uri="{FF2B5EF4-FFF2-40B4-BE49-F238E27FC236}">
                <a16:creationId xmlns:a16="http://schemas.microsoft.com/office/drawing/2014/main" id="{6AF53A55-6D8B-4426-A3C0-087822B081C4}"/>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Git ve pull request</a:t>
            </a:r>
          </a:p>
        </p:txBody>
      </p:sp>
      <p:sp>
        <p:nvSpPr>
          <p:cNvPr id="2" name="Git">
            <a:extLst>
              <a:ext uri="{FF2B5EF4-FFF2-40B4-BE49-F238E27FC236}">
                <a16:creationId xmlns:a16="http://schemas.microsoft.com/office/drawing/2014/main" id="{7445298C-1446-428B-8072-4A4BF996F5BB}"/>
              </a:ext>
            </a:extLst>
          </p:cNvPr>
          <p:cNvSpPr>
            <a:spLocks noGrp="1"/>
          </p:cNvSpPr>
          <p:nvPr/>
        </p:nvSpPr>
        <p:spPr>
          <a:xfrm>
            <a:off x="628650" y="1428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Git</a:t>
            </a:r>
          </a:p>
        </p:txBody>
      </p:sp>
      <p:sp>
        <p:nvSpPr>
          <p:cNvPr id="3" name="Dosyalardaki değişiklik geçmişini tutan dağıtık sürüm kontro">
            <a:extLst>
              <a:ext uri="{FF2B5EF4-FFF2-40B4-BE49-F238E27FC236}">
                <a16:creationId xmlns:a16="http://schemas.microsoft.com/office/drawing/2014/main" id="{CC3DE9CB-C721-4836-9D86-A760C2121E70}"/>
              </a:ext>
            </a:extLst>
          </p:cNvPr>
          <p:cNvSpPr>
            <a:spLocks noGrp="1"/>
          </p:cNvSpPr>
          <p:nvPr/>
        </p:nvSpPr>
        <p:spPr>
          <a:xfrm>
            <a:off x="628650" y="1847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Dosyalardaki değişiklik geçmişini tutan dağıtık sürüm kontrol sistemidir. Ekip farklı dallarda çalışabilir, değişiklikleri birleştirebilir.</a:t>
            </a:r>
          </a:p>
        </p:txBody>
      </p:sp>
      <p:sp>
        <p:nvSpPr>
          <p:cNvPr id="4" name="Örnek: kayıt özelliği için dal açmak ve değişikliği commit i">
            <a:extLst>
              <a:ext uri="{FF2B5EF4-FFF2-40B4-BE49-F238E27FC236}">
                <a16:creationId xmlns:a16="http://schemas.microsoft.com/office/drawing/2014/main" id="{43986897-5A39-421A-BC61-9320CB2C1289}"/>
              </a:ext>
            </a:extLst>
          </p:cNvPr>
          <p:cNvSpPr>
            <a:spLocks noGrp="1"/>
          </p:cNvSpPr>
          <p:nvPr/>
        </p:nvSpPr>
        <p:spPr>
          <a:xfrm>
            <a:off x="628650" y="2790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kayıt özelliği için dal açmak ve değişikliği commit ile kaydetmek.</a:t>
            </a:r>
          </a:p>
        </p:txBody>
      </p:sp>
      <p:sp>
        <p:nvSpPr>
          <p:cNvPr id="5" name="İnceleme: git-scm.com/">
            <a:extLst>
              <a:ext uri="{FF2B5EF4-FFF2-40B4-BE49-F238E27FC236}">
                <a16:creationId xmlns:a16="http://schemas.microsoft.com/office/drawing/2014/main" id="{4154CDDF-70A4-4A34-96C6-53080F6E7442}"/>
              </a:ext>
            </a:extLst>
          </p:cNvPr>
          <p:cNvSpPr>
            <a:spLocks noGrp="1"/>
          </p:cNvSpPr>
          <p:nvPr/>
        </p:nvSpPr>
        <p:spPr>
          <a:xfrm>
            <a:off x="628650" y="3381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3"/>
              </a:rPr>
              <a:t>İnceleme: git-scm.com/</a:t>
            </a:r>
          </a:p>
        </p:txBody>
      </p:sp>
      <p:sp>
        <p:nvSpPr>
          <p:cNvPr id="6" name="Pull request (PR)">
            <a:extLst>
              <a:ext uri="{FF2B5EF4-FFF2-40B4-BE49-F238E27FC236}">
                <a16:creationId xmlns:a16="http://schemas.microsoft.com/office/drawing/2014/main" id="{EC54536F-8E1C-435F-A82A-6BAA634B0794}"/>
              </a:ext>
            </a:extLst>
          </p:cNvPr>
          <p:cNvSpPr>
            <a:spLocks noGrp="1"/>
          </p:cNvSpPr>
          <p:nvPr/>
        </p:nvSpPr>
        <p:spPr>
          <a:xfrm>
            <a:off x="628650" y="3714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Pull request (PR)</a:t>
            </a:r>
          </a:p>
        </p:txBody>
      </p:sp>
      <p:sp>
        <p:nvSpPr>
          <p:cNvPr id="7" name="Bir daldaki kod değişikliğini başka bir dala birleştirmek iç">
            <a:extLst>
              <a:ext uri="{FF2B5EF4-FFF2-40B4-BE49-F238E27FC236}">
                <a16:creationId xmlns:a16="http://schemas.microsoft.com/office/drawing/2014/main" id="{F5ED9CD7-17A3-44E7-BD0A-722F116EC375}"/>
              </a:ext>
            </a:extLst>
          </p:cNvPr>
          <p:cNvSpPr>
            <a:spLocks noGrp="1"/>
          </p:cNvSpPr>
          <p:nvPr/>
        </p:nvSpPr>
        <p:spPr>
          <a:xfrm>
            <a:off x="628650" y="4133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Bir daldaki kod değişikliğini başka bir dala birleştirmek için açılan inceleme isteğidir. Ekip kod farkını tartışır ve test sonuçlarını görür.</a:t>
            </a:r>
          </a:p>
        </p:txBody>
      </p:sp>
      <p:sp>
        <p:nvSpPr>
          <p:cNvPr id="8" name="Örnek: “Kayıt özelliği hazır, ana dala eklenmeden önce incel">
            <a:extLst>
              <a:ext uri="{FF2B5EF4-FFF2-40B4-BE49-F238E27FC236}">
                <a16:creationId xmlns:a16="http://schemas.microsoft.com/office/drawing/2014/main" id="{993DAA4B-A65D-4CF6-AC78-EE40AE7A4633}"/>
              </a:ext>
            </a:extLst>
          </p:cNvPr>
          <p:cNvSpPr>
            <a:spLocks noGrp="1"/>
          </p:cNvSpPr>
          <p:nvPr/>
        </p:nvSpPr>
        <p:spPr>
          <a:xfrm>
            <a:off x="628650" y="5076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“Kayıt özelliği hazır, ana dala eklenmeden önce incelensin.”</a:t>
            </a:r>
          </a:p>
        </p:txBody>
      </p:sp>
      <p:sp>
        <p:nvSpPr>
          <p:cNvPr id="9" name="İnceleme: docs.github.com/en/pull-requests/reference/pull-re">
            <a:extLst>
              <a:ext uri="{FF2B5EF4-FFF2-40B4-BE49-F238E27FC236}">
                <a16:creationId xmlns:a16="http://schemas.microsoft.com/office/drawing/2014/main" id="{7778B4D0-43CF-49A4-9991-12BCEAAA3A7F}"/>
              </a:ext>
            </a:extLst>
          </p:cNvPr>
          <p:cNvSpPr>
            <a:spLocks noGrp="1"/>
          </p:cNvSpPr>
          <p:nvPr/>
        </p:nvSpPr>
        <p:spPr>
          <a:xfrm>
            <a:off x="628650" y="5667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4"/>
              </a:rPr>
              <a:t>İnceleme: docs.github.com/en/pull-requests/reference/pull-requests</a:t>
            </a:r>
          </a:p>
        </p:txBody>
      </p:sp>
      <p:sp>
        <p:nvSpPr>
          <p:cNvPr id="10" name="04">
            <a:extLst>
              <a:ext uri="{FF2B5EF4-FFF2-40B4-BE49-F238E27FC236}">
                <a16:creationId xmlns:a16="http://schemas.microsoft.com/office/drawing/2014/main" id="{98207A43-AC67-4CCA-8804-B485D012089C}"/>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04</a:t>
            </a:r>
          </a:p>
        </p:txBody>
      </p:sp>
    </p:spTree>
    <p:extLst>
      <p:ext uri="{BB962C8B-B14F-4D97-AF65-F5344CB8AC3E}">
        <p14:creationId xmlns:p14="http://schemas.microsoft.com/office/powerpoint/2010/main" val="1499456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FastAPI ve PostgreSQL">
            <a:extLst>
              <a:ext uri="{FF2B5EF4-FFF2-40B4-BE49-F238E27FC236}">
                <a16:creationId xmlns:a16="http://schemas.microsoft.com/office/drawing/2014/main" id="{4AC60779-575B-42DA-BB5A-F78F4039ADCF}"/>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FastAPI ve PostgreSQL</a:t>
            </a:r>
          </a:p>
        </p:txBody>
      </p:sp>
      <p:sp>
        <p:nvSpPr>
          <p:cNvPr id="2" name="FastAPI">
            <a:extLst>
              <a:ext uri="{FF2B5EF4-FFF2-40B4-BE49-F238E27FC236}">
                <a16:creationId xmlns:a16="http://schemas.microsoft.com/office/drawing/2014/main" id="{22501FFD-3279-4547-84A6-751B0FD2E806}"/>
              </a:ext>
            </a:extLst>
          </p:cNvPr>
          <p:cNvSpPr>
            <a:spLocks noGrp="1"/>
          </p:cNvSpPr>
          <p:nvPr/>
        </p:nvSpPr>
        <p:spPr>
          <a:xfrm>
            <a:off x="628650" y="1428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FastAPI</a:t>
            </a:r>
          </a:p>
        </p:txBody>
      </p:sp>
      <p:sp>
        <p:nvSpPr>
          <p:cNvPr id="3" name="Python ile web API geliştirmeye yarayan bir çatıdır. İstekle">
            <a:extLst>
              <a:ext uri="{FF2B5EF4-FFF2-40B4-BE49-F238E27FC236}">
                <a16:creationId xmlns:a16="http://schemas.microsoft.com/office/drawing/2014/main" id="{AA9EAFD1-418F-4D82-BED5-49EAC7A34F18}"/>
              </a:ext>
            </a:extLst>
          </p:cNvPr>
          <p:cNvSpPr>
            <a:spLocks noGrp="1"/>
          </p:cNvSpPr>
          <p:nvPr/>
        </p:nvSpPr>
        <p:spPr>
          <a:xfrm>
            <a:off x="628650" y="1847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Python ile web API geliştirmeye yarayan bir çatıdır. İstekleri karşılar, verileri doğrulamaya yardımcı olur ve API dokümantasyonu üretir.</a:t>
            </a:r>
          </a:p>
        </p:txBody>
      </p:sp>
      <p:sp>
        <p:nvSpPr>
          <p:cNvPr id="4" name="Örnek: POST /events/42/registrations isteğini karşılayan kay">
            <a:extLst>
              <a:ext uri="{FF2B5EF4-FFF2-40B4-BE49-F238E27FC236}">
                <a16:creationId xmlns:a16="http://schemas.microsoft.com/office/drawing/2014/main" id="{6599F027-9EC1-4595-9215-BA31683300CC}"/>
              </a:ext>
            </a:extLst>
          </p:cNvPr>
          <p:cNvSpPr>
            <a:spLocks noGrp="1"/>
          </p:cNvSpPr>
          <p:nvPr/>
        </p:nvSpPr>
        <p:spPr>
          <a:xfrm>
            <a:off x="628650" y="2790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POST /events/42/registrations isteğini karşılayan kayıt servisi.</a:t>
            </a:r>
          </a:p>
        </p:txBody>
      </p:sp>
      <p:sp>
        <p:nvSpPr>
          <p:cNvPr id="5" name="İnceleme: fastapi.tiangolo.com/">
            <a:extLst>
              <a:ext uri="{FF2B5EF4-FFF2-40B4-BE49-F238E27FC236}">
                <a16:creationId xmlns:a16="http://schemas.microsoft.com/office/drawing/2014/main" id="{13911F96-434A-4E75-918F-9450DB3EC57F}"/>
              </a:ext>
            </a:extLst>
          </p:cNvPr>
          <p:cNvSpPr>
            <a:spLocks noGrp="1"/>
          </p:cNvSpPr>
          <p:nvPr/>
        </p:nvSpPr>
        <p:spPr>
          <a:xfrm>
            <a:off x="628650" y="3381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3"/>
              </a:rPr>
              <a:t>İnceleme: fastapi.tiangolo.com/</a:t>
            </a:r>
          </a:p>
        </p:txBody>
      </p:sp>
      <p:sp>
        <p:nvSpPr>
          <p:cNvPr id="6" name="PostgreSQL">
            <a:extLst>
              <a:ext uri="{FF2B5EF4-FFF2-40B4-BE49-F238E27FC236}">
                <a16:creationId xmlns:a16="http://schemas.microsoft.com/office/drawing/2014/main" id="{6C8F38C4-FE53-418A-99C9-54A243A40D25}"/>
              </a:ext>
            </a:extLst>
          </p:cNvPr>
          <p:cNvSpPr>
            <a:spLocks noGrp="1"/>
          </p:cNvSpPr>
          <p:nvPr/>
        </p:nvSpPr>
        <p:spPr>
          <a:xfrm>
            <a:off x="628650" y="3714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PostgreSQL</a:t>
            </a:r>
          </a:p>
        </p:txBody>
      </p:sp>
      <p:sp>
        <p:nvSpPr>
          <p:cNvPr id="7" name="Verileri ilişkili tablolarda saklayan, SQL ile sorgulanan aç">
            <a:extLst>
              <a:ext uri="{FF2B5EF4-FFF2-40B4-BE49-F238E27FC236}">
                <a16:creationId xmlns:a16="http://schemas.microsoft.com/office/drawing/2014/main" id="{D918F31C-CEBF-47CC-B041-9D987390172D}"/>
              </a:ext>
            </a:extLst>
          </p:cNvPr>
          <p:cNvSpPr>
            <a:spLocks noGrp="1"/>
          </p:cNvSpPr>
          <p:nvPr/>
        </p:nvSpPr>
        <p:spPr>
          <a:xfrm>
            <a:off x="628650" y="4133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Verileri ilişkili tablolarda saklayan, SQL ile sorgulanan açık kaynaklı bir veritabanı yönetim sistemidir. Kısıtlar ve işlemler veri tutarlılığını destekler.</a:t>
            </a:r>
          </a:p>
        </p:txBody>
      </p:sp>
      <p:sp>
        <p:nvSpPr>
          <p:cNvPr id="8" name="Örnek: öğrenci ve etkinlik kayıtlarını saklamak, tekrar kayd">
            <a:extLst>
              <a:ext uri="{FF2B5EF4-FFF2-40B4-BE49-F238E27FC236}">
                <a16:creationId xmlns:a16="http://schemas.microsoft.com/office/drawing/2014/main" id="{C2B6E4BC-1DB5-4D7F-B4B4-6D758C847CA6}"/>
              </a:ext>
            </a:extLst>
          </p:cNvPr>
          <p:cNvSpPr>
            <a:spLocks noGrp="1"/>
          </p:cNvSpPr>
          <p:nvPr/>
        </p:nvSpPr>
        <p:spPr>
          <a:xfrm>
            <a:off x="628650" y="5076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öğrenci ve etkinlik kayıtlarını saklamak, tekrar kaydı engellemek.</a:t>
            </a:r>
          </a:p>
        </p:txBody>
      </p:sp>
      <p:sp>
        <p:nvSpPr>
          <p:cNvPr id="9" name="İnceleme: www.postgresql.org/about/">
            <a:extLst>
              <a:ext uri="{FF2B5EF4-FFF2-40B4-BE49-F238E27FC236}">
                <a16:creationId xmlns:a16="http://schemas.microsoft.com/office/drawing/2014/main" id="{DCA5292B-C7CA-4A50-87EA-AD114B76EB84}"/>
              </a:ext>
            </a:extLst>
          </p:cNvPr>
          <p:cNvSpPr>
            <a:spLocks noGrp="1"/>
          </p:cNvSpPr>
          <p:nvPr/>
        </p:nvSpPr>
        <p:spPr>
          <a:xfrm>
            <a:off x="628650" y="5667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4"/>
              </a:rPr>
              <a:t>İnceleme: www.postgresql.org/about/</a:t>
            </a:r>
          </a:p>
        </p:txBody>
      </p:sp>
      <p:sp>
        <p:nvSpPr>
          <p:cNvPr id="10" name="05">
            <a:extLst>
              <a:ext uri="{FF2B5EF4-FFF2-40B4-BE49-F238E27FC236}">
                <a16:creationId xmlns:a16="http://schemas.microsoft.com/office/drawing/2014/main" id="{A20D22F7-2356-4634-AEB0-375AD938B969}"/>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05</a:t>
            </a:r>
          </a:p>
        </p:txBody>
      </p:sp>
    </p:spTree>
    <p:extLst>
      <p:ext uri="{BB962C8B-B14F-4D97-AF65-F5344CB8AC3E}">
        <p14:creationId xmlns:p14="http://schemas.microsoft.com/office/powerpoint/2010/main" val="60224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pytest ve Playwright">
            <a:extLst>
              <a:ext uri="{FF2B5EF4-FFF2-40B4-BE49-F238E27FC236}">
                <a16:creationId xmlns:a16="http://schemas.microsoft.com/office/drawing/2014/main" id="{3B085093-00CE-4C99-99B0-F2B10E4189D3}"/>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pytest ve Playwright</a:t>
            </a:r>
          </a:p>
        </p:txBody>
      </p:sp>
      <p:sp>
        <p:nvSpPr>
          <p:cNvPr id="2" name="pytest">
            <a:extLst>
              <a:ext uri="{FF2B5EF4-FFF2-40B4-BE49-F238E27FC236}">
                <a16:creationId xmlns:a16="http://schemas.microsoft.com/office/drawing/2014/main" id="{937C419F-C995-49DD-B0C6-F220B45AC392}"/>
              </a:ext>
            </a:extLst>
          </p:cNvPr>
          <p:cNvSpPr>
            <a:spLocks noGrp="1"/>
          </p:cNvSpPr>
          <p:nvPr/>
        </p:nvSpPr>
        <p:spPr>
          <a:xfrm>
            <a:off x="628650" y="1428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pytest</a:t>
            </a:r>
          </a:p>
        </p:txBody>
      </p:sp>
      <p:sp>
        <p:nvSpPr>
          <p:cNvPr id="3" name="Python testlerini yazmak ve çalıştırmak için kullanılan bir ">
            <a:extLst>
              <a:ext uri="{FF2B5EF4-FFF2-40B4-BE49-F238E27FC236}">
                <a16:creationId xmlns:a16="http://schemas.microsoft.com/office/drawing/2014/main" id="{DC3C9AFB-F7B4-4A01-81DA-89A6DA624B7B}"/>
              </a:ext>
            </a:extLst>
          </p:cNvPr>
          <p:cNvSpPr>
            <a:spLocks noGrp="1"/>
          </p:cNvSpPr>
          <p:nvPr/>
        </p:nvSpPr>
        <p:spPr>
          <a:xfrm>
            <a:off x="628650" y="1847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Python testlerini yazmak ve çalıştırmak için kullanılan bir test çatısıdır. Beklenen sonuçları assert ifadeleriyle kontrol etmeyi kolaylaştırır.</a:t>
            </a:r>
          </a:p>
        </p:txBody>
      </p:sp>
      <p:sp>
        <p:nvSpPr>
          <p:cNvPr id="4" name="Örnek: kontenjan dolduğunda kayıt kuralının False döndürdüğü">
            <a:extLst>
              <a:ext uri="{FF2B5EF4-FFF2-40B4-BE49-F238E27FC236}">
                <a16:creationId xmlns:a16="http://schemas.microsoft.com/office/drawing/2014/main" id="{A81B2FFD-0494-4C08-AE43-185A66F9C0D5}"/>
              </a:ext>
            </a:extLst>
          </p:cNvPr>
          <p:cNvSpPr>
            <a:spLocks noGrp="1"/>
          </p:cNvSpPr>
          <p:nvPr/>
        </p:nvSpPr>
        <p:spPr>
          <a:xfrm>
            <a:off x="628650" y="2790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kontenjan dolduğunda kayıt kuralının False döndürdüğünü sınamak.</a:t>
            </a:r>
          </a:p>
        </p:txBody>
      </p:sp>
      <p:sp>
        <p:nvSpPr>
          <p:cNvPr id="5" name="İnceleme: docs.pytest.org/en/stable/">
            <a:extLst>
              <a:ext uri="{FF2B5EF4-FFF2-40B4-BE49-F238E27FC236}">
                <a16:creationId xmlns:a16="http://schemas.microsoft.com/office/drawing/2014/main" id="{5505CB8E-4F8F-4987-A15D-87D2152032A7}"/>
              </a:ext>
            </a:extLst>
          </p:cNvPr>
          <p:cNvSpPr>
            <a:spLocks noGrp="1"/>
          </p:cNvSpPr>
          <p:nvPr/>
        </p:nvSpPr>
        <p:spPr>
          <a:xfrm>
            <a:off x="628650" y="3381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3"/>
              </a:rPr>
              <a:t>İnceleme: docs.pytest.org/en/stable/</a:t>
            </a:r>
          </a:p>
        </p:txBody>
      </p:sp>
      <p:sp>
        <p:nvSpPr>
          <p:cNvPr id="6" name="Playwright">
            <a:extLst>
              <a:ext uri="{FF2B5EF4-FFF2-40B4-BE49-F238E27FC236}">
                <a16:creationId xmlns:a16="http://schemas.microsoft.com/office/drawing/2014/main" id="{BC5E68F9-B911-4078-B98F-B33D3609C82A}"/>
              </a:ext>
            </a:extLst>
          </p:cNvPr>
          <p:cNvSpPr>
            <a:spLocks noGrp="1"/>
          </p:cNvSpPr>
          <p:nvPr/>
        </p:nvSpPr>
        <p:spPr>
          <a:xfrm>
            <a:off x="628650" y="3714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Playwright</a:t>
            </a:r>
          </a:p>
        </p:txBody>
      </p:sp>
      <p:sp>
        <p:nvSpPr>
          <p:cNvPr id="7" name="Tarayıcıları otomatik kontrol eden ve web uygulamalarını tes">
            <a:extLst>
              <a:ext uri="{FF2B5EF4-FFF2-40B4-BE49-F238E27FC236}">
                <a16:creationId xmlns:a16="http://schemas.microsoft.com/office/drawing/2014/main" id="{F24D73BA-E5FB-4CB1-8CA4-064B4456F181}"/>
              </a:ext>
            </a:extLst>
          </p:cNvPr>
          <p:cNvSpPr>
            <a:spLocks noGrp="1"/>
          </p:cNvSpPr>
          <p:nvPr/>
        </p:nvSpPr>
        <p:spPr>
          <a:xfrm>
            <a:off x="628650" y="4133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Tarayıcıları otomatik kontrol eden ve web uygulamalarını test etmeye yarayan bir araçtır. Sayfa açma, düğmeye basma ve sonucu kontrol etme akışları kurar.</a:t>
            </a:r>
          </a:p>
        </p:txBody>
      </p:sp>
      <p:sp>
        <p:nvSpPr>
          <p:cNvPr id="8" name="Örnek: “Kayıt ol” düğmesine basınca başarı mesajının göründü">
            <a:extLst>
              <a:ext uri="{FF2B5EF4-FFF2-40B4-BE49-F238E27FC236}">
                <a16:creationId xmlns:a16="http://schemas.microsoft.com/office/drawing/2014/main" id="{01FD1D38-BA0C-47E2-8247-B4A6582B9DE8}"/>
              </a:ext>
            </a:extLst>
          </p:cNvPr>
          <p:cNvSpPr>
            <a:spLocks noGrp="1"/>
          </p:cNvSpPr>
          <p:nvPr/>
        </p:nvSpPr>
        <p:spPr>
          <a:xfrm>
            <a:off x="628650" y="5076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“Kayıt ol” düğmesine basınca başarı mesajının göründüğünü sınamak.</a:t>
            </a:r>
          </a:p>
        </p:txBody>
      </p:sp>
      <p:sp>
        <p:nvSpPr>
          <p:cNvPr id="9" name="İnceleme: playwright.dev/">
            <a:extLst>
              <a:ext uri="{FF2B5EF4-FFF2-40B4-BE49-F238E27FC236}">
                <a16:creationId xmlns:a16="http://schemas.microsoft.com/office/drawing/2014/main" id="{AE11110A-6575-41F4-B920-3D743882EF18}"/>
              </a:ext>
            </a:extLst>
          </p:cNvPr>
          <p:cNvSpPr>
            <a:spLocks noGrp="1"/>
          </p:cNvSpPr>
          <p:nvPr/>
        </p:nvSpPr>
        <p:spPr>
          <a:xfrm>
            <a:off x="628650" y="5667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4"/>
              </a:rPr>
              <a:t>İnceleme: playwright.dev/</a:t>
            </a:r>
          </a:p>
        </p:txBody>
      </p:sp>
      <p:sp>
        <p:nvSpPr>
          <p:cNvPr id="10" name="06">
            <a:extLst>
              <a:ext uri="{FF2B5EF4-FFF2-40B4-BE49-F238E27FC236}">
                <a16:creationId xmlns:a16="http://schemas.microsoft.com/office/drawing/2014/main" id="{4CDEFE62-3334-46A3-A620-94B31C84ECA7}"/>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06</a:t>
            </a:r>
          </a:p>
        </p:txBody>
      </p:sp>
    </p:spTree>
    <p:extLst>
      <p:ext uri="{BB962C8B-B14F-4D97-AF65-F5344CB8AC3E}">
        <p14:creationId xmlns:p14="http://schemas.microsoft.com/office/powerpoint/2010/main" val="103389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DORA nedir?">
            <a:extLst>
              <a:ext uri="{FF2B5EF4-FFF2-40B4-BE49-F238E27FC236}">
                <a16:creationId xmlns:a16="http://schemas.microsoft.com/office/drawing/2014/main" id="{1CDB76E4-26CA-4053-BC75-5F2842F851F7}"/>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DORA nedir?</a:t>
            </a:r>
          </a:p>
        </p:txBody>
      </p:sp>
      <p:sp>
        <p:nvSpPr>
          <p:cNvPr id="2" name="Açılımı">
            <a:extLst>
              <a:ext uri="{FF2B5EF4-FFF2-40B4-BE49-F238E27FC236}">
                <a16:creationId xmlns:a16="http://schemas.microsoft.com/office/drawing/2014/main" id="{72CC6D0F-36E0-423D-A854-AB875776C576}"/>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Açılımı</a:t>
            </a:r>
          </a:p>
        </p:txBody>
      </p:sp>
      <p:sp>
        <p:nvSpPr>
          <p:cNvPr id="3" name="DevOps Research and Assessment. Yazılım teslimi ve işletimi ">
            <a:extLst>
              <a:ext uri="{FF2B5EF4-FFF2-40B4-BE49-F238E27FC236}">
                <a16:creationId xmlns:a16="http://schemas.microsoft.com/office/drawing/2014/main" id="{AC47A94A-9156-435A-9ED6-9B5EEBE78A2D}"/>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DevOps Research and Assessment. Yazılım teslimi ve işletimi üzerine bir araştırma programıdır.</a:t>
            </a:r>
          </a:p>
        </p:txBody>
      </p:sp>
      <p:sp>
        <p:nvSpPr>
          <p:cNvPr id="4" name="Amacı">
            <a:extLst>
              <a:ext uri="{FF2B5EF4-FFF2-40B4-BE49-F238E27FC236}">
                <a16:creationId xmlns:a16="http://schemas.microsoft.com/office/drawing/2014/main" id="{3A033B5F-9354-4A40-8A62-11715F409C88}"/>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Amacı</a:t>
            </a:r>
          </a:p>
        </p:txBody>
      </p:sp>
      <p:sp>
        <p:nvSpPr>
          <p:cNvPr id="5" name="Ekiplerin yazılımı ne kadar hızlı ve güvenilir teslim ettiği">
            <a:extLst>
              <a:ext uri="{FF2B5EF4-FFF2-40B4-BE49-F238E27FC236}">
                <a16:creationId xmlns:a16="http://schemas.microsoft.com/office/drawing/2014/main" id="{5E3E1393-F4F6-47D8-837C-12C7A192E841}"/>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Ekiplerin yazılımı ne kadar hızlı ve güvenilir teslim ettiğini anlamasına yardım eder.</a:t>
            </a:r>
          </a:p>
        </p:txBody>
      </p:sp>
      <p:sp>
        <p:nvSpPr>
          <p:cNvPr id="6" name="DORA ölçütleri">
            <a:extLst>
              <a:ext uri="{FF2B5EF4-FFF2-40B4-BE49-F238E27FC236}">
                <a16:creationId xmlns:a16="http://schemas.microsoft.com/office/drawing/2014/main" id="{FE1A5539-9FDA-4791-A148-978981343F22}"/>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DORA ölçütleri</a:t>
            </a:r>
          </a:p>
        </p:txBody>
      </p:sp>
      <p:sp>
        <p:nvSpPr>
          <p:cNvPr id="7" name="Teslim süresi, dağıtım sıklığı, kurtarma süresi, başarısızlı">
            <a:extLst>
              <a:ext uri="{FF2B5EF4-FFF2-40B4-BE49-F238E27FC236}">
                <a16:creationId xmlns:a16="http://schemas.microsoft.com/office/drawing/2014/main" id="{5F78E4AE-6969-4618-99D1-E3BBFB976041}"/>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Teslim süresi, dağıtım sıklığı, kurtarma süresi, başarısızlık ve yeniden çalışma oranları izlenir.</a:t>
            </a:r>
          </a:p>
        </p:txBody>
      </p:sp>
      <p:sp>
        <p:nvSpPr>
          <p:cNvPr id="8" name="Örnek">
            <a:extLst>
              <a:ext uri="{FF2B5EF4-FFF2-40B4-BE49-F238E27FC236}">
                <a16:creationId xmlns:a16="http://schemas.microsoft.com/office/drawing/2014/main" id="{8A205701-F587-4B19-87D2-E095E4E03104}"/>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Örnek</a:t>
            </a:r>
          </a:p>
        </p:txBody>
      </p:sp>
      <p:sp>
        <p:nvSpPr>
          <p:cNvPr id="9" name="Ekip commit ve yayın zamanlarını kullanarak bir değişikliğin">
            <a:extLst>
              <a:ext uri="{FF2B5EF4-FFF2-40B4-BE49-F238E27FC236}">
                <a16:creationId xmlns:a16="http://schemas.microsoft.com/office/drawing/2014/main" id="{E8C96EEE-43FB-4AFD-BFDD-F898D7F23B85}"/>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commit ve yayın zamanlarını kullanarak bir değişikliğin üretime kaç saatte ulaştığını hesaplar.</a:t>
            </a:r>
          </a:p>
        </p:txBody>
      </p:sp>
      <p:sp>
        <p:nvSpPr>
          <p:cNvPr id="10" name="İnceleme: dora.dev/guides/dora-metrics/">
            <a:extLst>
              <a:ext uri="{FF2B5EF4-FFF2-40B4-BE49-F238E27FC236}">
                <a16:creationId xmlns:a16="http://schemas.microsoft.com/office/drawing/2014/main" id="{0DEC288A-958F-4C52-973E-6B51100D7518}"/>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hlinkClick r:id="rId3"/>
              </a:rPr>
              <a:t>İnceleme: dora.dev/guides/dora-metrics/</a:t>
            </a:r>
          </a:p>
        </p:txBody>
      </p:sp>
      <p:sp>
        <p:nvSpPr>
          <p:cNvPr id="11" name="07">
            <a:extLst>
              <a:ext uri="{FF2B5EF4-FFF2-40B4-BE49-F238E27FC236}">
                <a16:creationId xmlns:a16="http://schemas.microsoft.com/office/drawing/2014/main" id="{50D06343-C5C2-4962-8D3A-6CE2446538A9}"/>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07</a:t>
            </a:r>
          </a:p>
        </p:txBody>
      </p:sp>
    </p:spTree>
    <p:extLst>
      <p:ext uri="{BB962C8B-B14F-4D97-AF65-F5344CB8AC3E}">
        <p14:creationId xmlns:p14="http://schemas.microsoft.com/office/powerpoint/2010/main" val="72354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Unleash nedir?">
            <a:extLst>
              <a:ext uri="{FF2B5EF4-FFF2-40B4-BE49-F238E27FC236}">
                <a16:creationId xmlns:a16="http://schemas.microsoft.com/office/drawing/2014/main" id="{7C2FF94A-A281-4AD6-9EFB-AB2BA2E6114B}"/>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Unleash nedir?</a:t>
            </a:r>
          </a:p>
        </p:txBody>
      </p:sp>
      <p:sp>
        <p:nvSpPr>
          <p:cNvPr id="2" name="Tanım">
            <a:extLst>
              <a:ext uri="{FF2B5EF4-FFF2-40B4-BE49-F238E27FC236}">
                <a16:creationId xmlns:a16="http://schemas.microsoft.com/office/drawing/2014/main" id="{AD76F5BD-9638-4A14-B4A7-8CC5A6488F85}"/>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Tanım</a:t>
            </a:r>
          </a:p>
        </p:txBody>
      </p:sp>
      <p:sp>
        <p:nvSpPr>
          <p:cNvPr id="3" name="Uygulama özelliklerini bayraklarla yönetmeye yarayan bir öze">
            <a:extLst>
              <a:ext uri="{FF2B5EF4-FFF2-40B4-BE49-F238E27FC236}">
                <a16:creationId xmlns:a16="http://schemas.microsoft.com/office/drawing/2014/main" id="{69048358-48FB-4C77-8248-2E2634F3B3D4}"/>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Uygulama özelliklerini bayraklarla yönetmeye yarayan bir özellik yönetimi platformudur.</a:t>
            </a:r>
          </a:p>
        </p:txBody>
      </p:sp>
      <p:sp>
        <p:nvSpPr>
          <p:cNvPr id="4" name="Özellik bayrağı">
            <a:extLst>
              <a:ext uri="{FF2B5EF4-FFF2-40B4-BE49-F238E27FC236}">
                <a16:creationId xmlns:a16="http://schemas.microsoft.com/office/drawing/2014/main" id="{032C51CB-16CB-4B00-B9F1-83ED74DA5F76}"/>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Özellik bayrağı</a:t>
            </a:r>
          </a:p>
        </p:txBody>
      </p:sp>
      <p:sp>
        <p:nvSpPr>
          <p:cNvPr id="5" name="Kod içindeki bir davranışın hangi kullanıcı veya koşul için ">
            <a:extLst>
              <a:ext uri="{FF2B5EF4-FFF2-40B4-BE49-F238E27FC236}">
                <a16:creationId xmlns:a16="http://schemas.microsoft.com/office/drawing/2014/main" id="{61B00873-708E-4889-8D55-AC3B713365BC}"/>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Kod içindeki bir davranışın hangi kullanıcı veya koşul için açık olacağını belirleyen kontroldür.</a:t>
            </a:r>
          </a:p>
        </p:txBody>
      </p:sp>
      <p:sp>
        <p:nvSpPr>
          <p:cNvPr id="6" name="Kullanım örneği">
            <a:extLst>
              <a:ext uri="{FF2B5EF4-FFF2-40B4-BE49-F238E27FC236}">
                <a16:creationId xmlns:a16="http://schemas.microsoft.com/office/drawing/2014/main" id="{3C7B957F-9901-49F0-9958-E3915C6103FD}"/>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Kullanım örneği</a:t>
            </a:r>
          </a:p>
        </p:txBody>
      </p:sp>
      <p:sp>
        <p:nvSpPr>
          <p:cNvPr id="7" name="Bekleme listesi kodu dağıtılır. Ekip bu özelliği önce pilot ">
            <a:extLst>
              <a:ext uri="{FF2B5EF4-FFF2-40B4-BE49-F238E27FC236}">
                <a16:creationId xmlns:a16="http://schemas.microsoft.com/office/drawing/2014/main" id="{D14C84FF-7159-469C-8ADB-DCECC545012A}"/>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Bekleme listesi kodu dağıtılır. Ekip bu özelliği önce pilot kulüplere, sonra daha geniş bir gruba açar.</a:t>
            </a:r>
          </a:p>
        </p:txBody>
      </p:sp>
      <p:sp>
        <p:nvSpPr>
          <p:cNvPr id="8" name="Dikkat edilecek nokta">
            <a:extLst>
              <a:ext uri="{FF2B5EF4-FFF2-40B4-BE49-F238E27FC236}">
                <a16:creationId xmlns:a16="http://schemas.microsoft.com/office/drawing/2014/main" id="{5E8B6D7D-7536-4BFB-9B76-E31C331F2B51}"/>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Dikkat edilecek nokta</a:t>
            </a:r>
          </a:p>
        </p:txBody>
      </p:sp>
      <p:sp>
        <p:nvSpPr>
          <p:cNvPr id="9" name="Bayrağı kapatmak kodu kaldırmaz ve veritabanı değişikliğini ">
            <a:extLst>
              <a:ext uri="{FF2B5EF4-FFF2-40B4-BE49-F238E27FC236}">
                <a16:creationId xmlns:a16="http://schemas.microsoft.com/office/drawing/2014/main" id="{0C9BEF77-6A8A-4865-A14B-C592FAE02C96}"/>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Bayrağı kapatmak kodu kaldırmaz ve veritabanı değişikliğini geri almaz.</a:t>
            </a:r>
          </a:p>
        </p:txBody>
      </p:sp>
      <p:sp>
        <p:nvSpPr>
          <p:cNvPr id="10" name="İnceleme: docs.getunleash.io/concepts/feature-flags">
            <a:extLst>
              <a:ext uri="{FF2B5EF4-FFF2-40B4-BE49-F238E27FC236}">
                <a16:creationId xmlns:a16="http://schemas.microsoft.com/office/drawing/2014/main" id="{42D5BE74-B8E1-42DD-951F-8C2C5819A16F}"/>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hlinkClick r:id="rId3"/>
              </a:rPr>
              <a:t>İnceleme: docs.getunleash.io/concepts/feature-flags</a:t>
            </a:r>
          </a:p>
        </p:txBody>
      </p:sp>
      <p:sp>
        <p:nvSpPr>
          <p:cNvPr id="11" name="08">
            <a:extLst>
              <a:ext uri="{FF2B5EF4-FFF2-40B4-BE49-F238E27FC236}">
                <a16:creationId xmlns:a16="http://schemas.microsoft.com/office/drawing/2014/main" id="{39065782-C28A-4BD5-97EA-7BDC716E09DB}"/>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08</a:t>
            </a:r>
          </a:p>
        </p:txBody>
      </p:sp>
    </p:spTree>
    <p:extLst>
      <p:ext uri="{BB962C8B-B14F-4D97-AF65-F5344CB8AC3E}">
        <p14:creationId xmlns:p14="http://schemas.microsoft.com/office/powerpoint/2010/main" val="622825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OpenTelemetry ve Grafana">
            <a:extLst>
              <a:ext uri="{FF2B5EF4-FFF2-40B4-BE49-F238E27FC236}">
                <a16:creationId xmlns:a16="http://schemas.microsoft.com/office/drawing/2014/main" id="{1CD4EACD-DDEF-47FF-86E5-E8374E246DEA}"/>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OpenTelemetry ve Grafana</a:t>
            </a:r>
          </a:p>
        </p:txBody>
      </p:sp>
      <p:sp>
        <p:nvSpPr>
          <p:cNvPr id="2" name="OpenTelemetry">
            <a:extLst>
              <a:ext uri="{FF2B5EF4-FFF2-40B4-BE49-F238E27FC236}">
                <a16:creationId xmlns:a16="http://schemas.microsoft.com/office/drawing/2014/main" id="{7148C29F-ACF7-4DB4-8C55-38E0FD6BF519}"/>
              </a:ext>
            </a:extLst>
          </p:cNvPr>
          <p:cNvSpPr>
            <a:spLocks noGrp="1"/>
          </p:cNvSpPr>
          <p:nvPr/>
        </p:nvSpPr>
        <p:spPr>
          <a:xfrm>
            <a:off x="628650" y="1428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OpenTelemetry</a:t>
            </a:r>
          </a:p>
        </p:txBody>
      </p:sp>
      <p:sp>
        <p:nvSpPr>
          <p:cNvPr id="3" name="Uygulamalardan metrik, log ve trace gibi gözlem verilerini ü">
            <a:extLst>
              <a:ext uri="{FF2B5EF4-FFF2-40B4-BE49-F238E27FC236}">
                <a16:creationId xmlns:a16="http://schemas.microsoft.com/office/drawing/2014/main" id="{B39F2428-EA93-436A-8CBB-7514A08573A0}"/>
              </a:ext>
            </a:extLst>
          </p:cNvPr>
          <p:cNvSpPr>
            <a:spLocks noGrp="1"/>
          </p:cNvSpPr>
          <p:nvPr/>
        </p:nvSpPr>
        <p:spPr>
          <a:xfrm>
            <a:off x="628650" y="1847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Uygulamalardan metrik, log ve trace gibi gözlem verilerini üretmek, toplamak ve dışa aktarmak için araçlar, API’ler ve SDK’lar sunar.</a:t>
            </a:r>
          </a:p>
        </p:txBody>
      </p:sp>
      <p:sp>
        <p:nvSpPr>
          <p:cNvPr id="4" name="Örnek: bir kayıt isteğinin API ve veritabanında geçirdiği sü">
            <a:extLst>
              <a:ext uri="{FF2B5EF4-FFF2-40B4-BE49-F238E27FC236}">
                <a16:creationId xmlns:a16="http://schemas.microsoft.com/office/drawing/2014/main" id="{286B57E3-D074-44E6-B606-4DB1CB766B9F}"/>
              </a:ext>
            </a:extLst>
          </p:cNvPr>
          <p:cNvSpPr>
            <a:spLocks noGrp="1"/>
          </p:cNvSpPr>
          <p:nvPr/>
        </p:nvSpPr>
        <p:spPr>
          <a:xfrm>
            <a:off x="628650" y="2790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bir kayıt isteğinin API ve veritabanında geçirdiği süreyi izlemek.</a:t>
            </a:r>
          </a:p>
        </p:txBody>
      </p:sp>
      <p:sp>
        <p:nvSpPr>
          <p:cNvPr id="5" name="İnceleme: opentelemetry.io/docs/concepts/signals/">
            <a:extLst>
              <a:ext uri="{FF2B5EF4-FFF2-40B4-BE49-F238E27FC236}">
                <a16:creationId xmlns:a16="http://schemas.microsoft.com/office/drawing/2014/main" id="{A954EF76-81F6-41CA-90E9-4A68AE7EACE5}"/>
              </a:ext>
            </a:extLst>
          </p:cNvPr>
          <p:cNvSpPr>
            <a:spLocks noGrp="1"/>
          </p:cNvSpPr>
          <p:nvPr/>
        </p:nvSpPr>
        <p:spPr>
          <a:xfrm>
            <a:off x="628650" y="3381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3"/>
              </a:rPr>
              <a:t>İnceleme: opentelemetry.io/docs/concepts/signals/</a:t>
            </a:r>
          </a:p>
        </p:txBody>
      </p:sp>
      <p:sp>
        <p:nvSpPr>
          <p:cNvPr id="6" name="Grafana">
            <a:extLst>
              <a:ext uri="{FF2B5EF4-FFF2-40B4-BE49-F238E27FC236}">
                <a16:creationId xmlns:a16="http://schemas.microsoft.com/office/drawing/2014/main" id="{39C01F5E-55DC-4A75-A728-D54523536A82}"/>
              </a:ext>
            </a:extLst>
          </p:cNvPr>
          <p:cNvSpPr>
            <a:spLocks noGrp="1"/>
          </p:cNvSpPr>
          <p:nvPr/>
        </p:nvSpPr>
        <p:spPr>
          <a:xfrm>
            <a:off x="628650" y="3714750"/>
            <a:ext cx="10858500" cy="400050"/>
          </a:xfrm>
          <a:prstGeom prst="rect">
            <a:avLst/>
          </a:prstGeom>
          <a:noFill/>
          <a:ln w="0">
            <a:noFill/>
          </a:ln>
        </p:spPr>
        <p:txBody>
          <a:bodyPr wrap="square" lIns="0" tIns="0" rIns="0" bIns="0" anchor="t">
            <a:noAutofit/>
          </a:bodyPr>
          <a:lstStyle>
            <a:defPPr>
              <a:defRPr sz="2550" b="1">
                <a:solidFill>
                  <a:srgbClr val="087C83"/>
                </a:solidFill>
                <a:latin typeface="Arial"/>
                <a:ea typeface="Arial"/>
                <a:cs typeface="Arial"/>
              </a:defRPr>
            </a:defPPr>
          </a:lstStyle>
          <a:p>
            <a:pPr>
              <a:defRPr sz="2550" b="1">
                <a:solidFill>
                  <a:srgbClr val="087C83"/>
                </a:solidFill>
                <a:latin typeface="Arial"/>
                <a:ea typeface="Arial"/>
                <a:cs typeface="Arial"/>
              </a:defRPr>
            </a:pPr>
            <a:r>
              <a:rPr sz="2550" b="1">
                <a:solidFill>
                  <a:srgbClr val="087C83"/>
                </a:solidFill>
                <a:latin typeface="Arial"/>
                <a:ea typeface="Arial"/>
                <a:cs typeface="Arial"/>
              </a:rPr>
              <a:t>Grafana</a:t>
            </a:r>
          </a:p>
        </p:txBody>
      </p:sp>
      <p:sp>
        <p:nvSpPr>
          <p:cNvPr id="7" name="Veri kaynaklarındaki metrik, log ve trace verilerini sorgula">
            <a:extLst>
              <a:ext uri="{FF2B5EF4-FFF2-40B4-BE49-F238E27FC236}">
                <a16:creationId xmlns:a16="http://schemas.microsoft.com/office/drawing/2014/main" id="{9B8CAD46-1D9C-49F9-8977-B301A7CF288E}"/>
              </a:ext>
            </a:extLst>
          </p:cNvPr>
          <p:cNvSpPr>
            <a:spLocks noGrp="1"/>
          </p:cNvSpPr>
          <p:nvPr/>
        </p:nvSpPr>
        <p:spPr>
          <a:xfrm>
            <a:off x="628650" y="4133850"/>
            <a:ext cx="10858500" cy="933450"/>
          </a:xfrm>
          <a:prstGeom prst="rect">
            <a:avLst/>
          </a:prstGeom>
          <a:noFill/>
          <a:ln w="0">
            <a:noFill/>
          </a:ln>
        </p:spPr>
        <p:txBody>
          <a:bodyPr wrap="square" lIns="0" tIns="0" rIns="0" bIns="0" anchor="t">
            <a:noAutofit/>
          </a:bodyPr>
          <a:lstStyle>
            <a:defPPr>
              <a:defRPr sz="2100" b="0">
                <a:solidFill>
                  <a:srgbClr val="24364B"/>
                </a:solidFill>
                <a:latin typeface="Arial"/>
                <a:ea typeface="Arial"/>
                <a:cs typeface="Arial"/>
              </a:defRPr>
            </a:defPPr>
          </a:lstStyle>
          <a:p>
            <a:pPr>
              <a:defRPr sz="2100" b="0">
                <a:solidFill>
                  <a:srgbClr val="24364B"/>
                </a:solidFill>
                <a:latin typeface="Arial"/>
                <a:ea typeface="Arial"/>
                <a:cs typeface="Arial"/>
              </a:defRPr>
            </a:pPr>
            <a:r>
              <a:rPr sz="2100" b="0">
                <a:solidFill>
                  <a:srgbClr val="24364B"/>
                </a:solidFill>
                <a:latin typeface="Arial"/>
                <a:ea typeface="Arial"/>
                <a:cs typeface="Arial"/>
              </a:rPr>
              <a:t>Veri kaynaklarındaki metrik, log ve trace verilerini sorgulamayı, görselleştirmeyi ve uyarı kurmayı sağlayan bir gözlemlenebilirlik platformudur.</a:t>
            </a:r>
          </a:p>
        </p:txBody>
      </p:sp>
      <p:sp>
        <p:nvSpPr>
          <p:cNvPr id="8" name="Örnek: kayıt API’sinin yanıt süresini grafikte göstermek ve ">
            <a:extLst>
              <a:ext uri="{FF2B5EF4-FFF2-40B4-BE49-F238E27FC236}">
                <a16:creationId xmlns:a16="http://schemas.microsoft.com/office/drawing/2014/main" id="{3213127D-E32A-41FD-845F-5DDEF0CC053D}"/>
              </a:ext>
            </a:extLst>
          </p:cNvPr>
          <p:cNvSpPr>
            <a:spLocks noGrp="1"/>
          </p:cNvSpPr>
          <p:nvPr/>
        </p:nvSpPr>
        <p:spPr>
          <a:xfrm>
            <a:off x="628650" y="5076825"/>
            <a:ext cx="10858500" cy="552450"/>
          </a:xfrm>
          <a:prstGeom prst="rect">
            <a:avLst/>
          </a:prstGeom>
          <a:noFill/>
          <a:ln w="0">
            <a:noFill/>
          </a:ln>
        </p:spPr>
        <p:txBody>
          <a:bodyPr wrap="square" lIns="0" tIns="0" rIns="0" bIns="0" anchor="t">
            <a:noAutofit/>
          </a:bodyPr>
          <a:lstStyle>
            <a:defPPr>
              <a:defRPr sz="1800" b="0">
                <a:solidFill>
                  <a:srgbClr val="5D6C7A"/>
                </a:solidFill>
                <a:latin typeface="Arial"/>
                <a:ea typeface="Arial"/>
                <a:cs typeface="Arial"/>
              </a:defRPr>
            </a:defPPr>
          </a:lstStyle>
          <a:p>
            <a:pPr>
              <a:defRPr sz="1800" b="0">
                <a:solidFill>
                  <a:srgbClr val="5D6C7A"/>
                </a:solidFill>
                <a:latin typeface="Arial"/>
                <a:ea typeface="Arial"/>
                <a:cs typeface="Arial"/>
              </a:defRPr>
            </a:pPr>
            <a:r>
              <a:rPr sz="1800" b="0">
                <a:solidFill>
                  <a:srgbClr val="5D6C7A"/>
                </a:solidFill>
                <a:latin typeface="Arial"/>
                <a:ea typeface="Arial"/>
                <a:cs typeface="Arial"/>
              </a:rPr>
              <a:t>Örnek: kayıt API’sinin yanıt süresini grafikte göstermek ve uyarı tanımlamak.</a:t>
            </a:r>
          </a:p>
        </p:txBody>
      </p:sp>
      <p:sp>
        <p:nvSpPr>
          <p:cNvPr id="9" name="İnceleme: grafana.com/docs/grafana/latest/fundamentals/">
            <a:extLst>
              <a:ext uri="{FF2B5EF4-FFF2-40B4-BE49-F238E27FC236}">
                <a16:creationId xmlns:a16="http://schemas.microsoft.com/office/drawing/2014/main" id="{935020E0-4625-4C3E-8823-3D829C6D19B2}"/>
              </a:ext>
            </a:extLst>
          </p:cNvPr>
          <p:cNvSpPr>
            <a:spLocks noGrp="1"/>
          </p:cNvSpPr>
          <p:nvPr/>
        </p:nvSpPr>
        <p:spPr>
          <a:xfrm>
            <a:off x="628650" y="5667375"/>
            <a:ext cx="10858500" cy="304800"/>
          </a:xfrm>
          <a:prstGeom prst="rect">
            <a:avLst/>
          </a:prstGeom>
          <a:noFill/>
          <a:ln w="0">
            <a:noFill/>
          </a:ln>
        </p:spPr>
        <p:txBody>
          <a:bodyPr wrap="square" lIns="0" tIns="0" rIns="0" bIns="0" anchor="t">
            <a:noAutofit/>
          </a:bodyPr>
          <a:lstStyle>
            <a:defPPr>
              <a:defRPr sz="1575" b="0">
                <a:solidFill>
                  <a:srgbClr val="087C83"/>
                </a:solidFill>
                <a:latin typeface="Arial"/>
                <a:ea typeface="Arial"/>
                <a:cs typeface="Arial"/>
              </a:defRPr>
            </a:defPPr>
          </a:lstStyle>
          <a:p>
            <a:pPr>
              <a:defRPr sz="1575" b="0">
                <a:solidFill>
                  <a:srgbClr val="087C83"/>
                </a:solidFill>
                <a:latin typeface="Arial"/>
                <a:ea typeface="Arial"/>
                <a:cs typeface="Arial"/>
              </a:defRPr>
            </a:pPr>
            <a:r>
              <a:rPr sz="1575" b="0">
                <a:solidFill>
                  <a:srgbClr val="087C83"/>
                </a:solidFill>
                <a:latin typeface="Arial"/>
                <a:ea typeface="Arial"/>
                <a:cs typeface="Arial"/>
                <a:hlinkClick r:id="rId4"/>
              </a:rPr>
              <a:t>İnceleme: grafana.com/docs/grafana/latest/fundamentals/</a:t>
            </a:r>
          </a:p>
        </p:txBody>
      </p:sp>
      <p:sp>
        <p:nvSpPr>
          <p:cNvPr id="10" name="09">
            <a:extLst>
              <a:ext uri="{FF2B5EF4-FFF2-40B4-BE49-F238E27FC236}">
                <a16:creationId xmlns:a16="http://schemas.microsoft.com/office/drawing/2014/main" id="{56653BAC-494F-4A22-A6F7-60F272C482A3}"/>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09</a:t>
            </a:r>
          </a:p>
        </p:txBody>
      </p:sp>
    </p:spTree>
    <p:extLst>
      <p:ext uri="{BB962C8B-B14F-4D97-AF65-F5344CB8AC3E}">
        <p14:creationId xmlns:p14="http://schemas.microsoft.com/office/powerpoint/2010/main" val="1841627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Yaşam döngüsünün somut dosyaları">
            <a:extLst>
              <a:ext uri="{FF2B5EF4-FFF2-40B4-BE49-F238E27FC236}">
                <a16:creationId xmlns:a16="http://schemas.microsoft.com/office/drawing/2014/main" id="{22158DBB-703D-4E99-9F2E-E16064FE5F69}"/>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Yaşam döngüsünün somut dosyaları</a:t>
            </a:r>
          </a:p>
        </p:txBody>
      </p:sp>
      <p:graphicFrame>
        <p:nvGraphicFramePr>
          <p:cNvPr id="2" name="Tablo 1">
            <a:extLst>
              <a:ext uri="{FF2B5EF4-FFF2-40B4-BE49-F238E27FC236}">
                <a16:creationId xmlns:a16="http://schemas.microsoft.com/office/drawing/2014/main" id="{12D96252-E156-4CEC-87DE-ADC8F3F2E971}"/>
              </a:ext>
            </a:extLst>
          </p:cNvPr>
          <p:cNvGraphicFramePr/>
          <p:nvPr/>
        </p:nvGraphicFramePr>
        <p:xfrm>
          <a:off x="609600" y="1466850"/>
          <a:ext cx="10953750" cy="4143375"/>
        </p:xfrm>
        <a:graphic>
          <a:graphicData uri="http://schemas.openxmlformats.org/drawingml/2006/table">
            <a:tbl>
              <a:tblPr/>
              <a:tblGrid>
                <a:gridCol w="2190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52387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Faaliyet</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Araç veya teknoloji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Saklanan çıktı</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710565">
                <a:tc>
                  <a:txBody>
                    <a:bodyPr/>
                    <a:lstStyle/>
                    <a:p>
                      <a:r>
                        <a:rPr sz="1875" b="0">
                          <a:solidFill>
                            <a:srgbClr val="24364B"/>
                          </a:solidFill>
                          <a:latin typeface="Arial"/>
                          <a:ea typeface="Arial"/>
                          <a:cs typeface="Arial"/>
                        </a:rPr>
                        <a:t>Belirtim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GitHub Issues ve Projects</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#12 iş kaydı, kabul ölçütleri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710565">
                <a:tc>
                  <a:txBody>
                    <a:bodyPr/>
                    <a:lstStyle/>
                    <a:p>
                      <a:r>
                        <a:rPr sz="1875" b="0">
                          <a:solidFill>
                            <a:srgbClr val="24364B"/>
                          </a:solidFill>
                          <a:latin typeface="Arial"/>
                          <a:ea typeface="Arial"/>
                          <a:cs typeface="Arial"/>
                        </a:rPr>
                        <a:t>Tasarım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draw.io ve OpenAPI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architecture.drawio, openapi.yaml</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710565">
                <a:tc>
                  <a:txBody>
                    <a:bodyPr/>
                    <a:lstStyle/>
                    <a:p>
                      <a:r>
                        <a:rPr sz="1875" b="0">
                          <a:solidFill>
                            <a:srgbClr val="24364B"/>
                          </a:solidFill>
                          <a:latin typeface="Arial"/>
                          <a:ea typeface="Arial"/>
                          <a:cs typeface="Arial"/>
                        </a:rPr>
                        <a:t>Gerçekleştirme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FastAPI, PostgreSQL, Git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src/, migrations/, commit geçmişi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710565">
                <a:tc>
                  <a:txBody>
                    <a:bodyPr/>
                    <a:lstStyle/>
                    <a:p>
                      <a:r>
                        <a:rPr sz="1875" b="0">
                          <a:solidFill>
                            <a:srgbClr val="24364B"/>
                          </a:solidFill>
                          <a:latin typeface="Arial"/>
                          <a:ea typeface="Arial"/>
                          <a:cs typeface="Arial"/>
                        </a:rPr>
                        <a:t>Geçerleme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pytest ve Playwright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tests/, otomatik test raporları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r h="710565">
                <a:tc>
                  <a:txBody>
                    <a:bodyPr/>
                    <a:lstStyle/>
                    <a:p>
                      <a:r>
                        <a:rPr sz="1875" b="0">
                          <a:solidFill>
                            <a:srgbClr val="24364B"/>
                          </a:solidFill>
                          <a:latin typeface="Arial"/>
                          <a:ea typeface="Arial"/>
                          <a:cs typeface="Arial"/>
                        </a:rPr>
                        <a:t>Evrim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Unleash, OpenTelemetry, Grafana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Sürüm kaydı, hata kaydı, gözlem verisi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5"/>
                  </a:ext>
                </a:extLst>
              </a:tr>
            </a:tbl>
          </a:graphicData>
        </a:graphic>
      </p:graphicFrame>
      <p:sp>
        <p:nvSpPr>
          <p:cNvPr id="3" name="Kaynak sunum: 3, 20–32">
            <a:extLst>
              <a:ext uri="{FF2B5EF4-FFF2-40B4-BE49-F238E27FC236}">
                <a16:creationId xmlns:a16="http://schemas.microsoft.com/office/drawing/2014/main" id="{FAE40D64-B8EC-4729-BBF2-61F84E4EC4AA}"/>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 20–32</a:t>
            </a:r>
          </a:p>
        </p:txBody>
      </p:sp>
      <p:sp>
        <p:nvSpPr>
          <p:cNvPr id="4" name="10">
            <a:extLst>
              <a:ext uri="{FF2B5EF4-FFF2-40B4-BE49-F238E27FC236}">
                <a16:creationId xmlns:a16="http://schemas.microsoft.com/office/drawing/2014/main" id="{236B0DB7-5D3E-4E6C-9E5C-0E40DA7F27FF}"/>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10</a:t>
            </a:r>
          </a:p>
        </p:txBody>
      </p:sp>
    </p:spTree>
    <p:extLst>
      <p:ext uri="{BB962C8B-B14F-4D97-AF65-F5344CB8AC3E}">
        <p14:creationId xmlns:p14="http://schemas.microsoft.com/office/powerpoint/2010/main" val="203235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Şelale modelinde aşama onayı">
            <a:extLst>
              <a:ext uri="{FF2B5EF4-FFF2-40B4-BE49-F238E27FC236}">
                <a16:creationId xmlns:a16="http://schemas.microsoft.com/office/drawing/2014/main" id="{586CBABE-FF3A-4593-9C84-8F4C47977F69}"/>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Şelale modelinde aşama onayı</a:t>
            </a:r>
          </a:p>
        </p:txBody>
      </p:sp>
      <p:sp>
        <p:nvSpPr>
          <p:cNvPr id="2" name="Gereksinim aşaması">
            <a:extLst>
              <a:ext uri="{FF2B5EF4-FFF2-40B4-BE49-F238E27FC236}">
                <a16:creationId xmlns:a16="http://schemas.microsoft.com/office/drawing/2014/main" id="{03F90A88-52DD-4BA3-B3F2-1D5A47E0B70D}"/>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Gereksinim aşaması</a:t>
            </a:r>
          </a:p>
        </p:txBody>
      </p:sp>
      <p:sp>
        <p:nvSpPr>
          <p:cNvPr id="3" name="Ekip gereksinim belgesini sürümler ve müşteriyle kapsamı ona">
            <a:extLst>
              <a:ext uri="{FF2B5EF4-FFF2-40B4-BE49-F238E27FC236}">
                <a16:creationId xmlns:a16="http://schemas.microsoft.com/office/drawing/2014/main" id="{061232E9-F117-4CD1-B7EE-1C0C1203048D}"/>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gereksinim belgesini sürümler ve müşteriyle kapsamı onaylar.</a:t>
            </a:r>
          </a:p>
        </p:txBody>
      </p:sp>
      <p:sp>
        <p:nvSpPr>
          <p:cNvPr id="4" name="Tasarım aşaması">
            <a:extLst>
              <a:ext uri="{FF2B5EF4-FFF2-40B4-BE49-F238E27FC236}">
                <a16:creationId xmlns:a16="http://schemas.microsoft.com/office/drawing/2014/main" id="{DFDE941C-4FAF-4E71-859E-DA18385E1043}"/>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Tasarım aşaması</a:t>
            </a:r>
          </a:p>
        </p:txBody>
      </p:sp>
      <p:sp>
        <p:nvSpPr>
          <p:cNvPr id="5" name="Mimari çizim, veri modeli ve API sözleşmesi gözden geçirilir">
            <a:extLst>
              <a:ext uri="{FF2B5EF4-FFF2-40B4-BE49-F238E27FC236}">
                <a16:creationId xmlns:a16="http://schemas.microsoft.com/office/drawing/2014/main" id="{42A36D4D-617A-469B-8946-71258188A6CD}"/>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Mimari çizim, veri modeli ve API sözleşmesi gözden geçirilir.</a:t>
            </a:r>
          </a:p>
        </p:txBody>
      </p:sp>
      <p:sp>
        <p:nvSpPr>
          <p:cNvPr id="6" name="Geliştirme ve test">
            <a:extLst>
              <a:ext uri="{FF2B5EF4-FFF2-40B4-BE49-F238E27FC236}">
                <a16:creationId xmlns:a16="http://schemas.microsoft.com/office/drawing/2014/main" id="{60D8AA77-9A42-4210-8691-F20BBFAF577D}"/>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Geliştirme ve test</a:t>
            </a:r>
          </a:p>
        </p:txBody>
      </p:sp>
      <p:sp>
        <p:nvSpPr>
          <p:cNvPr id="7" name="Kod teslimine test raporu ve açık kusur listesi eşlik eder.">
            <a:extLst>
              <a:ext uri="{FF2B5EF4-FFF2-40B4-BE49-F238E27FC236}">
                <a16:creationId xmlns:a16="http://schemas.microsoft.com/office/drawing/2014/main" id="{1184286B-5462-41CB-AA9F-3D02F6F4CC81}"/>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Kod teslimine test raporu ve açık kusur listesi eşlik eder.</a:t>
            </a:r>
          </a:p>
        </p:txBody>
      </p:sp>
      <p:sp>
        <p:nvSpPr>
          <p:cNvPr id="8" name="Değişiklik örneği">
            <a:extLst>
              <a:ext uri="{FF2B5EF4-FFF2-40B4-BE49-F238E27FC236}">
                <a16:creationId xmlns:a16="http://schemas.microsoft.com/office/drawing/2014/main" id="{8CEAFE99-1EFB-47C4-9FB9-FF17B37F1BD2}"/>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Değişiklik örneği</a:t>
            </a:r>
          </a:p>
        </p:txBody>
      </p:sp>
      <p:sp>
        <p:nvSpPr>
          <p:cNvPr id="9" name="Yeni bekleme listesi talebi için kapsam, süre ve test etkisi">
            <a:extLst>
              <a:ext uri="{FF2B5EF4-FFF2-40B4-BE49-F238E27FC236}">
                <a16:creationId xmlns:a16="http://schemas.microsoft.com/office/drawing/2014/main" id="{080FA721-2AF8-43A8-A5F9-24C2D322CBC8}"/>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Yeni bekleme listesi talebi için kapsam, süre ve test etkisi değerlendirilir.</a:t>
            </a:r>
          </a:p>
        </p:txBody>
      </p:sp>
      <p:sp>
        <p:nvSpPr>
          <p:cNvPr id="10" name="Araç örneği: Git deposu, iş takip sistemi ve belge onay kayı">
            <a:extLst>
              <a:ext uri="{FF2B5EF4-FFF2-40B4-BE49-F238E27FC236}">
                <a16:creationId xmlns:a16="http://schemas.microsoft.com/office/drawing/2014/main" id="{9CE108CA-3A86-46F9-BF6F-8AE0747C06BE}"/>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Araç örneği: Git deposu, iş takip sistemi ve belge onay kayıtları.</a:t>
            </a:r>
          </a:p>
        </p:txBody>
      </p:sp>
      <p:sp>
        <p:nvSpPr>
          <p:cNvPr id="11" name="Kaynak sunum: 6–10">
            <a:extLst>
              <a:ext uri="{FF2B5EF4-FFF2-40B4-BE49-F238E27FC236}">
                <a16:creationId xmlns:a16="http://schemas.microsoft.com/office/drawing/2014/main" id="{74353C7A-3724-4D8A-8F34-DAC024BA0805}"/>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6–10</a:t>
            </a:r>
          </a:p>
        </p:txBody>
      </p:sp>
      <p:sp>
        <p:nvSpPr>
          <p:cNvPr id="12" name="11">
            <a:extLst>
              <a:ext uri="{FF2B5EF4-FFF2-40B4-BE49-F238E27FC236}">
                <a16:creationId xmlns:a16="http://schemas.microsoft.com/office/drawing/2014/main" id="{ACEB2359-54C6-48F1-A772-A5FA333B401F}"/>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11</a:t>
            </a:r>
          </a:p>
        </p:txBody>
      </p:sp>
    </p:spTree>
    <p:extLst>
      <p:ext uri="{BB962C8B-B14F-4D97-AF65-F5344CB8AC3E}">
        <p14:creationId xmlns:p14="http://schemas.microsoft.com/office/powerpoint/2010/main" val="528649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Artımlı geliştirmede küçük sürümler">
            <a:extLst>
              <a:ext uri="{FF2B5EF4-FFF2-40B4-BE49-F238E27FC236}">
                <a16:creationId xmlns:a16="http://schemas.microsoft.com/office/drawing/2014/main" id="{75A3F4FB-3A36-4261-8F18-606121A904EB}"/>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Artımlı geliştirmede küçük sürümler</a:t>
            </a:r>
          </a:p>
        </p:txBody>
      </p:sp>
      <p:graphicFrame>
        <p:nvGraphicFramePr>
          <p:cNvPr id="2" name="Tablo 1">
            <a:extLst>
              <a:ext uri="{FF2B5EF4-FFF2-40B4-BE49-F238E27FC236}">
                <a16:creationId xmlns:a16="http://schemas.microsoft.com/office/drawing/2014/main" id="{914ADEF8-0DB0-4D7E-93BE-F0A0B73608EB}"/>
              </a:ext>
            </a:extLst>
          </p:cNvPr>
          <p:cNvGraphicFramePr/>
          <p:nvPr/>
        </p:nvGraphicFramePr>
        <p:xfrm>
          <a:off x="609600" y="1466850"/>
          <a:ext cx="10953750" cy="390525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90550">
                <a:tc>
                  <a:txBody>
                    <a:bodyPr/>
                    <a:lstStyle/>
                    <a:p>
                      <a:r>
                        <a:rPr sz="1875" b="1">
                          <a:solidFill>
                            <a:srgbClr val="FFFFFF"/>
                          </a:solidFill>
                          <a:latin typeface="Arial"/>
                          <a:ea typeface="Arial"/>
                          <a:cs typeface="Arial"/>
                        </a:rPr>
                        <a:t>Artım</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Teslim edilen işlev</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Geri bildirim</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Proje kaydı</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v0.1</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Etkinlik listesi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Tarih filtresi gerekiyor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Filtre için yeni issue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v0.2</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Giriş ve kayıt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Son koltuk aynı anda seçiliyor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Eşzamanlılık testi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v0.3</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Kontenjan kontrolü</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Dolu etkinliğe talep sürüyor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Bekleme listesi işi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v0.4</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Bekleme listesi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Sıra bilgisi görünmeli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Kullanıcı arayüzü değişikliği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Her artım test edilir. Son kullanıcıya açılacak artım için a">
            <a:extLst>
              <a:ext uri="{FF2B5EF4-FFF2-40B4-BE49-F238E27FC236}">
                <a16:creationId xmlns:a16="http://schemas.microsoft.com/office/drawing/2014/main" id="{73737D59-9A17-4EC4-821F-A2647500F3D7}"/>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Her artım test edilir. Son kullanıcıya açılacak artım için ayrıca yayın kararı gerekir.</a:t>
            </a:r>
          </a:p>
        </p:txBody>
      </p:sp>
      <p:sp>
        <p:nvSpPr>
          <p:cNvPr id="4" name="Kaynak sunum: 11–14, 42–46">
            <a:extLst>
              <a:ext uri="{FF2B5EF4-FFF2-40B4-BE49-F238E27FC236}">
                <a16:creationId xmlns:a16="http://schemas.microsoft.com/office/drawing/2014/main" id="{70755973-18D9-4509-8A1C-0A0E19050132}"/>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11–14, 42–46</a:t>
            </a:r>
          </a:p>
        </p:txBody>
      </p:sp>
      <p:sp>
        <p:nvSpPr>
          <p:cNvPr id="5" name="12">
            <a:extLst>
              <a:ext uri="{FF2B5EF4-FFF2-40B4-BE49-F238E27FC236}">
                <a16:creationId xmlns:a16="http://schemas.microsoft.com/office/drawing/2014/main" id="{B4BFF0E4-2229-4424-8134-FB8472A5F6D3}"/>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12</a:t>
            </a:r>
          </a:p>
        </p:txBody>
      </p:sp>
    </p:spTree>
    <p:extLst>
      <p:ext uri="{BB962C8B-B14F-4D97-AF65-F5344CB8AC3E}">
        <p14:creationId xmlns:p14="http://schemas.microsoft.com/office/powerpoint/2010/main" val="1197650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İş planı ve çevik iş takibi">
            <a:extLst>
              <a:ext uri="{FF2B5EF4-FFF2-40B4-BE49-F238E27FC236}">
                <a16:creationId xmlns:a16="http://schemas.microsoft.com/office/drawing/2014/main" id="{BCD76C3F-7A56-479A-A9E8-4C560C8FC14C}"/>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İş planı ve çevik iş takibi</a:t>
            </a:r>
          </a:p>
        </p:txBody>
      </p:sp>
      <p:graphicFrame>
        <p:nvGraphicFramePr>
          <p:cNvPr id="2" name="Tablo 1">
            <a:extLst>
              <a:ext uri="{FF2B5EF4-FFF2-40B4-BE49-F238E27FC236}">
                <a16:creationId xmlns:a16="http://schemas.microsoft.com/office/drawing/2014/main" id="{A2B7F6A2-0C8E-4B61-B9E7-A70275C9FDFA}"/>
              </a:ext>
            </a:extLst>
          </p:cNvPr>
          <p:cNvGraphicFramePr/>
          <p:nvPr/>
        </p:nvGraphicFramePr>
        <p:xfrm>
          <a:off x="609600" y="1466850"/>
          <a:ext cx="10953750" cy="3905250"/>
        </p:xfrm>
        <a:graphic>
          <a:graphicData uri="http://schemas.openxmlformats.org/drawingml/2006/table">
            <a:tbl>
              <a:tblPr/>
              <a:tblGrid>
                <a:gridCol w="238125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Karar</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Plan odaklı uygulama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Çevik uygulama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Planlama</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Aşamalar ve teslim belgeleri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Öncelikli ürün iş listesi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Değişiklik</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Etki analizi ve kapsam onayı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İş listesini yeniden sıralama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Görünürlük</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Aşama durumu ve tamamlanma kanıtı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Hazır, geliştirmede, incelemede, tamam</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Araç</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GitHub Projects yol haritası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Aynı aracın pano ve iterasyon görünümü</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GitHub Projects bir yöntemi dayatmaz. Ekip iş akışını kendis">
            <a:extLst>
              <a:ext uri="{FF2B5EF4-FFF2-40B4-BE49-F238E27FC236}">
                <a16:creationId xmlns:a16="http://schemas.microsoft.com/office/drawing/2014/main" id="{2DAE8109-23D4-46FB-B7AD-CE44EC4039D0}"/>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GitHub Projects bir yöntemi dayatmaz. Ekip iş akışını kendisi tanımlar.</a:t>
            </a:r>
          </a:p>
        </p:txBody>
      </p:sp>
      <p:sp>
        <p:nvSpPr>
          <p:cNvPr id="4" name="Kaynak sunum: 4–5, 49">
            <a:extLst>
              <a:ext uri="{FF2B5EF4-FFF2-40B4-BE49-F238E27FC236}">
                <a16:creationId xmlns:a16="http://schemas.microsoft.com/office/drawing/2014/main" id="{6B410516-8190-44DC-BDBF-53429322EE56}"/>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4–5, 49</a:t>
            </a:r>
          </a:p>
        </p:txBody>
      </p:sp>
      <p:sp>
        <p:nvSpPr>
          <p:cNvPr id="5" name="13">
            <a:extLst>
              <a:ext uri="{FF2B5EF4-FFF2-40B4-BE49-F238E27FC236}">
                <a16:creationId xmlns:a16="http://schemas.microsoft.com/office/drawing/2014/main" id="{25C076C6-CF55-4F73-98A5-206776E514E8}"/>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13</a:t>
            </a:r>
          </a:p>
        </p:txBody>
      </p:sp>
    </p:spTree>
    <p:extLst>
      <p:ext uri="{BB962C8B-B14F-4D97-AF65-F5344CB8AC3E}">
        <p14:creationId xmlns:p14="http://schemas.microsoft.com/office/powerpoint/2010/main" val="70908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Yeniden kullanım ve bütünleştirme">
            <a:extLst>
              <a:ext uri="{FF2B5EF4-FFF2-40B4-BE49-F238E27FC236}">
                <a16:creationId xmlns:a16="http://schemas.microsoft.com/office/drawing/2014/main" id="{A0C1FD55-3D82-4FF7-ACA0-3D4D7BDF09F7}"/>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Yeniden kullanım ve bütünleştirme</a:t>
            </a:r>
          </a:p>
        </p:txBody>
      </p:sp>
      <p:sp>
        <p:nvSpPr>
          <p:cNvPr id="2" name="Hazır bileşen">
            <a:extLst>
              <a:ext uri="{FF2B5EF4-FFF2-40B4-BE49-F238E27FC236}">
                <a16:creationId xmlns:a16="http://schemas.microsoft.com/office/drawing/2014/main" id="{9323C8E3-817B-49FB-9BE8-77AE6374EE85}"/>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Hazır bileşen</a:t>
            </a:r>
          </a:p>
        </p:txBody>
      </p:sp>
      <p:sp>
        <p:nvSpPr>
          <p:cNvPr id="3" name="Kimlik doğrulama için Keycloak, veri saklamak için PostgreSQ">
            <a:extLst>
              <a:ext uri="{FF2B5EF4-FFF2-40B4-BE49-F238E27FC236}">
                <a16:creationId xmlns:a16="http://schemas.microsoft.com/office/drawing/2014/main" id="{4BBA889B-5DBB-4642-95D4-3C062A21264F}"/>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Kimlik doğrulama için Keycloak, veri saklamak için PostgreSQL değerlendirilir.</a:t>
            </a:r>
          </a:p>
        </p:txBody>
      </p:sp>
      <p:sp>
        <p:nvSpPr>
          <p:cNvPr id="4" name="Uyum kontrolü">
            <a:extLst>
              <a:ext uri="{FF2B5EF4-FFF2-40B4-BE49-F238E27FC236}">
                <a16:creationId xmlns:a16="http://schemas.microsoft.com/office/drawing/2014/main" id="{E2E16C75-2E54-44C5-8407-140BECCD0CF3}"/>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Uyum kontrolü</a:t>
            </a:r>
          </a:p>
        </p:txBody>
      </p:sp>
      <p:sp>
        <p:nvSpPr>
          <p:cNvPr id="5" name="Giriş protokolü, veri modeli, lisans, bakım ve kurumun işlet">
            <a:extLst>
              <a:ext uri="{FF2B5EF4-FFF2-40B4-BE49-F238E27FC236}">
                <a16:creationId xmlns:a16="http://schemas.microsoft.com/office/drawing/2014/main" id="{39A79CBD-1177-4B39-BF55-24566774E8C7}"/>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Giriş protokolü, veri modeli, lisans, bakım ve kurumun işletim imkânları incelenir.</a:t>
            </a:r>
          </a:p>
        </p:txBody>
      </p:sp>
      <p:sp>
        <p:nvSpPr>
          <p:cNvPr id="6" name="Uyarlama">
            <a:extLst>
              <a:ext uri="{FF2B5EF4-FFF2-40B4-BE49-F238E27FC236}">
                <a16:creationId xmlns:a16="http://schemas.microsoft.com/office/drawing/2014/main" id="{A80BBE56-4D63-4F68-9F73-BECF17788B9A}"/>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Uyarlama</a:t>
            </a:r>
          </a:p>
        </p:txBody>
      </p:sp>
      <p:sp>
        <p:nvSpPr>
          <p:cNvPr id="7" name="Uygulama giriş akışını hazır kimlik sağlayıcısına bağlar. Yö">
            <a:extLst>
              <a:ext uri="{FF2B5EF4-FFF2-40B4-BE49-F238E27FC236}">
                <a16:creationId xmlns:a16="http://schemas.microsoft.com/office/drawing/2014/main" id="{6B769071-9535-4FC2-A72F-9102142822C6}"/>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Uygulama giriş akışını hazır kimlik sağlayıcısına bağlar. Yönetici yetkisini ayrıca kontrol eder.</a:t>
            </a:r>
          </a:p>
        </p:txBody>
      </p:sp>
      <p:sp>
        <p:nvSpPr>
          <p:cNvPr id="8" name="Bedel">
            <a:extLst>
              <a:ext uri="{FF2B5EF4-FFF2-40B4-BE49-F238E27FC236}">
                <a16:creationId xmlns:a16="http://schemas.microsoft.com/office/drawing/2014/main" id="{71E7BCEA-1303-481E-809F-46597A99C305}"/>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Bedel</a:t>
            </a:r>
          </a:p>
        </p:txBody>
      </p:sp>
      <p:sp>
        <p:nvSpPr>
          <p:cNvPr id="9" name="Ekip sıfırdan daha az kod yazar. Bileşen sürümlerini ve güve">
            <a:extLst>
              <a:ext uri="{FF2B5EF4-FFF2-40B4-BE49-F238E27FC236}">
                <a16:creationId xmlns:a16="http://schemas.microsoft.com/office/drawing/2014/main" id="{3F866B37-0EBE-4625-9EFC-F1EA385ED987}"/>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sıfırdan daha az kod yazar. Bileşen sürümlerini ve güvenlik güncellemelerini izler.</a:t>
            </a:r>
          </a:p>
        </p:txBody>
      </p:sp>
      <p:sp>
        <p:nvSpPr>
          <p:cNvPr id="10" name="Kaynak sunum: 15–18">
            <a:extLst>
              <a:ext uri="{FF2B5EF4-FFF2-40B4-BE49-F238E27FC236}">
                <a16:creationId xmlns:a16="http://schemas.microsoft.com/office/drawing/2014/main" id="{78C283FA-29B2-4BB6-92E7-33C9041F29AA}"/>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15–18</a:t>
            </a:r>
          </a:p>
        </p:txBody>
      </p:sp>
      <p:sp>
        <p:nvSpPr>
          <p:cNvPr id="11" name="14">
            <a:extLst>
              <a:ext uri="{FF2B5EF4-FFF2-40B4-BE49-F238E27FC236}">
                <a16:creationId xmlns:a16="http://schemas.microsoft.com/office/drawing/2014/main" id="{67F3FB6A-E97D-4B44-A2A4-58BEB9E42BF4}"/>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14</a:t>
            </a:r>
          </a:p>
        </p:txBody>
      </p:sp>
    </p:spTree>
    <p:extLst>
      <p:ext uri="{BB962C8B-B14F-4D97-AF65-F5344CB8AC3E}">
        <p14:creationId xmlns:p14="http://schemas.microsoft.com/office/powerpoint/2010/main" val="460033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Gereksinimin iş kaydına dönüşmesi">
            <a:extLst>
              <a:ext uri="{FF2B5EF4-FFF2-40B4-BE49-F238E27FC236}">
                <a16:creationId xmlns:a16="http://schemas.microsoft.com/office/drawing/2014/main" id="{76D8F2ED-AAA7-4840-91C5-E821800407FF}"/>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Gereksinimin iş kaydına dönüşmesi</a:t>
            </a:r>
          </a:p>
        </p:txBody>
      </p:sp>
      <p:sp>
        <p:nvSpPr>
          <p:cNvPr id="2" name="GitHub Issue #12 · ders örneği">
            <a:extLst>
              <a:ext uri="{FF2B5EF4-FFF2-40B4-BE49-F238E27FC236}">
                <a16:creationId xmlns:a16="http://schemas.microsoft.com/office/drawing/2014/main" id="{4F504C34-12D1-4497-B774-6CC0A1C7539E}"/>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GitHub Issue #12 · ders örneği</a:t>
            </a:r>
          </a:p>
        </p:txBody>
      </p:sp>
      <p:sp>
        <p:nvSpPr>
          <p:cNvPr id="3" name="Başlık: Öğrenci etkinliğe kayıt olabilsin&#10;&#10;Kullanıcı hikâyes">
            <a:extLst>
              <a:ext uri="{FF2B5EF4-FFF2-40B4-BE49-F238E27FC236}">
                <a16:creationId xmlns:a16="http://schemas.microsoft.com/office/drawing/2014/main" id="{549D6AC2-2FA4-4313-880F-21F47897908F}"/>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Başlık: Öğrenci etkinliğe kayıt olabilsin</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Kullanıcı hikâyesi</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Öğrenci olarak açık bir etkinliğe kaydolmak istiyorum.</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Kabul ölçütleri</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1. Giriş yapan öğrenci kayıt oluşturabilir.</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2. Kontenjan doluysa sistem isteği reddeder.</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3. Aynı öğrenci aynı etkinliğe iki kez kaydolamaz.</a:t>
            </a:r>
          </a:p>
        </p:txBody>
      </p:sp>
      <p:sp>
        <p:nvSpPr>
          <p:cNvPr id="4" name="Sorumlu: geliştirici&#10;Öncelik: yüksek&#10;Artım: v0.2&#10;&#10;Çıktı&#10;Üzer">
            <a:extLst>
              <a:ext uri="{FF2B5EF4-FFF2-40B4-BE49-F238E27FC236}">
                <a16:creationId xmlns:a16="http://schemas.microsoft.com/office/drawing/2014/main" id="{A80A4D10-3A06-42F0-9A71-47E7984A9FC1}"/>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Sorumlu: geliştirici</a:t>
            </a:r>
          </a:p>
          <a:p>
            <a:pPr>
              <a:defRPr sz="1950" b="0">
                <a:solidFill>
                  <a:srgbClr val="5D6C7A"/>
                </a:solidFill>
                <a:latin typeface="Arial"/>
                <a:ea typeface="Arial"/>
                <a:cs typeface="Arial"/>
              </a:defRPr>
            </a:pPr>
            <a:r>
              <a:rPr sz="1950" b="0">
                <a:solidFill>
                  <a:srgbClr val="5D6C7A"/>
                </a:solidFill>
                <a:latin typeface="Arial"/>
                <a:ea typeface="Arial"/>
                <a:cs typeface="Arial"/>
              </a:rPr>
              <a:t>Öncelik: yüksek</a:t>
            </a:r>
          </a:p>
          <a:p>
            <a:pPr>
              <a:defRPr sz="1950" b="0">
                <a:solidFill>
                  <a:srgbClr val="5D6C7A"/>
                </a:solidFill>
                <a:latin typeface="Arial"/>
                <a:ea typeface="Arial"/>
                <a:cs typeface="Arial"/>
              </a:defRPr>
            </a:pPr>
            <a:r>
              <a:rPr sz="1950" b="0">
                <a:solidFill>
                  <a:srgbClr val="5D6C7A"/>
                </a:solidFill>
                <a:latin typeface="Arial"/>
                <a:ea typeface="Arial"/>
                <a:cs typeface="Arial"/>
              </a:rPr>
              <a:t>Artım: v0.2</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Çıktı</a:t>
            </a:r>
          </a:p>
          <a:p>
            <a:pPr>
              <a:defRPr sz="1950" b="0">
                <a:solidFill>
                  <a:srgbClr val="5D6C7A"/>
                </a:solidFill>
                <a:latin typeface="Arial"/>
                <a:ea typeface="Arial"/>
                <a:cs typeface="Arial"/>
              </a:defRPr>
            </a:pPr>
            <a:r>
              <a:rPr sz="1950" b="0">
                <a:solidFill>
                  <a:srgbClr val="5D6C7A"/>
                </a:solidFill>
                <a:latin typeface="Arial"/>
                <a:ea typeface="Arial"/>
                <a:cs typeface="Arial"/>
              </a:rPr>
              <a:t>Üzerinde uzlaşılan ve test edilebilen bir iş kaydı.</a:t>
            </a:r>
          </a:p>
        </p:txBody>
      </p:sp>
      <p:sp>
        <p:nvSpPr>
          <p:cNvPr id="5" name="Kaynak sunum: 21–22">
            <a:extLst>
              <a:ext uri="{FF2B5EF4-FFF2-40B4-BE49-F238E27FC236}">
                <a16:creationId xmlns:a16="http://schemas.microsoft.com/office/drawing/2014/main" id="{2B83F5A7-239F-46DD-993F-99A1D72498EE}"/>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21–22</a:t>
            </a:r>
          </a:p>
        </p:txBody>
      </p:sp>
      <p:sp>
        <p:nvSpPr>
          <p:cNvPr id="6" name="15">
            <a:extLst>
              <a:ext uri="{FF2B5EF4-FFF2-40B4-BE49-F238E27FC236}">
                <a16:creationId xmlns:a16="http://schemas.microsoft.com/office/drawing/2014/main" id="{D8885DEB-D268-4E97-9516-D9800224B402}"/>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15</a:t>
            </a:r>
          </a:p>
        </p:txBody>
      </p:sp>
    </p:spTree>
    <p:extLst>
      <p:ext uri="{BB962C8B-B14F-4D97-AF65-F5344CB8AC3E}">
        <p14:creationId xmlns:p14="http://schemas.microsoft.com/office/powerpoint/2010/main" val="64884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Belirsiz ifadeden kabul ölçütüne">
            <a:extLst>
              <a:ext uri="{FF2B5EF4-FFF2-40B4-BE49-F238E27FC236}">
                <a16:creationId xmlns:a16="http://schemas.microsoft.com/office/drawing/2014/main" id="{EAFBF00C-AA32-45A8-B2F0-CEB21D566F89}"/>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Belirsiz ifadeden kabul ölçütüne</a:t>
            </a:r>
          </a:p>
        </p:txBody>
      </p:sp>
      <p:graphicFrame>
        <p:nvGraphicFramePr>
          <p:cNvPr id="2" name="Tablo 1">
            <a:extLst>
              <a:ext uri="{FF2B5EF4-FFF2-40B4-BE49-F238E27FC236}">
                <a16:creationId xmlns:a16="http://schemas.microsoft.com/office/drawing/2014/main" id="{5A4672B8-11B2-4EDD-BE5C-1F11E0D74B61}"/>
              </a:ext>
            </a:extLst>
          </p:cNvPr>
          <p:cNvGraphicFramePr/>
          <p:nvPr/>
        </p:nvGraphicFramePr>
        <p:xfrm>
          <a:off x="609600" y="1466850"/>
          <a:ext cx="10953750" cy="3905250"/>
        </p:xfrm>
        <a:graphic>
          <a:graphicData uri="http://schemas.openxmlformats.org/drawingml/2006/table">
            <a:tbl>
              <a:tblPr/>
              <a:tblGrid>
                <a:gridCol w="30480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İlk ifade</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Örnek netleştirme</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Kontrol yöntemi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“Sistem hızlı olsun.”</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Kayıt API yanıtının %95’i 2 sn altında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Belirlenmiş yük altında süre ölçümü</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“Kayıt güvenli olsun.”</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Giriş yapmayan istek kayıt oluşturamaz</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Kimliksiz API isteği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“Kontenjan aşılmasın.”</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Son koltuğa iki istekten yalnız biri kabul edilir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Eşzamanlı bütünleştirme testi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“Ekran kolay olsun.”</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Öğrenci kayıt sonucunu ekranda görür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Tarayıcı testi ve kullanıcı denemesi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2 saniye ve %95 bu ders senaryosunun hedefidir. Evrensel bir">
            <a:extLst>
              <a:ext uri="{FF2B5EF4-FFF2-40B4-BE49-F238E27FC236}">
                <a16:creationId xmlns:a16="http://schemas.microsoft.com/office/drawing/2014/main" id="{397C2901-96D1-4C82-97B9-D3524EF8545A}"/>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2 saniye ve %95 bu ders senaryosunun hedefidir. Evrensel bir performans standardı değildir.</a:t>
            </a:r>
          </a:p>
        </p:txBody>
      </p:sp>
      <p:sp>
        <p:nvSpPr>
          <p:cNvPr id="4" name="Kaynak sunum: 22, 27–29">
            <a:extLst>
              <a:ext uri="{FF2B5EF4-FFF2-40B4-BE49-F238E27FC236}">
                <a16:creationId xmlns:a16="http://schemas.microsoft.com/office/drawing/2014/main" id="{D55C6FF4-207A-4936-B3FA-10DA233777DE}"/>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22, 27–29</a:t>
            </a:r>
          </a:p>
        </p:txBody>
      </p:sp>
      <p:sp>
        <p:nvSpPr>
          <p:cNvPr id="5" name="16">
            <a:extLst>
              <a:ext uri="{FF2B5EF4-FFF2-40B4-BE49-F238E27FC236}">
                <a16:creationId xmlns:a16="http://schemas.microsoft.com/office/drawing/2014/main" id="{E16C51A8-F02B-4F1D-9BC9-B7CE614D706A}"/>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16</a:t>
            </a:r>
          </a:p>
        </p:txBody>
      </p:sp>
    </p:spTree>
    <p:extLst>
      <p:ext uri="{BB962C8B-B14F-4D97-AF65-F5344CB8AC3E}">
        <p14:creationId xmlns:p14="http://schemas.microsoft.com/office/powerpoint/2010/main" val="1098673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Prototipleme araçları ve deneme amacı">
            <a:extLst>
              <a:ext uri="{FF2B5EF4-FFF2-40B4-BE49-F238E27FC236}">
                <a16:creationId xmlns:a16="http://schemas.microsoft.com/office/drawing/2014/main" id="{75BDC2F3-56FA-4678-878E-620B387283F3}"/>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Prototipleme araçları ve deneme amacı</a:t>
            </a:r>
          </a:p>
        </p:txBody>
      </p:sp>
      <p:sp>
        <p:nvSpPr>
          <p:cNvPr id="2" name="Figma">
            <a:extLst>
              <a:ext uri="{FF2B5EF4-FFF2-40B4-BE49-F238E27FC236}">
                <a16:creationId xmlns:a16="http://schemas.microsoft.com/office/drawing/2014/main" id="{CBE3DAD5-90B2-4A43-9B4E-C0241BF329EB}"/>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Figma</a:t>
            </a:r>
          </a:p>
        </p:txBody>
      </p:sp>
      <p:sp>
        <p:nvSpPr>
          <p:cNvPr id="3" name="Etkinlik listesi, kayıt ve hata ekranları arasında tıklanabi">
            <a:extLst>
              <a:ext uri="{FF2B5EF4-FFF2-40B4-BE49-F238E27FC236}">
                <a16:creationId xmlns:a16="http://schemas.microsoft.com/office/drawing/2014/main" id="{4FCE8957-C502-4973-AB7F-AA6ABD40A119}"/>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Etkinlik listesi, kayıt ve hata ekranları arasında tıklanabilir akış hazırlanır.</a:t>
            </a:r>
          </a:p>
        </p:txBody>
      </p:sp>
      <p:sp>
        <p:nvSpPr>
          <p:cNvPr id="4" name="Streamlit">
            <a:extLst>
              <a:ext uri="{FF2B5EF4-FFF2-40B4-BE49-F238E27FC236}">
                <a16:creationId xmlns:a16="http://schemas.microsoft.com/office/drawing/2014/main" id="{AAFD762D-6B03-4FC0-9892-52C3BF670593}"/>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Streamlit</a:t>
            </a:r>
          </a:p>
        </p:txBody>
      </p:sp>
      <p:sp>
        <p:nvSpPr>
          <p:cNvPr id="5" name="Küçük bir Python prototipiyle kontenjan ve bekleme listesi d">
            <a:extLst>
              <a:ext uri="{FF2B5EF4-FFF2-40B4-BE49-F238E27FC236}">
                <a16:creationId xmlns:a16="http://schemas.microsoft.com/office/drawing/2014/main" id="{D090E46D-6BB7-4C03-B70A-CE581A287C88}"/>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Küçük bir Python prototipiyle kontenjan ve bekleme listesi davranışı denenir.</a:t>
            </a:r>
          </a:p>
        </p:txBody>
      </p:sp>
      <p:sp>
        <p:nvSpPr>
          <p:cNvPr id="6" name="Kullanıcı denemesi">
            <a:extLst>
              <a:ext uri="{FF2B5EF4-FFF2-40B4-BE49-F238E27FC236}">
                <a16:creationId xmlns:a16="http://schemas.microsoft.com/office/drawing/2014/main" id="{4B8115FD-CE5B-4D6A-9302-48C6FA91F44A}"/>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Kullanıcı denemesi</a:t>
            </a:r>
          </a:p>
        </p:txBody>
      </p:sp>
      <p:sp>
        <p:nvSpPr>
          <p:cNvPr id="7" name="Öğrenciden dolu bir etkinliğe kaydolması istenir. Nerede tak">
            <a:extLst>
              <a:ext uri="{FF2B5EF4-FFF2-40B4-BE49-F238E27FC236}">
                <a16:creationId xmlns:a16="http://schemas.microsoft.com/office/drawing/2014/main" id="{94FC93B9-5025-4D86-97B0-186C50F609F9}"/>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Öğrenciden dolu bir etkinliğe kaydolması istenir. Nerede takıldığı gözlenir.</a:t>
            </a:r>
          </a:p>
        </p:txBody>
      </p:sp>
      <p:sp>
        <p:nvSpPr>
          <p:cNvPr id="8" name="Karar">
            <a:extLst>
              <a:ext uri="{FF2B5EF4-FFF2-40B4-BE49-F238E27FC236}">
                <a16:creationId xmlns:a16="http://schemas.microsoft.com/office/drawing/2014/main" id="{D301C43D-DB12-40DB-A667-55064BEA8F9F}"/>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Karar</a:t>
            </a:r>
          </a:p>
        </p:txBody>
      </p:sp>
      <p:sp>
        <p:nvSpPr>
          <p:cNvPr id="9" name="Belirsizlik kullanıcı akışındaysa Figma, çalışan bir hesapla">
            <a:extLst>
              <a:ext uri="{FF2B5EF4-FFF2-40B4-BE49-F238E27FC236}">
                <a16:creationId xmlns:a16="http://schemas.microsoft.com/office/drawing/2014/main" id="{073C23CC-D831-4DB5-A30D-4D6D644C9803}"/>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Belirsizlik kullanıcı akışındaysa Figma, çalışan bir hesaplamadaysa küçük kod prototipi seçilebilir.</a:t>
            </a:r>
          </a:p>
        </p:txBody>
      </p:sp>
      <p:sp>
        <p:nvSpPr>
          <p:cNvPr id="10" name="Üretim sürümü için yetkilendirme, kalıcılık, hata yönetimi v">
            <a:extLst>
              <a:ext uri="{FF2B5EF4-FFF2-40B4-BE49-F238E27FC236}">
                <a16:creationId xmlns:a16="http://schemas.microsoft.com/office/drawing/2014/main" id="{D5476CB7-998F-4A66-8516-BB5B4416AF56}"/>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Üretim sürümü için yetkilendirme, kalıcılık, hata yönetimi ve testler ayrıca ele alınır.</a:t>
            </a:r>
          </a:p>
        </p:txBody>
      </p:sp>
      <p:sp>
        <p:nvSpPr>
          <p:cNvPr id="11" name="Kaynak sunum: 35–41">
            <a:extLst>
              <a:ext uri="{FF2B5EF4-FFF2-40B4-BE49-F238E27FC236}">
                <a16:creationId xmlns:a16="http://schemas.microsoft.com/office/drawing/2014/main" id="{0A64EEE6-0100-43DE-9E13-18ABBEF446F7}"/>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35–41</a:t>
            </a:r>
          </a:p>
        </p:txBody>
      </p:sp>
      <p:sp>
        <p:nvSpPr>
          <p:cNvPr id="12" name="17">
            <a:extLst>
              <a:ext uri="{FF2B5EF4-FFF2-40B4-BE49-F238E27FC236}">
                <a16:creationId xmlns:a16="http://schemas.microsoft.com/office/drawing/2014/main" id="{2D4D1A52-9992-4E0A-89AD-A358091F4E1D}"/>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17</a:t>
            </a:r>
          </a:p>
        </p:txBody>
      </p:sp>
    </p:spTree>
    <p:extLst>
      <p:ext uri="{BB962C8B-B14F-4D97-AF65-F5344CB8AC3E}">
        <p14:creationId xmlns:p14="http://schemas.microsoft.com/office/powerpoint/2010/main" val="1818480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Tasarım kararları ve kullanılan araçlar">
            <a:extLst>
              <a:ext uri="{FF2B5EF4-FFF2-40B4-BE49-F238E27FC236}">
                <a16:creationId xmlns:a16="http://schemas.microsoft.com/office/drawing/2014/main" id="{B0A94DA6-F464-4AF4-8647-6FAAB01AF0A1}"/>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Tasarım kararları ve kullanılan araçlar</a:t>
            </a:r>
          </a:p>
        </p:txBody>
      </p:sp>
      <p:graphicFrame>
        <p:nvGraphicFramePr>
          <p:cNvPr id="2" name="Tablo 1">
            <a:extLst>
              <a:ext uri="{FF2B5EF4-FFF2-40B4-BE49-F238E27FC236}">
                <a16:creationId xmlns:a16="http://schemas.microsoft.com/office/drawing/2014/main" id="{97E53ACC-8E59-4232-96BD-48DEF2AD1EE7}"/>
              </a:ext>
            </a:extLst>
          </p:cNvPr>
          <p:cNvGraphicFramePr/>
          <p:nvPr/>
        </p:nvGraphicFramePr>
        <p:xfrm>
          <a:off x="609600" y="1466850"/>
          <a:ext cx="10953750" cy="4143375"/>
        </p:xfrm>
        <a:graphic>
          <a:graphicData uri="http://schemas.openxmlformats.org/drawingml/2006/table">
            <a:tbl>
              <a:tblPr/>
              <a:tblGrid>
                <a:gridCol w="2381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Tasarım konusu</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Araç veya teknoloji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Örnek karar ve çıktı</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710565">
                <a:tc>
                  <a:txBody>
                    <a:bodyPr/>
                    <a:lstStyle/>
                    <a:p>
                      <a:r>
                        <a:rPr sz="1875" b="0">
                          <a:solidFill>
                            <a:srgbClr val="24364B"/>
                          </a:solidFill>
                          <a:latin typeface="Arial"/>
                          <a:ea typeface="Arial"/>
                          <a:cs typeface="Arial"/>
                        </a:rPr>
                        <a:t>Sistem yapısı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draw.io</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Web arayüzü, API ve veritabanı sınırları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710565">
                <a:tc>
                  <a:txBody>
                    <a:bodyPr/>
                    <a:lstStyle/>
                    <a:p>
                      <a:r>
                        <a:rPr sz="1875" b="0">
                          <a:solidFill>
                            <a:srgbClr val="24364B"/>
                          </a:solidFill>
                          <a:latin typeface="Arial"/>
                          <a:ea typeface="Arial"/>
                          <a:cs typeface="Arial"/>
                        </a:rPr>
                        <a:t>Servis sözleşmesi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OpenAPI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Kayıt isteği, yanıt ve hata kodları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710565">
                <a:tc>
                  <a:txBody>
                    <a:bodyPr/>
                    <a:lstStyle/>
                    <a:p>
                      <a:r>
                        <a:rPr sz="1875" b="0">
                          <a:solidFill>
                            <a:srgbClr val="24364B"/>
                          </a:solidFill>
                          <a:latin typeface="Arial"/>
                          <a:ea typeface="Arial"/>
                          <a:cs typeface="Arial"/>
                        </a:rPr>
                        <a:t>Uygulama servisi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Python ve FastAPI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Kayıt kuralını uygulayan API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710565">
                <a:tc>
                  <a:txBody>
                    <a:bodyPr/>
                    <a:lstStyle/>
                    <a:p>
                      <a:r>
                        <a:rPr sz="1875" b="0">
                          <a:solidFill>
                            <a:srgbClr val="24364B"/>
                          </a:solidFill>
                          <a:latin typeface="Arial"/>
                          <a:ea typeface="Arial"/>
                          <a:cs typeface="Arial"/>
                        </a:rPr>
                        <a:t>Veri modeli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PostgreSQL</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Öğrenci, etkinlik ve kayıt ilişkileri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r h="710565">
                <a:tc>
                  <a:txBody>
                    <a:bodyPr/>
                    <a:lstStyle/>
                    <a:p>
                      <a:r>
                        <a:rPr sz="1875" b="0">
                          <a:solidFill>
                            <a:srgbClr val="24364B"/>
                          </a:solidFill>
                          <a:latin typeface="Arial"/>
                          <a:ea typeface="Arial"/>
                          <a:cs typeface="Arial"/>
                        </a:rPr>
                        <a:t>Karar kaydı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Git deposunda Markdown</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“Neden tek API servisiyle başlıyoruz?”</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5"/>
                  </a:ext>
                </a:extLst>
              </a:tr>
            </a:tbl>
          </a:graphicData>
        </a:graphic>
      </p:graphicFrame>
      <p:sp>
        <p:nvSpPr>
          <p:cNvPr id="3" name="Kaynak sunum: 23–25">
            <a:extLst>
              <a:ext uri="{FF2B5EF4-FFF2-40B4-BE49-F238E27FC236}">
                <a16:creationId xmlns:a16="http://schemas.microsoft.com/office/drawing/2014/main" id="{F6356D8A-782B-4829-904F-7D68E89DD890}"/>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23–25</a:t>
            </a:r>
          </a:p>
        </p:txBody>
      </p:sp>
      <p:sp>
        <p:nvSpPr>
          <p:cNvPr id="4" name="18">
            <a:extLst>
              <a:ext uri="{FF2B5EF4-FFF2-40B4-BE49-F238E27FC236}">
                <a16:creationId xmlns:a16="http://schemas.microsoft.com/office/drawing/2014/main" id="{55E91893-F1E2-4F46-967D-DF2073F02959}"/>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18</a:t>
            </a:r>
          </a:p>
        </p:txBody>
      </p:sp>
    </p:spTree>
    <p:extLst>
      <p:ext uri="{BB962C8B-B14F-4D97-AF65-F5344CB8AC3E}">
        <p14:creationId xmlns:p14="http://schemas.microsoft.com/office/powerpoint/2010/main" val="1000383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API sözleşmesiyle ekiplerin anlaşması">
            <a:extLst>
              <a:ext uri="{FF2B5EF4-FFF2-40B4-BE49-F238E27FC236}">
                <a16:creationId xmlns:a16="http://schemas.microsoft.com/office/drawing/2014/main" id="{AB3050D6-33D4-4135-A71C-1428B511C510}"/>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API sözleşmesiyle ekiplerin anlaşması</a:t>
            </a:r>
          </a:p>
        </p:txBody>
      </p:sp>
      <p:sp>
        <p:nvSpPr>
          <p:cNvPr id="2" name="OpenAPI mantığına uygun istek ve yanıt örneği">
            <a:extLst>
              <a:ext uri="{FF2B5EF4-FFF2-40B4-BE49-F238E27FC236}">
                <a16:creationId xmlns:a16="http://schemas.microsoft.com/office/drawing/2014/main" id="{58A26F27-B121-4C7E-96DA-3C0DC1B18AC9}"/>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OpenAPI mantığına uygun istek ve yanıt örneği</a:t>
            </a:r>
          </a:p>
        </p:txBody>
      </p:sp>
      <p:sp>
        <p:nvSpPr>
          <p:cNvPr id="3" name="POST /events/42/registrations&#10;Authorization: Bearer &lt;erişim-">
            <a:extLst>
              <a:ext uri="{FF2B5EF4-FFF2-40B4-BE49-F238E27FC236}">
                <a16:creationId xmlns:a16="http://schemas.microsoft.com/office/drawing/2014/main" id="{3439AA62-3379-4C52-8A8A-A70D002657EA}"/>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POST /events/42/registrations</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Authorization: Bearer &lt;erişim-belirteci&gt;</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Başarılı yanıt</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201 Created</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{"registration_id": 583, "event_id": 42}</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Kontenjan dolu yanıtı</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409 Conflict</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{"code": "EVENT_FULL"}</a:t>
            </a:r>
          </a:p>
        </p:txBody>
      </p:sp>
      <p:sp>
        <p:nvSpPr>
          <p:cNvPr id="4" name="OpenAPI dosyası&#10;Yol, yöntem, veri şeması ve yanıtları tanıml">
            <a:extLst>
              <a:ext uri="{FF2B5EF4-FFF2-40B4-BE49-F238E27FC236}">
                <a16:creationId xmlns:a16="http://schemas.microsoft.com/office/drawing/2014/main" id="{F83DDEDB-4B93-4DB7-9E4E-09B2A4E4853E}"/>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OpenAPI dosyası</a:t>
            </a:r>
          </a:p>
          <a:p>
            <a:pPr>
              <a:defRPr sz="1950" b="0">
                <a:solidFill>
                  <a:srgbClr val="5D6C7A"/>
                </a:solidFill>
                <a:latin typeface="Arial"/>
                <a:ea typeface="Arial"/>
                <a:cs typeface="Arial"/>
              </a:defRPr>
            </a:pPr>
            <a:r>
              <a:rPr sz="1950" b="0">
                <a:solidFill>
                  <a:srgbClr val="5D6C7A"/>
                </a:solidFill>
                <a:latin typeface="Arial"/>
                <a:ea typeface="Arial"/>
                <a:cs typeface="Arial"/>
              </a:rPr>
              <a:t>Yol, yöntem, veri şeması ve yanıtları tanımlar.</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Kullanım</a:t>
            </a:r>
          </a:p>
          <a:p>
            <a:pPr>
              <a:defRPr sz="1950" b="0">
                <a:solidFill>
                  <a:srgbClr val="5D6C7A"/>
                </a:solidFill>
                <a:latin typeface="Arial"/>
                <a:ea typeface="Arial"/>
                <a:cs typeface="Arial"/>
              </a:defRPr>
            </a:pPr>
            <a:r>
              <a:rPr sz="1950" b="0">
                <a:solidFill>
                  <a:srgbClr val="5D6C7A"/>
                </a:solidFill>
                <a:latin typeface="Arial"/>
                <a:ea typeface="Arial"/>
                <a:cs typeface="Arial"/>
              </a:rPr>
              <a:t>Arayüz ve API geliştiricisi aynı sözleşmeye göre çalışır.</a:t>
            </a:r>
          </a:p>
        </p:txBody>
      </p:sp>
      <p:sp>
        <p:nvSpPr>
          <p:cNvPr id="5" name="Kaynak sunum: 24–25">
            <a:extLst>
              <a:ext uri="{FF2B5EF4-FFF2-40B4-BE49-F238E27FC236}">
                <a16:creationId xmlns:a16="http://schemas.microsoft.com/office/drawing/2014/main" id="{F1AEDEB4-BD6D-4FA2-8A61-6775FD45B5AD}"/>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24–25</a:t>
            </a:r>
          </a:p>
        </p:txBody>
      </p:sp>
      <p:sp>
        <p:nvSpPr>
          <p:cNvPr id="6" name="19">
            <a:extLst>
              <a:ext uri="{FF2B5EF4-FFF2-40B4-BE49-F238E27FC236}">
                <a16:creationId xmlns:a16="http://schemas.microsoft.com/office/drawing/2014/main" id="{C7AABCB9-6F04-4384-9529-E32C82AAE340}"/>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19</a:t>
            </a:r>
          </a:p>
        </p:txBody>
      </p:sp>
    </p:spTree>
    <p:extLst>
      <p:ext uri="{BB962C8B-B14F-4D97-AF65-F5344CB8AC3E}">
        <p14:creationId xmlns:p14="http://schemas.microsoft.com/office/powerpoint/2010/main" val="909675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Veri kuralının veritabanına taşınması">
            <a:extLst>
              <a:ext uri="{FF2B5EF4-FFF2-40B4-BE49-F238E27FC236}">
                <a16:creationId xmlns:a16="http://schemas.microsoft.com/office/drawing/2014/main" id="{0A059D18-AC4A-42DF-8260-FADAF037F196}"/>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Veri kuralının veritabanına taşınması</a:t>
            </a:r>
          </a:p>
        </p:txBody>
      </p:sp>
      <p:sp>
        <p:nvSpPr>
          <p:cNvPr id="2" name="PostgreSQL · kayıt tablosundan sadeleştirilmiş kesit">
            <a:extLst>
              <a:ext uri="{FF2B5EF4-FFF2-40B4-BE49-F238E27FC236}">
                <a16:creationId xmlns:a16="http://schemas.microsoft.com/office/drawing/2014/main" id="{3CEFC718-4674-41DD-AC31-8C044438E9EC}"/>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PostgreSQL · kayıt tablosundan sadeleştirilmiş kesit</a:t>
            </a:r>
          </a:p>
        </p:txBody>
      </p:sp>
      <p:sp>
        <p:nvSpPr>
          <p:cNvPr id="3" name="CREATE TABLE registrations (&#10;    id bigint GENERATED ALWAYS ">
            <a:extLst>
              <a:ext uri="{FF2B5EF4-FFF2-40B4-BE49-F238E27FC236}">
                <a16:creationId xmlns:a16="http://schemas.microsoft.com/office/drawing/2014/main" id="{F7B92C2D-0807-4E76-B88F-EC5AB27D7D01}"/>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CREATE TABLE registrations (</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id bigint GENERATED ALWAYS AS IDENTITY</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PRIMARY KEY,</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event_id bigint NOT NULL,</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student_id bigint NOT NULL,</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UNIQUE (event_id, student_id)</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a:t>
            </a:r>
          </a:p>
        </p:txBody>
      </p:sp>
      <p:sp>
        <p:nvSpPr>
          <p:cNvPr id="4" name="UNIQUE kısıtı&#10;Aynı öğrenci ve etkinlik çiftinin tekrarını en">
            <a:extLst>
              <a:ext uri="{FF2B5EF4-FFF2-40B4-BE49-F238E27FC236}">
                <a16:creationId xmlns:a16="http://schemas.microsoft.com/office/drawing/2014/main" id="{1409EEAE-1548-45E5-B723-DBB75349A3A7}"/>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UNIQUE kısıtı</a:t>
            </a:r>
          </a:p>
          <a:p>
            <a:pPr>
              <a:defRPr sz="1950" b="0">
                <a:solidFill>
                  <a:srgbClr val="5D6C7A"/>
                </a:solidFill>
                <a:latin typeface="Arial"/>
                <a:ea typeface="Arial"/>
                <a:cs typeface="Arial"/>
              </a:defRPr>
            </a:pPr>
            <a:r>
              <a:rPr sz="1950" b="0">
                <a:solidFill>
                  <a:srgbClr val="5D6C7A"/>
                </a:solidFill>
                <a:latin typeface="Arial"/>
                <a:ea typeface="Arial"/>
                <a:cs typeface="Arial"/>
              </a:rPr>
              <a:t>Aynı öğrenci ve etkinlik çiftinin tekrarını engeller.</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Kontenjan kontrolü</a:t>
            </a:r>
          </a:p>
          <a:p>
            <a:pPr>
              <a:defRPr sz="1950" b="0">
                <a:solidFill>
                  <a:srgbClr val="5D6C7A"/>
                </a:solidFill>
                <a:latin typeface="Arial"/>
                <a:ea typeface="Arial"/>
                <a:cs typeface="Arial"/>
              </a:defRPr>
            </a:pPr>
            <a:r>
              <a:rPr sz="1950" b="0">
                <a:solidFill>
                  <a:srgbClr val="5D6C7A"/>
                </a:solidFill>
                <a:latin typeface="Arial"/>
                <a:ea typeface="Arial"/>
                <a:cs typeface="Arial"/>
              </a:rPr>
              <a:t>Ayrı bir işlem ve eşzamanlılık tasarımı gerektirir.</a:t>
            </a:r>
          </a:p>
        </p:txBody>
      </p:sp>
      <p:sp>
        <p:nvSpPr>
          <p:cNvPr id="5" name="Kaynak sunum: 25">
            <a:extLst>
              <a:ext uri="{FF2B5EF4-FFF2-40B4-BE49-F238E27FC236}">
                <a16:creationId xmlns:a16="http://schemas.microsoft.com/office/drawing/2014/main" id="{04BC86CC-42BE-4DA7-A8F2-88B2C941A70F}"/>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25</a:t>
            </a:r>
          </a:p>
        </p:txBody>
      </p:sp>
      <p:sp>
        <p:nvSpPr>
          <p:cNvPr id="6" name="20">
            <a:extLst>
              <a:ext uri="{FF2B5EF4-FFF2-40B4-BE49-F238E27FC236}">
                <a16:creationId xmlns:a16="http://schemas.microsoft.com/office/drawing/2014/main" id="{ABB247CF-0813-4D2D-9680-A9317F1DC93D}"/>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20</a:t>
            </a:r>
          </a:p>
        </p:txBody>
      </p:sp>
    </p:spTree>
    <p:extLst>
      <p:ext uri="{BB962C8B-B14F-4D97-AF65-F5344CB8AC3E}">
        <p14:creationId xmlns:p14="http://schemas.microsoft.com/office/powerpoint/2010/main" val="564267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Kodun Git ile izlenmesi">
            <a:extLst>
              <a:ext uri="{FF2B5EF4-FFF2-40B4-BE49-F238E27FC236}">
                <a16:creationId xmlns:a16="http://schemas.microsoft.com/office/drawing/2014/main" id="{E6F25A37-43D0-4C33-A41C-41D6F4C5B47D}"/>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Kodun Git ile izlenmesi</a:t>
            </a:r>
          </a:p>
        </p:txBody>
      </p:sp>
      <p:sp>
        <p:nvSpPr>
          <p:cNvPr id="2" name="Yerel depoda örnek komutlar">
            <a:extLst>
              <a:ext uri="{FF2B5EF4-FFF2-40B4-BE49-F238E27FC236}">
                <a16:creationId xmlns:a16="http://schemas.microsoft.com/office/drawing/2014/main" id="{D56EF9FB-2FD1-44DC-AFFF-73F3F4EBD9D2}"/>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Yerel depoda örnek komutlar</a:t>
            </a:r>
          </a:p>
        </p:txBody>
      </p:sp>
      <p:sp>
        <p:nvSpPr>
          <p:cNvPr id="3" name="git switch -c feature/12-kayit&#10;&#10;# Kayıt kuralı ve test dosya">
            <a:extLst>
              <a:ext uri="{FF2B5EF4-FFF2-40B4-BE49-F238E27FC236}">
                <a16:creationId xmlns:a16="http://schemas.microsoft.com/office/drawing/2014/main" id="{83F46C57-E7BC-4B74-9632-31B10F7BEAF5}"/>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git switch -c feature/12-kayit</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Kayıt kuralı ve test dosyaları geliştirilir.</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git add src/ tests/</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git commit -m "Etkinlik kayıt kuralını ekle"</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git push -u origin feature/12-kayit</a:t>
            </a:r>
          </a:p>
        </p:txBody>
      </p:sp>
      <p:sp>
        <p:nvSpPr>
          <p:cNvPr id="4" name="Git&#10;Değişiklik geçmişini ve dalları yerelde yönetir.&#10;&#10;GitHub">
            <a:extLst>
              <a:ext uri="{FF2B5EF4-FFF2-40B4-BE49-F238E27FC236}">
                <a16:creationId xmlns:a16="http://schemas.microsoft.com/office/drawing/2014/main" id="{1D8DDFEF-740B-4BDC-8C40-DF4EB19BA897}"/>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Git</a:t>
            </a:r>
          </a:p>
          <a:p>
            <a:pPr>
              <a:defRPr sz="1950" b="0">
                <a:solidFill>
                  <a:srgbClr val="5D6C7A"/>
                </a:solidFill>
                <a:latin typeface="Arial"/>
                <a:ea typeface="Arial"/>
                <a:cs typeface="Arial"/>
              </a:defRPr>
            </a:pPr>
            <a:r>
              <a:rPr sz="1950" b="0">
                <a:solidFill>
                  <a:srgbClr val="5D6C7A"/>
                </a:solidFill>
                <a:latin typeface="Arial"/>
                <a:ea typeface="Arial"/>
                <a:cs typeface="Arial"/>
              </a:rPr>
              <a:t>Değişiklik geçmişini ve dalları yerelde yönetir.</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GitHub</a:t>
            </a:r>
          </a:p>
          <a:p>
            <a:pPr>
              <a:defRPr sz="1950" b="0">
                <a:solidFill>
                  <a:srgbClr val="5D6C7A"/>
                </a:solidFill>
                <a:latin typeface="Arial"/>
                <a:ea typeface="Arial"/>
                <a:cs typeface="Arial"/>
              </a:defRPr>
            </a:pPr>
            <a:r>
              <a:rPr sz="1950" b="0">
                <a:solidFill>
                  <a:srgbClr val="5D6C7A"/>
                </a:solidFill>
                <a:latin typeface="Arial"/>
                <a:ea typeface="Arial"/>
                <a:cs typeface="Arial"/>
              </a:rPr>
              <a:t>Depoyu barındırır. İş takibi, inceleme ve otomasyon ekler.</a:t>
            </a:r>
          </a:p>
        </p:txBody>
      </p:sp>
      <p:sp>
        <p:nvSpPr>
          <p:cNvPr id="5" name="Kaynak sunum: 26, 31–32">
            <a:extLst>
              <a:ext uri="{FF2B5EF4-FFF2-40B4-BE49-F238E27FC236}">
                <a16:creationId xmlns:a16="http://schemas.microsoft.com/office/drawing/2014/main" id="{9B7A2FC0-73FC-455D-8F77-A673FC17B60E}"/>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26, 31–32</a:t>
            </a:r>
          </a:p>
        </p:txBody>
      </p:sp>
      <p:sp>
        <p:nvSpPr>
          <p:cNvPr id="6" name="21">
            <a:extLst>
              <a:ext uri="{FF2B5EF4-FFF2-40B4-BE49-F238E27FC236}">
                <a16:creationId xmlns:a16="http://schemas.microsoft.com/office/drawing/2014/main" id="{381CBF2A-1411-4F62-A027-7B46BF97A9CE}"/>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21</a:t>
            </a:r>
          </a:p>
        </p:txBody>
      </p:sp>
    </p:spTree>
    <p:extLst>
      <p:ext uri="{BB962C8B-B14F-4D97-AF65-F5344CB8AC3E}">
        <p14:creationId xmlns:p14="http://schemas.microsoft.com/office/powerpoint/2010/main" val="1159353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Pull request içinde izlenebilirlik">
            <a:extLst>
              <a:ext uri="{FF2B5EF4-FFF2-40B4-BE49-F238E27FC236}">
                <a16:creationId xmlns:a16="http://schemas.microsoft.com/office/drawing/2014/main" id="{5F8085C5-69AD-40D6-96BF-D8A02A78F89B}"/>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Pull request içinde izlenebilirlik</a:t>
            </a:r>
          </a:p>
        </p:txBody>
      </p:sp>
      <p:sp>
        <p:nvSpPr>
          <p:cNvPr id="2" name="İş bağlantısı">
            <a:extLst>
              <a:ext uri="{FF2B5EF4-FFF2-40B4-BE49-F238E27FC236}">
                <a16:creationId xmlns:a16="http://schemas.microsoft.com/office/drawing/2014/main" id="{F98CB177-3B0D-472D-A939-60AE2D390004}"/>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İş bağlantısı</a:t>
            </a:r>
          </a:p>
        </p:txBody>
      </p:sp>
      <p:sp>
        <p:nvSpPr>
          <p:cNvPr id="3" name="PR açıklamasına “Closes #12” eklenir. Değişikliğin amacı gör">
            <a:extLst>
              <a:ext uri="{FF2B5EF4-FFF2-40B4-BE49-F238E27FC236}">
                <a16:creationId xmlns:a16="http://schemas.microsoft.com/office/drawing/2014/main" id="{FFE16B76-9C39-4213-B57F-9082041E3A96}"/>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PR açıklamasına “Closes #12” eklenir. Değişikliğin amacı görünür olur.</a:t>
            </a:r>
          </a:p>
        </p:txBody>
      </p:sp>
      <p:sp>
        <p:nvSpPr>
          <p:cNvPr id="4" name="İnceleme">
            <a:extLst>
              <a:ext uri="{FF2B5EF4-FFF2-40B4-BE49-F238E27FC236}">
                <a16:creationId xmlns:a16="http://schemas.microsoft.com/office/drawing/2014/main" id="{3E8DBBA3-1493-4363-A12F-48AF90B7C6B2}"/>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İnceleme</a:t>
            </a:r>
          </a:p>
        </p:txBody>
      </p:sp>
      <p:sp>
        <p:nvSpPr>
          <p:cNvPr id="5" name="İnceleyen kişi tekrar kayıt ve kontenjan kurallarını kod far">
            <a:extLst>
              <a:ext uri="{FF2B5EF4-FFF2-40B4-BE49-F238E27FC236}">
                <a16:creationId xmlns:a16="http://schemas.microsoft.com/office/drawing/2014/main" id="{09F605EE-B966-4981-A7CA-B23D46B78009}"/>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İnceleyen kişi tekrar kayıt ve kontenjan kurallarını kod farkında kontrol eder.</a:t>
            </a:r>
          </a:p>
        </p:txBody>
      </p:sp>
      <p:sp>
        <p:nvSpPr>
          <p:cNvPr id="6" name="Otomatik kanıt">
            <a:extLst>
              <a:ext uri="{FF2B5EF4-FFF2-40B4-BE49-F238E27FC236}">
                <a16:creationId xmlns:a16="http://schemas.microsoft.com/office/drawing/2014/main" id="{A38CA1E2-AA91-4E5F-8414-FC2B78CF1E63}"/>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Otomatik kanıt</a:t>
            </a:r>
          </a:p>
        </p:txBody>
      </p:sp>
      <p:sp>
        <p:nvSpPr>
          <p:cNvPr id="7" name="Test sonuçları PR üzerinde görünür. Ekip gerekli kontrolleri">
            <a:extLst>
              <a:ext uri="{FF2B5EF4-FFF2-40B4-BE49-F238E27FC236}">
                <a16:creationId xmlns:a16="http://schemas.microsoft.com/office/drawing/2014/main" id="{53145A06-7D9D-47F4-A506-F232FCF1FE26}"/>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Test sonuçları PR üzerinde görünür. Ekip gerekli kontrolleri birleştirme koşulu yapabilir.</a:t>
            </a:r>
          </a:p>
        </p:txBody>
      </p:sp>
      <p:sp>
        <p:nvSpPr>
          <p:cNvPr id="8" name="Tamamlanma">
            <a:extLst>
              <a:ext uri="{FF2B5EF4-FFF2-40B4-BE49-F238E27FC236}">
                <a16:creationId xmlns:a16="http://schemas.microsoft.com/office/drawing/2014/main" id="{32A98B62-AD8C-42AB-BB07-379847598561}"/>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Tamamlanma</a:t>
            </a:r>
          </a:p>
        </p:txBody>
      </p:sp>
      <p:sp>
        <p:nvSpPr>
          <p:cNvPr id="9" name="Kod, test, belge ve kabul ölçütleri birlikte değerlendirilir">
            <a:extLst>
              <a:ext uri="{FF2B5EF4-FFF2-40B4-BE49-F238E27FC236}">
                <a16:creationId xmlns:a16="http://schemas.microsoft.com/office/drawing/2014/main" id="{CE6AB740-918E-46A9-A49F-F52028C16ABB}"/>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Kod, test, belge ve kabul ölçütleri birlikte değerlendirilir.</a:t>
            </a:r>
          </a:p>
        </p:txBody>
      </p:sp>
      <p:sp>
        <p:nvSpPr>
          <p:cNvPr id="10" name="Örnek ilişki: Issue #12, feature/12-kayit dalı, PR #18 ve v0">
            <a:extLst>
              <a:ext uri="{FF2B5EF4-FFF2-40B4-BE49-F238E27FC236}">
                <a16:creationId xmlns:a16="http://schemas.microsoft.com/office/drawing/2014/main" id="{F5C5B717-2B26-49D2-AEEA-ECBFFA6F14B9}"/>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Örnek ilişki: Issue #12, feature/12-kayit dalı, PR #18 ve v0.2 sürümü.</a:t>
            </a:r>
          </a:p>
        </p:txBody>
      </p:sp>
      <p:sp>
        <p:nvSpPr>
          <p:cNvPr id="11" name="Kaynak sunum: 26–27, 31–32">
            <a:extLst>
              <a:ext uri="{FF2B5EF4-FFF2-40B4-BE49-F238E27FC236}">
                <a16:creationId xmlns:a16="http://schemas.microsoft.com/office/drawing/2014/main" id="{B3B3AD7A-7013-4A0E-8918-9ECA0533F55C}"/>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26–27, 31–32</a:t>
            </a:r>
          </a:p>
        </p:txBody>
      </p:sp>
      <p:sp>
        <p:nvSpPr>
          <p:cNvPr id="12" name="22">
            <a:extLst>
              <a:ext uri="{FF2B5EF4-FFF2-40B4-BE49-F238E27FC236}">
                <a16:creationId xmlns:a16="http://schemas.microsoft.com/office/drawing/2014/main" id="{459190DC-89FE-4C3B-B9D7-26F601C445A6}"/>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22</a:t>
            </a:r>
          </a:p>
        </p:txBody>
      </p:sp>
    </p:spTree>
    <p:extLst>
      <p:ext uri="{BB962C8B-B14F-4D97-AF65-F5344CB8AC3E}">
        <p14:creationId xmlns:p14="http://schemas.microsoft.com/office/powerpoint/2010/main" val="806909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Hata ayıklama ve testin farklı görevleri">
            <a:extLst>
              <a:ext uri="{FF2B5EF4-FFF2-40B4-BE49-F238E27FC236}">
                <a16:creationId xmlns:a16="http://schemas.microsoft.com/office/drawing/2014/main" id="{564B610F-23DB-4489-9C0E-D937F242D16E}"/>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Hata ayıklama ve testin farklı görevleri</a:t>
            </a:r>
          </a:p>
        </p:txBody>
      </p:sp>
      <p:sp>
        <p:nvSpPr>
          <p:cNvPr id="2" name="Belirti">
            <a:extLst>
              <a:ext uri="{FF2B5EF4-FFF2-40B4-BE49-F238E27FC236}">
                <a16:creationId xmlns:a16="http://schemas.microsoft.com/office/drawing/2014/main" id="{9A0D74DB-B18C-4244-80B9-3455EFDBB77D}"/>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Belirti</a:t>
            </a:r>
          </a:p>
        </p:txBody>
      </p:sp>
      <p:sp>
        <p:nvSpPr>
          <p:cNvPr id="3" name="Kontenjan 30 iken sistem 31. kaydı kabul ediyor.">
            <a:extLst>
              <a:ext uri="{FF2B5EF4-FFF2-40B4-BE49-F238E27FC236}">
                <a16:creationId xmlns:a16="http://schemas.microsoft.com/office/drawing/2014/main" id="{2C02115C-6FE5-4247-AE24-E6F6BC4D821C}"/>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Kontenjan 30 iken sistem 31. kaydı kabul ediyor.</a:t>
            </a:r>
          </a:p>
        </p:txBody>
      </p:sp>
      <p:sp>
        <p:nvSpPr>
          <p:cNvPr id="4" name="Test">
            <a:extLst>
              <a:ext uri="{FF2B5EF4-FFF2-40B4-BE49-F238E27FC236}">
                <a16:creationId xmlns:a16="http://schemas.microsoft.com/office/drawing/2014/main" id="{DD65F3E8-1D37-4D74-AE04-8BEF4A405CD6}"/>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Test</a:t>
            </a:r>
          </a:p>
        </p:txBody>
      </p:sp>
      <p:sp>
        <p:nvSpPr>
          <p:cNvPr id="5" name="Ekip iki eşzamanlı son koltuk isteği göndererek hatayı tekra">
            <a:extLst>
              <a:ext uri="{FF2B5EF4-FFF2-40B4-BE49-F238E27FC236}">
                <a16:creationId xmlns:a16="http://schemas.microsoft.com/office/drawing/2014/main" id="{1814A7ED-C6A3-4564-9890-D2EF1AECFA5F}"/>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iki eşzamanlı son koltuk isteği göndererek hatayı tekrarlanabilir hâle getirir.</a:t>
            </a:r>
          </a:p>
        </p:txBody>
      </p:sp>
      <p:sp>
        <p:nvSpPr>
          <p:cNvPr id="6" name="Hata ayıklama">
            <a:extLst>
              <a:ext uri="{FF2B5EF4-FFF2-40B4-BE49-F238E27FC236}">
                <a16:creationId xmlns:a16="http://schemas.microsoft.com/office/drawing/2014/main" id="{96BECFD0-A179-4B38-A9D1-CA94DFFA8626}"/>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Hata ayıklama</a:t>
            </a:r>
          </a:p>
        </p:txBody>
      </p:sp>
      <p:sp>
        <p:nvSpPr>
          <p:cNvPr id="7" name="IDE kesme noktası ve loglar, iki isteğin aynı boş koltuğu gö">
            <a:extLst>
              <a:ext uri="{FF2B5EF4-FFF2-40B4-BE49-F238E27FC236}">
                <a16:creationId xmlns:a16="http://schemas.microsoft.com/office/drawing/2014/main" id="{C12D01A4-87C4-43E5-8ADB-8E56A10DAD6B}"/>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IDE kesme noktası ve loglar, iki isteğin aynı boş koltuğu gördüğünü gösterir.</a:t>
            </a:r>
          </a:p>
        </p:txBody>
      </p:sp>
      <p:sp>
        <p:nvSpPr>
          <p:cNvPr id="8" name="Düzeltme">
            <a:extLst>
              <a:ext uri="{FF2B5EF4-FFF2-40B4-BE49-F238E27FC236}">
                <a16:creationId xmlns:a16="http://schemas.microsoft.com/office/drawing/2014/main" id="{E6D3D343-3D6D-4FEF-BFBC-E4FE0408C024}"/>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Düzeltme</a:t>
            </a:r>
          </a:p>
        </p:txBody>
      </p:sp>
      <p:sp>
        <p:nvSpPr>
          <p:cNvPr id="9" name="Veritabanı işlemi güncellenir. Regresyon testi aynı hatanın ">
            <a:extLst>
              <a:ext uri="{FF2B5EF4-FFF2-40B4-BE49-F238E27FC236}">
                <a16:creationId xmlns:a16="http://schemas.microsoft.com/office/drawing/2014/main" id="{7E0338E9-1FB4-4372-8245-5C8E881FE030}"/>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Veritabanı işlemi güncellenir. Regresyon testi aynı hatanın tekrarını kontrol eder.</a:t>
            </a:r>
          </a:p>
        </p:txBody>
      </p:sp>
      <p:sp>
        <p:nvSpPr>
          <p:cNvPr id="10" name="IDE örnekleri: VS Code veya PyCharm. Eşzamanlılık sorunu içi">
            <a:extLst>
              <a:ext uri="{FF2B5EF4-FFF2-40B4-BE49-F238E27FC236}">
                <a16:creationId xmlns:a16="http://schemas.microsoft.com/office/drawing/2014/main" id="{4B2A6528-B81D-4731-96C4-3566626D5F94}"/>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IDE örnekleri: VS Code veya PyCharm. Eşzamanlılık sorunu için bütünleştirme testi gerekir.</a:t>
            </a:r>
          </a:p>
        </p:txBody>
      </p:sp>
      <p:sp>
        <p:nvSpPr>
          <p:cNvPr id="11" name="Kaynak sunum: 26–29">
            <a:extLst>
              <a:ext uri="{FF2B5EF4-FFF2-40B4-BE49-F238E27FC236}">
                <a16:creationId xmlns:a16="http://schemas.microsoft.com/office/drawing/2014/main" id="{12DB7A22-CB5B-45E1-9054-57932307E540}"/>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26–29</a:t>
            </a:r>
          </a:p>
        </p:txBody>
      </p:sp>
      <p:sp>
        <p:nvSpPr>
          <p:cNvPr id="12" name="23">
            <a:extLst>
              <a:ext uri="{FF2B5EF4-FFF2-40B4-BE49-F238E27FC236}">
                <a16:creationId xmlns:a16="http://schemas.microsoft.com/office/drawing/2014/main" id="{88510E45-1721-44BF-85AB-4E709216F628}"/>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23</a:t>
            </a:r>
          </a:p>
        </p:txBody>
      </p:sp>
    </p:spTree>
    <p:extLst>
      <p:ext uri="{BB962C8B-B14F-4D97-AF65-F5344CB8AC3E}">
        <p14:creationId xmlns:p14="http://schemas.microsoft.com/office/powerpoint/2010/main" val="923538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Test düzeyleri ve araç örnekleri">
            <a:extLst>
              <a:ext uri="{FF2B5EF4-FFF2-40B4-BE49-F238E27FC236}">
                <a16:creationId xmlns:a16="http://schemas.microsoft.com/office/drawing/2014/main" id="{E5639E66-8516-4888-BE0D-EFF02F247DCD}"/>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Test düzeyleri ve araç örnekleri</a:t>
            </a:r>
          </a:p>
        </p:txBody>
      </p:sp>
      <p:graphicFrame>
        <p:nvGraphicFramePr>
          <p:cNvPr id="2" name="Tablo 1">
            <a:extLst>
              <a:ext uri="{FF2B5EF4-FFF2-40B4-BE49-F238E27FC236}">
                <a16:creationId xmlns:a16="http://schemas.microsoft.com/office/drawing/2014/main" id="{8ED21D73-90FD-499A-9077-7CA522B62F31}"/>
              </a:ext>
            </a:extLst>
          </p:cNvPr>
          <p:cNvGraphicFramePr/>
          <p:nvPr/>
        </p:nvGraphicFramePr>
        <p:xfrm>
          <a:off x="609600" y="1466850"/>
          <a:ext cx="10953750" cy="3905250"/>
        </p:xfrm>
        <a:graphic>
          <a:graphicData uri="http://schemas.openxmlformats.org/drawingml/2006/table">
            <a:tbl>
              <a:tblPr/>
              <a:tblGrid>
                <a:gridCol w="2190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61912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Düzey</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Araç</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Kayıt sistemi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Birim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pytest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Kontenjan doluysa kural False döndürür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Bütünleştirme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pytest ve test veritabanı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API, veriyi PostgreSQL’e doğru yazar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Sistem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Playwright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Öğrenci tarayıcıdan etkinliğe kaydolur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Kabul</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Kullanıcı denemesi ve senaryo</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Kulüp yöneticisi gerçek iş ihtiyacını doğrular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Geçen otomatik testler, kullanıcı ihtiyacının doğru seçildiğ">
            <a:extLst>
              <a:ext uri="{FF2B5EF4-FFF2-40B4-BE49-F238E27FC236}">
                <a16:creationId xmlns:a16="http://schemas.microsoft.com/office/drawing/2014/main" id="{F8B2A490-B6A3-4B85-B937-F0BBF630C585}"/>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Geçen otomatik testler, kullanıcı ihtiyacının doğru seçildiğini tek başına kanıtlamaz.</a:t>
            </a:r>
          </a:p>
        </p:txBody>
      </p:sp>
      <p:sp>
        <p:nvSpPr>
          <p:cNvPr id="4" name="Kaynak sunum: 27–30">
            <a:extLst>
              <a:ext uri="{FF2B5EF4-FFF2-40B4-BE49-F238E27FC236}">
                <a16:creationId xmlns:a16="http://schemas.microsoft.com/office/drawing/2014/main" id="{7BC35373-DBEF-4C11-A2A9-BAD884624E1B}"/>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27–30</a:t>
            </a:r>
          </a:p>
        </p:txBody>
      </p:sp>
      <p:sp>
        <p:nvSpPr>
          <p:cNvPr id="5" name="24">
            <a:extLst>
              <a:ext uri="{FF2B5EF4-FFF2-40B4-BE49-F238E27FC236}">
                <a16:creationId xmlns:a16="http://schemas.microsoft.com/office/drawing/2014/main" id="{7C7AE139-0B25-47DF-84B3-0C37564D0F91}"/>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24</a:t>
            </a:r>
          </a:p>
        </p:txBody>
      </p:sp>
    </p:spTree>
    <p:extLst>
      <p:ext uri="{BB962C8B-B14F-4D97-AF65-F5344CB8AC3E}">
        <p14:creationId xmlns:p14="http://schemas.microsoft.com/office/powerpoint/2010/main" val="833920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Birim testiyle iş kuralının kontrolü">
            <a:extLst>
              <a:ext uri="{FF2B5EF4-FFF2-40B4-BE49-F238E27FC236}">
                <a16:creationId xmlns:a16="http://schemas.microsoft.com/office/drawing/2014/main" id="{3C9BB2CB-16D1-4412-834A-BE9AAEA15BCE}"/>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Birim testiyle iş kuralının kontrolü</a:t>
            </a:r>
          </a:p>
        </p:txBody>
      </p:sp>
      <p:sp>
        <p:nvSpPr>
          <p:cNvPr id="2" name="Python ve pytest · bağımsız çalışabilen küçük örnek">
            <a:extLst>
              <a:ext uri="{FF2B5EF4-FFF2-40B4-BE49-F238E27FC236}">
                <a16:creationId xmlns:a16="http://schemas.microsoft.com/office/drawing/2014/main" id="{67EE96A2-ADAC-4C56-893E-8141FEA3CADC}"/>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Python ve pytest · bağımsız çalışabilen küçük örnek</a:t>
            </a:r>
          </a:p>
        </p:txBody>
      </p:sp>
      <p:sp>
        <p:nvSpPr>
          <p:cNvPr id="3" name="def kayit_olabilir(kontenjan, kayit_sayisi):&#10;    return kayi">
            <a:extLst>
              <a:ext uri="{FF2B5EF4-FFF2-40B4-BE49-F238E27FC236}">
                <a16:creationId xmlns:a16="http://schemas.microsoft.com/office/drawing/2014/main" id="{727DF024-B149-4E50-B55F-010206875378}"/>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def kayit_olabilir(kontenjan, kayit_sayisi):</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return kayit_sayisi &lt; kontenjan</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def test_bos_koltuk_var():</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assert kayit_olabilir(30, 29) is True</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def test_kontenjan_dolu():</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assert kayit_olabilir(30, 30) is False</a:t>
            </a:r>
          </a:p>
        </p:txBody>
      </p:sp>
      <p:sp>
        <p:nvSpPr>
          <p:cNvPr id="4" name="Çalıştırma&#10;pytest -q&#10;&#10;Kapsam&#10;Bu test yalnızca karşılaştırma ">
            <a:extLst>
              <a:ext uri="{FF2B5EF4-FFF2-40B4-BE49-F238E27FC236}">
                <a16:creationId xmlns:a16="http://schemas.microsoft.com/office/drawing/2014/main" id="{D9995D90-5CCF-4441-8C61-BE339E69B88A}"/>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Çalıştırma</a:t>
            </a:r>
          </a:p>
          <a:p>
            <a:pPr>
              <a:defRPr sz="1950" b="0">
                <a:solidFill>
                  <a:srgbClr val="5D6C7A"/>
                </a:solidFill>
                <a:latin typeface="Arial"/>
                <a:ea typeface="Arial"/>
                <a:cs typeface="Arial"/>
              </a:defRPr>
            </a:pPr>
            <a:r>
              <a:rPr sz="1950" b="0">
                <a:solidFill>
                  <a:srgbClr val="5D6C7A"/>
                </a:solidFill>
                <a:latin typeface="Arial"/>
                <a:ea typeface="Arial"/>
                <a:cs typeface="Arial"/>
              </a:rPr>
              <a:t>pytest -q</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Kapsam</a:t>
            </a:r>
          </a:p>
          <a:p>
            <a:pPr>
              <a:defRPr sz="1950" b="0">
                <a:solidFill>
                  <a:srgbClr val="5D6C7A"/>
                </a:solidFill>
                <a:latin typeface="Arial"/>
                <a:ea typeface="Arial"/>
                <a:cs typeface="Arial"/>
              </a:defRPr>
            </a:pPr>
            <a:r>
              <a:rPr sz="1950" b="0">
                <a:solidFill>
                  <a:srgbClr val="5D6C7A"/>
                </a:solidFill>
                <a:latin typeface="Arial"/>
                <a:ea typeface="Arial"/>
                <a:cs typeface="Arial"/>
              </a:rPr>
              <a:t>Bu test yalnızca karşılaştırma kuralını sınar. Giriş ve veritabanı davranışını sınamaz.</a:t>
            </a:r>
          </a:p>
        </p:txBody>
      </p:sp>
      <p:sp>
        <p:nvSpPr>
          <p:cNvPr id="5" name="Kaynak sunum: 28–29">
            <a:extLst>
              <a:ext uri="{FF2B5EF4-FFF2-40B4-BE49-F238E27FC236}">
                <a16:creationId xmlns:a16="http://schemas.microsoft.com/office/drawing/2014/main" id="{8BABB849-B828-4931-9C89-24C9B66BD0EE}"/>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28–29</a:t>
            </a:r>
          </a:p>
        </p:txBody>
      </p:sp>
      <p:sp>
        <p:nvSpPr>
          <p:cNvPr id="6" name="25">
            <a:extLst>
              <a:ext uri="{FF2B5EF4-FFF2-40B4-BE49-F238E27FC236}">
                <a16:creationId xmlns:a16="http://schemas.microsoft.com/office/drawing/2014/main" id="{3943B1C1-3B02-4AC1-8C94-5CA683F6FA27}"/>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25</a:t>
            </a:r>
          </a:p>
        </p:txBody>
      </p:sp>
    </p:spTree>
    <p:extLst>
      <p:ext uri="{BB962C8B-B14F-4D97-AF65-F5344CB8AC3E}">
        <p14:creationId xmlns:p14="http://schemas.microsoft.com/office/powerpoint/2010/main" val="1667883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Tarayıcı testiyle kullanıcı akışının kontrolü">
            <a:extLst>
              <a:ext uri="{FF2B5EF4-FFF2-40B4-BE49-F238E27FC236}">
                <a16:creationId xmlns:a16="http://schemas.microsoft.com/office/drawing/2014/main" id="{90FE4242-B664-4A2E-8F1B-02C51934599A}"/>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Tarayıcı testiyle kullanıcı akışının kontrolü</a:t>
            </a:r>
          </a:p>
        </p:txBody>
      </p:sp>
      <p:sp>
        <p:nvSpPr>
          <p:cNvPr id="2" name="Playwright · test dosyasından örnek">
            <a:extLst>
              <a:ext uri="{FF2B5EF4-FFF2-40B4-BE49-F238E27FC236}">
                <a16:creationId xmlns:a16="http://schemas.microsoft.com/office/drawing/2014/main" id="{E1A25566-BBE5-467D-976C-28A9521F5B37}"/>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Playwright · test dosyasından örnek</a:t>
            </a:r>
          </a:p>
        </p:txBody>
      </p:sp>
      <p:sp>
        <p:nvSpPr>
          <p:cNvPr id="3" name="import { test, expect } from &quot;@playwright/test&quot;;&#10;&#10;test(&quot;etki">
            <a:extLst>
              <a:ext uri="{FF2B5EF4-FFF2-40B4-BE49-F238E27FC236}">
                <a16:creationId xmlns:a16="http://schemas.microsoft.com/office/drawing/2014/main" id="{B100BC76-E5A9-4A24-9770-FCE324C0F971}"/>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import { test, expect } from "@playwright/test";</a:t>
            </a:r>
          </a:p>
          <a:p>
            <a:endParaRPr sz="2025" b="0">
              <a:solidFill>
                <a:srgbClr val="24364B"/>
              </a:solidFill>
              <a:latin typeface="Consolas"/>
              <a:ea typeface="Consolas"/>
              <a:cs typeface="Consolas"/>
            </a:endParaRP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test("etkinlige kayit", async ({ page }) =&gt; {</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await page.goto("http://localhost:8000/events/42");</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await page.getByRole("button",</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 name: "Kayıt ol", exact: true }).click();</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await expect(page.getByRole("status"))</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.toHaveText("Kaydınız alındı");</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a:t>
            </a:r>
          </a:p>
        </p:txBody>
      </p:sp>
      <p:sp>
        <p:nvSpPr>
          <p:cNvPr id="4" name="Önkoşullar&#10;Uygulama çalışır. Test kullanıcısı giriş yapmıştı">
            <a:extLst>
              <a:ext uri="{FF2B5EF4-FFF2-40B4-BE49-F238E27FC236}">
                <a16:creationId xmlns:a16="http://schemas.microsoft.com/office/drawing/2014/main" id="{76A3C81B-7DCF-4886-898C-DECFF170611D}"/>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Önkoşullar</a:t>
            </a:r>
          </a:p>
          <a:p>
            <a:pPr>
              <a:defRPr sz="1950" b="0">
                <a:solidFill>
                  <a:srgbClr val="5D6C7A"/>
                </a:solidFill>
                <a:latin typeface="Arial"/>
                <a:ea typeface="Arial"/>
                <a:cs typeface="Arial"/>
              </a:defRPr>
            </a:pPr>
            <a:r>
              <a:rPr sz="1950" b="0">
                <a:solidFill>
                  <a:srgbClr val="5D6C7A"/>
                </a:solidFill>
                <a:latin typeface="Arial"/>
                <a:ea typeface="Arial"/>
                <a:cs typeface="Arial"/>
              </a:rPr>
              <a:t>Uygulama çalışır. Test kullanıcısı giriş yapmıştır. Test etkinliğinde boş yer vardır.</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Beklenti</a:t>
            </a:r>
          </a:p>
          <a:p>
            <a:pPr>
              <a:defRPr sz="1950" b="0">
                <a:solidFill>
                  <a:srgbClr val="5D6C7A"/>
                </a:solidFill>
                <a:latin typeface="Arial"/>
                <a:ea typeface="Arial"/>
                <a:cs typeface="Arial"/>
              </a:defRPr>
            </a:pPr>
            <a:r>
              <a:rPr sz="1950" b="0">
                <a:solidFill>
                  <a:srgbClr val="5D6C7A"/>
                </a:solidFill>
                <a:latin typeface="Arial"/>
                <a:ea typeface="Arial"/>
                <a:cs typeface="Arial"/>
              </a:rPr>
              <a:t>Kullanıcı kayıt sonucunu görür.</a:t>
            </a:r>
          </a:p>
        </p:txBody>
      </p:sp>
      <p:sp>
        <p:nvSpPr>
          <p:cNvPr id="5" name="Kaynak sunum: 28–29">
            <a:extLst>
              <a:ext uri="{FF2B5EF4-FFF2-40B4-BE49-F238E27FC236}">
                <a16:creationId xmlns:a16="http://schemas.microsoft.com/office/drawing/2014/main" id="{69F07D7E-08D3-4B04-874A-F9CF9A126D06}"/>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28–29</a:t>
            </a:r>
          </a:p>
        </p:txBody>
      </p:sp>
      <p:sp>
        <p:nvSpPr>
          <p:cNvPr id="6" name="26">
            <a:extLst>
              <a:ext uri="{FF2B5EF4-FFF2-40B4-BE49-F238E27FC236}">
                <a16:creationId xmlns:a16="http://schemas.microsoft.com/office/drawing/2014/main" id="{541E33CA-6530-410A-924E-1F64BE8DFA1E}"/>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26</a:t>
            </a:r>
          </a:p>
        </p:txBody>
      </p:sp>
    </p:spTree>
    <p:extLst>
      <p:ext uri="{BB962C8B-B14F-4D97-AF65-F5344CB8AC3E}">
        <p14:creationId xmlns:p14="http://schemas.microsoft.com/office/powerpoint/2010/main" val="2130045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V modelinin izlenebilirlik tablosu">
            <a:extLst>
              <a:ext uri="{FF2B5EF4-FFF2-40B4-BE49-F238E27FC236}">
                <a16:creationId xmlns:a16="http://schemas.microsoft.com/office/drawing/2014/main" id="{540DAAC6-BCC4-4234-9A94-8285110504B8}"/>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V modelinin izlenebilirlik tablosu</a:t>
            </a:r>
          </a:p>
        </p:txBody>
      </p:sp>
      <p:graphicFrame>
        <p:nvGraphicFramePr>
          <p:cNvPr id="2" name="Tablo 1">
            <a:extLst>
              <a:ext uri="{FF2B5EF4-FFF2-40B4-BE49-F238E27FC236}">
                <a16:creationId xmlns:a16="http://schemas.microsoft.com/office/drawing/2014/main" id="{8485A2C0-A966-4B4F-B32A-6EB17A4542A4}"/>
              </a:ext>
            </a:extLst>
          </p:cNvPr>
          <p:cNvGraphicFramePr/>
          <p:nvPr/>
        </p:nvGraphicFramePr>
        <p:xfrm>
          <a:off x="609600" y="1466850"/>
          <a:ext cx="10953750" cy="3905250"/>
        </p:xfrm>
        <a:graphic>
          <a:graphicData uri="http://schemas.openxmlformats.org/drawingml/2006/table">
            <a:tbl>
              <a:tblPr/>
              <a:tblGrid>
                <a:gridCol w="2952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Tanımlanan öğe</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Karşılık gelen test</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Kanıt</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Kullanıcı ihtiyacı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Kulüp yöneticisinin kabul senaryosu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Onay ve gözlem kaydı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Sistem gereksinimi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İki eşzamanlı istekte kontenjan kontrolü</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Bütünleştirme test sonucu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Arayüz tasarımı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201 ve 409 yanıtlarının kontrolü</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API sözleşmesi test raporu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Ayrıntılı iş kuralı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29/30 ve 30/30 sınır değerleri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Birim testi sonucu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Testin beklenen sonucu, geliştirme tamamlanmadan gereksiniml">
            <a:extLst>
              <a:ext uri="{FF2B5EF4-FFF2-40B4-BE49-F238E27FC236}">
                <a16:creationId xmlns:a16="http://schemas.microsoft.com/office/drawing/2014/main" id="{4B7AF276-D5C1-442D-BA2A-6ACAA4AA3699}"/>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Testin beklenen sonucu, geliştirme tamamlanmadan gereksinimle birlikte tanımlanabilir.</a:t>
            </a:r>
          </a:p>
        </p:txBody>
      </p:sp>
      <p:sp>
        <p:nvSpPr>
          <p:cNvPr id="4" name="Kaynak sunum: 30">
            <a:extLst>
              <a:ext uri="{FF2B5EF4-FFF2-40B4-BE49-F238E27FC236}">
                <a16:creationId xmlns:a16="http://schemas.microsoft.com/office/drawing/2014/main" id="{0B918FB9-2188-40D0-BC8F-BD378819057D}"/>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30</a:t>
            </a:r>
          </a:p>
        </p:txBody>
      </p:sp>
      <p:sp>
        <p:nvSpPr>
          <p:cNvPr id="5" name="27">
            <a:extLst>
              <a:ext uri="{FF2B5EF4-FFF2-40B4-BE49-F238E27FC236}">
                <a16:creationId xmlns:a16="http://schemas.microsoft.com/office/drawing/2014/main" id="{FD82A8FA-3426-4ADB-9D47-838FE51BA042}"/>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27</a:t>
            </a:r>
          </a:p>
        </p:txBody>
      </p:sp>
    </p:spTree>
    <p:extLst>
      <p:ext uri="{BB962C8B-B14F-4D97-AF65-F5344CB8AC3E}">
        <p14:creationId xmlns:p14="http://schemas.microsoft.com/office/powerpoint/2010/main" val="1035713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Sürekli bütünleştirme ve teslim">
            <a:extLst>
              <a:ext uri="{FF2B5EF4-FFF2-40B4-BE49-F238E27FC236}">
                <a16:creationId xmlns:a16="http://schemas.microsoft.com/office/drawing/2014/main" id="{6394AC53-5E38-43DC-955F-C4F140041370}"/>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Sürekli bütünleştirme ve teslim</a:t>
            </a:r>
          </a:p>
        </p:txBody>
      </p:sp>
      <p:sp>
        <p:nvSpPr>
          <p:cNvPr id="2" name="Tetikleyici">
            <a:extLst>
              <a:ext uri="{FF2B5EF4-FFF2-40B4-BE49-F238E27FC236}">
                <a16:creationId xmlns:a16="http://schemas.microsoft.com/office/drawing/2014/main" id="{034D7A37-1C96-4866-BB77-08990D10BE4B}"/>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Tetikleyici</a:t>
            </a:r>
          </a:p>
        </p:txBody>
      </p:sp>
      <p:sp>
        <p:nvSpPr>
          <p:cNvPr id="3" name="Geliştirici pull request açar. GitHub Actions iş akışını baş">
            <a:extLst>
              <a:ext uri="{FF2B5EF4-FFF2-40B4-BE49-F238E27FC236}">
                <a16:creationId xmlns:a16="http://schemas.microsoft.com/office/drawing/2014/main" id="{18501769-8749-432D-83AC-AA33B72016C0}"/>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Geliştirici pull request açar. GitHub Actions iş akışını başlatır.</a:t>
            </a:r>
          </a:p>
        </p:txBody>
      </p:sp>
      <p:sp>
        <p:nvSpPr>
          <p:cNvPr id="4" name="CI kontrolleri">
            <a:extLst>
              <a:ext uri="{FF2B5EF4-FFF2-40B4-BE49-F238E27FC236}">
                <a16:creationId xmlns:a16="http://schemas.microsoft.com/office/drawing/2014/main" id="{38884E32-9F6D-4658-B2E0-3549EFC94B6D}"/>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CI kontrolleri</a:t>
            </a:r>
          </a:p>
        </p:txBody>
      </p:sp>
      <p:sp>
        <p:nvSpPr>
          <p:cNvPr id="5" name="İş akışı bağımlılıkları kurar, kod kontrollerini ve testleri">
            <a:extLst>
              <a:ext uri="{FF2B5EF4-FFF2-40B4-BE49-F238E27FC236}">
                <a16:creationId xmlns:a16="http://schemas.microsoft.com/office/drawing/2014/main" id="{2DE7CD31-F05E-452E-A072-AAAFACE0E98A}"/>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İş akışı bağımlılıkları kurar, kod kontrollerini ve testleri çalıştırır.</a:t>
            </a:r>
          </a:p>
        </p:txBody>
      </p:sp>
      <p:sp>
        <p:nvSpPr>
          <p:cNvPr id="6" name="Teslim edilebilir paket">
            <a:extLst>
              <a:ext uri="{FF2B5EF4-FFF2-40B4-BE49-F238E27FC236}">
                <a16:creationId xmlns:a16="http://schemas.microsoft.com/office/drawing/2014/main" id="{AD7D0348-DAAB-42B9-B912-D301523E2EB6}"/>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Teslim edilebilir paket</a:t>
            </a:r>
          </a:p>
        </p:txBody>
      </p:sp>
      <p:sp>
        <p:nvSpPr>
          <p:cNvPr id="7" name="Başarılı sürüm için Docker imajı üretilir ve sürüm etiketiyl">
            <a:extLst>
              <a:ext uri="{FF2B5EF4-FFF2-40B4-BE49-F238E27FC236}">
                <a16:creationId xmlns:a16="http://schemas.microsoft.com/office/drawing/2014/main" id="{5CC74940-C818-4841-A9D7-C0275665FC76}"/>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Başarılı sürüm için Docker imajı üretilir ve sürüm etiketiyle saklanır.</a:t>
            </a:r>
          </a:p>
        </p:txBody>
      </p:sp>
      <p:sp>
        <p:nvSpPr>
          <p:cNvPr id="8" name="CD kararı">
            <a:extLst>
              <a:ext uri="{FF2B5EF4-FFF2-40B4-BE49-F238E27FC236}">
                <a16:creationId xmlns:a16="http://schemas.microsoft.com/office/drawing/2014/main" id="{AA4FD6D9-4EE3-4863-995D-83994D19318C}"/>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CD kararı</a:t>
            </a:r>
          </a:p>
        </p:txBody>
      </p:sp>
      <p:sp>
        <p:nvSpPr>
          <p:cNvPr id="9" name="Staging ortamına dağıtım otomatik olabilir. Üretim geçişine ">
            <a:extLst>
              <a:ext uri="{FF2B5EF4-FFF2-40B4-BE49-F238E27FC236}">
                <a16:creationId xmlns:a16="http://schemas.microsoft.com/office/drawing/2014/main" id="{6DAD89F3-E80A-4C75-BC59-93D94517F2B6}"/>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Staging ortamına dağıtım otomatik olabilir. Üretim geçişine ekip onay kuralı koyabilir.</a:t>
            </a:r>
          </a:p>
        </p:txBody>
      </p:sp>
      <p:sp>
        <p:nvSpPr>
          <p:cNvPr id="10" name="Örnek dosya: .github/workflows/ci.yml. CI kodu bütünleştirir">
            <a:extLst>
              <a:ext uri="{FF2B5EF4-FFF2-40B4-BE49-F238E27FC236}">
                <a16:creationId xmlns:a16="http://schemas.microsoft.com/office/drawing/2014/main" id="{2067D54F-7EDA-4383-BF05-9C0A63130E7F}"/>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Örnek dosya: .github/workflows/ci.yml. CI kodu bütünleştirir, dağıtım ayrı bir karardır.</a:t>
            </a:r>
          </a:p>
        </p:txBody>
      </p:sp>
      <p:sp>
        <p:nvSpPr>
          <p:cNvPr id="11" name="Kaynak sunum: 26–30, 42–46">
            <a:extLst>
              <a:ext uri="{FF2B5EF4-FFF2-40B4-BE49-F238E27FC236}">
                <a16:creationId xmlns:a16="http://schemas.microsoft.com/office/drawing/2014/main" id="{DA5BEB0F-5A31-4CFA-8B14-BF2E6D37B699}"/>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26–30, 42–46</a:t>
            </a:r>
          </a:p>
        </p:txBody>
      </p:sp>
      <p:sp>
        <p:nvSpPr>
          <p:cNvPr id="12" name="28">
            <a:extLst>
              <a:ext uri="{FF2B5EF4-FFF2-40B4-BE49-F238E27FC236}">
                <a16:creationId xmlns:a16="http://schemas.microsoft.com/office/drawing/2014/main" id="{15AAC5BB-F358-4F97-B311-7D35586F95A1}"/>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28</a:t>
            </a:r>
          </a:p>
        </p:txBody>
      </p:sp>
    </p:spTree>
    <p:extLst>
      <p:ext uri="{BB962C8B-B14F-4D97-AF65-F5344CB8AC3E}">
        <p14:creationId xmlns:p14="http://schemas.microsoft.com/office/powerpoint/2010/main" val="1930987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Docker Compose ile ortak geliştirme ortamı">
            <a:extLst>
              <a:ext uri="{FF2B5EF4-FFF2-40B4-BE49-F238E27FC236}">
                <a16:creationId xmlns:a16="http://schemas.microsoft.com/office/drawing/2014/main" id="{32EAFCAF-3114-4456-ABA2-B966266F9502}"/>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Docker Compose ile ortak geliştirme ortamı</a:t>
            </a:r>
          </a:p>
        </p:txBody>
      </p:sp>
      <p:sp>
        <p:nvSpPr>
          <p:cNvPr id="2" name="compose.yaml · uygulama ve veritabanı kesiti">
            <a:extLst>
              <a:ext uri="{FF2B5EF4-FFF2-40B4-BE49-F238E27FC236}">
                <a16:creationId xmlns:a16="http://schemas.microsoft.com/office/drawing/2014/main" id="{E241AC63-1D04-4B81-8128-E66BAC278BEC}"/>
              </a:ext>
            </a:extLst>
          </p:cNvPr>
          <p:cNvSpPr>
            <a:spLocks noGrp="1"/>
          </p:cNvSpPr>
          <p:nvPr/>
        </p:nvSpPr>
        <p:spPr>
          <a:xfrm>
            <a:off x="628650" y="1428750"/>
            <a:ext cx="10668000" cy="333375"/>
          </a:xfrm>
          <a:prstGeom prst="rect">
            <a:avLst/>
          </a:prstGeom>
          <a:noFill/>
          <a:ln w="0">
            <a:noFill/>
          </a:ln>
        </p:spPr>
        <p:txBody>
          <a:bodyPr wrap="square" lIns="0" tIns="0" rIns="0" bIns="0" anchor="t">
            <a:noAutofit/>
          </a:bodyPr>
          <a:lstStyle>
            <a:defPPr>
              <a:defRPr sz="1725" b="1">
                <a:solidFill>
                  <a:srgbClr val="087C83"/>
                </a:solidFill>
                <a:latin typeface="Arial"/>
                <a:ea typeface="Arial"/>
                <a:cs typeface="Arial"/>
              </a:defRPr>
            </a:defPPr>
          </a:lstStyle>
          <a:p>
            <a:pPr>
              <a:defRPr sz="1725" b="1">
                <a:solidFill>
                  <a:srgbClr val="087C83"/>
                </a:solidFill>
                <a:latin typeface="Arial"/>
                <a:ea typeface="Arial"/>
                <a:cs typeface="Arial"/>
              </a:defRPr>
            </a:pPr>
            <a:r>
              <a:rPr sz="1725" b="1">
                <a:solidFill>
                  <a:srgbClr val="087C83"/>
                </a:solidFill>
                <a:latin typeface="Arial"/>
                <a:ea typeface="Arial"/>
                <a:cs typeface="Arial"/>
              </a:rPr>
              <a:t>compose.yaml · uygulama ve veritabanı kesiti</a:t>
            </a:r>
          </a:p>
        </p:txBody>
      </p:sp>
      <p:sp>
        <p:nvSpPr>
          <p:cNvPr id="3" name="services:&#10;  api:&#10;    build: .&#10;    ports: [&quot;8000:8000&quot;]&#10;    e">
            <a:extLst>
              <a:ext uri="{FF2B5EF4-FFF2-40B4-BE49-F238E27FC236}">
                <a16:creationId xmlns:a16="http://schemas.microsoft.com/office/drawing/2014/main" id="{DCAE983D-B82E-424E-84CE-31C08376E6FA}"/>
              </a:ext>
            </a:extLst>
          </p:cNvPr>
          <p:cNvSpPr>
            <a:spLocks noGrp="1"/>
          </p:cNvSpPr>
          <p:nvPr/>
        </p:nvSpPr>
        <p:spPr>
          <a:xfrm>
            <a:off x="628650" y="2038350"/>
            <a:ext cx="7524750" cy="3667125"/>
          </a:xfrm>
          <a:prstGeom prst="rect">
            <a:avLst/>
          </a:prstGeom>
          <a:noFill/>
          <a:ln w="0">
            <a:noFill/>
          </a:ln>
        </p:spPr>
        <p:txBody>
          <a:bodyPr wrap="square" lIns="0" tIns="0" rIns="0" bIns="0" anchor="t">
            <a:noAutofit/>
          </a:bodyPr>
          <a:lstStyle>
            <a:defPPr>
              <a:defRPr sz="2025" b="0">
                <a:solidFill>
                  <a:srgbClr val="24364B"/>
                </a:solidFill>
                <a:latin typeface="Consolas"/>
                <a:ea typeface="Consolas"/>
                <a:cs typeface="Consolas"/>
              </a:defRPr>
            </a:defPPr>
          </a:lstStyle>
          <a:p>
            <a:pPr>
              <a:defRPr sz="2025" b="0">
                <a:solidFill>
                  <a:srgbClr val="24364B"/>
                </a:solidFill>
                <a:latin typeface="Consolas"/>
                <a:ea typeface="Consolas"/>
                <a:cs typeface="Consolas"/>
              </a:defRPr>
            </a:pPr>
            <a:r>
              <a:rPr sz="2025" b="0">
                <a:solidFill>
                  <a:srgbClr val="24364B"/>
                </a:solidFill>
                <a:latin typeface="Consolas"/>
                <a:ea typeface="Consolas"/>
                <a:cs typeface="Consolas"/>
              </a:rPr>
              <a:t>services:</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api:</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build: .</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ports: ["8000:8000"]</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env_file: .env</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db:</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image: postgres:17</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environment:</a:t>
            </a:r>
          </a:p>
          <a:p>
            <a:pPr>
              <a:defRPr sz="2025" b="0">
                <a:solidFill>
                  <a:srgbClr val="24364B"/>
                </a:solidFill>
                <a:latin typeface="Consolas"/>
                <a:ea typeface="Consolas"/>
                <a:cs typeface="Consolas"/>
              </a:defRPr>
            </a:pPr>
            <a:r>
              <a:rPr sz="2025" b="0">
                <a:solidFill>
                  <a:srgbClr val="24364B"/>
                </a:solidFill>
                <a:latin typeface="Consolas"/>
                <a:ea typeface="Consolas"/>
                <a:cs typeface="Consolas"/>
              </a:rPr>
              <a:t>      POSTGRES_PASSWORD: ${DB_PASSWORD:?gerekli}</a:t>
            </a:r>
          </a:p>
        </p:txBody>
      </p:sp>
      <p:sp>
        <p:nvSpPr>
          <p:cNvPr id="4" name="Çalıştırma&#10;docker compose up --build&#10;&#10;Varsayımlar&#10;Projenin D">
            <a:extLst>
              <a:ext uri="{FF2B5EF4-FFF2-40B4-BE49-F238E27FC236}">
                <a16:creationId xmlns:a16="http://schemas.microsoft.com/office/drawing/2014/main" id="{492832CC-868B-4FA0-92DF-D159A8A6231D}"/>
              </a:ext>
            </a:extLst>
          </p:cNvPr>
          <p:cNvSpPr>
            <a:spLocks noGrp="1"/>
          </p:cNvSpPr>
          <p:nvPr/>
        </p:nvSpPr>
        <p:spPr>
          <a:xfrm>
            <a:off x="8763000" y="2028825"/>
            <a:ext cx="2762250" cy="3619500"/>
          </a:xfrm>
          <a:prstGeom prst="rect">
            <a:avLst/>
          </a:prstGeom>
          <a:noFill/>
          <a:ln w="0">
            <a:noFill/>
          </a:ln>
        </p:spPr>
        <p:txBody>
          <a:bodyPr wrap="square" lIns="0" tIns="0" rIns="0" bIns="0" anchor="t">
            <a:noAutofit/>
          </a:bodyPr>
          <a:lstStyle>
            <a:defPPr>
              <a:defRPr sz="1950" b="0">
                <a:solidFill>
                  <a:srgbClr val="5D6C7A"/>
                </a:solidFill>
                <a:latin typeface="Arial"/>
                <a:ea typeface="Arial"/>
                <a:cs typeface="Arial"/>
              </a:defRPr>
            </a:defPPr>
          </a:lstStyle>
          <a:p>
            <a:pPr>
              <a:defRPr sz="1950" b="0">
                <a:solidFill>
                  <a:srgbClr val="5D6C7A"/>
                </a:solidFill>
                <a:latin typeface="Arial"/>
                <a:ea typeface="Arial"/>
                <a:cs typeface="Arial"/>
              </a:defRPr>
            </a:pPr>
            <a:r>
              <a:rPr sz="1950" b="0">
                <a:solidFill>
                  <a:srgbClr val="5D6C7A"/>
                </a:solidFill>
                <a:latin typeface="Arial"/>
                <a:ea typeface="Arial"/>
                <a:cs typeface="Arial"/>
              </a:rPr>
              <a:t>Çalıştırma</a:t>
            </a:r>
          </a:p>
          <a:p>
            <a:pPr>
              <a:defRPr sz="1950" b="0">
                <a:solidFill>
                  <a:srgbClr val="5D6C7A"/>
                </a:solidFill>
                <a:latin typeface="Arial"/>
                <a:ea typeface="Arial"/>
                <a:cs typeface="Arial"/>
              </a:defRPr>
            </a:pPr>
            <a:r>
              <a:rPr sz="1950" b="0">
                <a:solidFill>
                  <a:srgbClr val="5D6C7A"/>
                </a:solidFill>
                <a:latin typeface="Arial"/>
                <a:ea typeface="Arial"/>
                <a:cs typeface="Arial"/>
              </a:rPr>
              <a:t>docker compose up --build</a:t>
            </a:r>
          </a:p>
          <a:p>
            <a:endParaRPr sz="1950" b="0">
              <a:solidFill>
                <a:srgbClr val="5D6C7A"/>
              </a:solidFill>
              <a:latin typeface="Arial"/>
              <a:ea typeface="Arial"/>
              <a:cs typeface="Arial"/>
            </a:endParaRPr>
          </a:p>
          <a:p>
            <a:pPr>
              <a:defRPr sz="1950" b="0">
                <a:solidFill>
                  <a:srgbClr val="5D6C7A"/>
                </a:solidFill>
                <a:latin typeface="Arial"/>
                <a:ea typeface="Arial"/>
                <a:cs typeface="Arial"/>
              </a:defRPr>
            </a:pPr>
            <a:r>
              <a:rPr sz="1950" b="0">
                <a:solidFill>
                  <a:srgbClr val="5D6C7A"/>
                </a:solidFill>
                <a:latin typeface="Arial"/>
                <a:ea typeface="Arial"/>
                <a:cs typeface="Arial"/>
              </a:rPr>
              <a:t>Varsayımlar</a:t>
            </a:r>
          </a:p>
          <a:p>
            <a:pPr>
              <a:defRPr sz="1950" b="0">
                <a:solidFill>
                  <a:srgbClr val="5D6C7A"/>
                </a:solidFill>
                <a:latin typeface="Arial"/>
                <a:ea typeface="Arial"/>
                <a:cs typeface="Arial"/>
              </a:defRPr>
            </a:pPr>
            <a:r>
              <a:rPr sz="1950" b="0">
                <a:solidFill>
                  <a:srgbClr val="5D6C7A"/>
                </a:solidFill>
                <a:latin typeface="Arial"/>
                <a:ea typeface="Arial"/>
                <a:cs typeface="Arial"/>
              </a:rPr>
              <a:t>Projenin Dockerfile’ı ve bağlantı ayarları hazırdır. Gerçek sırlar Git’e eklenmez.</a:t>
            </a:r>
          </a:p>
        </p:txBody>
      </p:sp>
      <p:sp>
        <p:nvSpPr>
          <p:cNvPr id="5" name="Kaynak sunum: 23–26, 31–32">
            <a:extLst>
              <a:ext uri="{FF2B5EF4-FFF2-40B4-BE49-F238E27FC236}">
                <a16:creationId xmlns:a16="http://schemas.microsoft.com/office/drawing/2014/main" id="{588B945A-5214-4ED1-AB4D-4A6F704941C1}"/>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23–26, 31–32</a:t>
            </a:r>
          </a:p>
        </p:txBody>
      </p:sp>
      <p:sp>
        <p:nvSpPr>
          <p:cNvPr id="6" name="29">
            <a:extLst>
              <a:ext uri="{FF2B5EF4-FFF2-40B4-BE49-F238E27FC236}">
                <a16:creationId xmlns:a16="http://schemas.microsoft.com/office/drawing/2014/main" id="{80C57B1B-B212-4787-A122-24C9B067B44F}"/>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29</a:t>
            </a:r>
          </a:p>
        </p:txBody>
      </p:sp>
    </p:spTree>
    <p:extLst>
      <p:ext uri="{BB962C8B-B14F-4D97-AF65-F5344CB8AC3E}">
        <p14:creationId xmlns:p14="http://schemas.microsoft.com/office/powerpoint/2010/main" val="853448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taging, üretim ve sürüm kaydı">
            <a:extLst>
              <a:ext uri="{FF2B5EF4-FFF2-40B4-BE49-F238E27FC236}">
                <a16:creationId xmlns:a16="http://schemas.microsoft.com/office/drawing/2014/main" id="{A86AC0B5-8874-4430-B94E-FA44B00FF508}"/>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Staging, üretim ve sürüm kaydı</a:t>
            </a:r>
          </a:p>
        </p:txBody>
      </p:sp>
      <p:graphicFrame>
        <p:nvGraphicFramePr>
          <p:cNvPr id="2" name="Tablo 1">
            <a:extLst>
              <a:ext uri="{FF2B5EF4-FFF2-40B4-BE49-F238E27FC236}">
                <a16:creationId xmlns:a16="http://schemas.microsoft.com/office/drawing/2014/main" id="{D0E24CDF-7B65-49F3-BD52-305455A8D808}"/>
              </a:ext>
            </a:extLst>
          </p:cNvPr>
          <p:cNvGraphicFramePr/>
          <p:nvPr/>
        </p:nvGraphicFramePr>
        <p:xfrm>
          <a:off x="609600" y="1466850"/>
          <a:ext cx="10953750" cy="3905250"/>
        </p:xfrm>
        <a:graphic>
          <a:graphicData uri="http://schemas.openxmlformats.org/drawingml/2006/table">
            <a:tbl>
              <a:tblPr/>
              <a:tblGrid>
                <a:gridCol w="2095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Ortam</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Amaç</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Örnek kontrol</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Geliştirme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Geliştiricinin hızlı denemesi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Yerel test ve hata ayıklama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Staging</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Üretime benzer son kontrol</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Test verisiyle kayıt ve geri dönüş denemesi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Üretim</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Gerçek kullanıcılara hizmet</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Onay, erişim kontrolü ve izleme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Sürüm kaydı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Neyi yayınladığını bilmek</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v0.2 etiketi, commit kimliği, değişiklik notu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Eski imaja dönmek, veritabanı değişikliğini otomatik geri al">
            <a:extLst>
              <a:ext uri="{FF2B5EF4-FFF2-40B4-BE49-F238E27FC236}">
                <a16:creationId xmlns:a16="http://schemas.microsoft.com/office/drawing/2014/main" id="{C6FF3482-627B-487C-A84E-F4F4CD226E5A}"/>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Eski imaja dönmek, veritabanı değişikliğini otomatik geri almaz. Veri uyumluluğu ayrıca planlanır.</a:t>
            </a:r>
          </a:p>
        </p:txBody>
      </p:sp>
      <p:sp>
        <p:nvSpPr>
          <p:cNvPr id="4" name="Kaynak sunum: 31–32, 42–46">
            <a:extLst>
              <a:ext uri="{FF2B5EF4-FFF2-40B4-BE49-F238E27FC236}">
                <a16:creationId xmlns:a16="http://schemas.microsoft.com/office/drawing/2014/main" id="{1BC20E8A-16F9-472A-A12F-D3BA42187DA2}"/>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31–32, 42–46</a:t>
            </a:r>
          </a:p>
        </p:txBody>
      </p:sp>
      <p:sp>
        <p:nvSpPr>
          <p:cNvPr id="5" name="30">
            <a:extLst>
              <a:ext uri="{FF2B5EF4-FFF2-40B4-BE49-F238E27FC236}">
                <a16:creationId xmlns:a16="http://schemas.microsoft.com/office/drawing/2014/main" id="{EE60DDC4-D33F-4FA3-B1CB-608725A0EF3E}"/>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30</a:t>
            </a:r>
          </a:p>
        </p:txBody>
      </p:sp>
    </p:spTree>
    <p:extLst>
      <p:ext uri="{BB962C8B-B14F-4D97-AF65-F5344CB8AC3E}">
        <p14:creationId xmlns:p14="http://schemas.microsoft.com/office/powerpoint/2010/main" val="676588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Değişen gereksinim için bekleme listesi">
            <a:extLst>
              <a:ext uri="{FF2B5EF4-FFF2-40B4-BE49-F238E27FC236}">
                <a16:creationId xmlns:a16="http://schemas.microsoft.com/office/drawing/2014/main" id="{6355A2DB-7ED2-4DAA-9F2B-38555676ED0C}"/>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Değişen gereksinim için bekleme listesi</a:t>
            </a:r>
          </a:p>
        </p:txBody>
      </p:sp>
      <p:sp>
        <p:nvSpPr>
          <p:cNvPr id="2" name="Yeni talep">
            <a:extLst>
              <a:ext uri="{FF2B5EF4-FFF2-40B4-BE49-F238E27FC236}">
                <a16:creationId xmlns:a16="http://schemas.microsoft.com/office/drawing/2014/main" id="{C55EFE2B-D86C-49C4-997F-B9ACB04FAD1D}"/>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Yeni talep</a:t>
            </a:r>
          </a:p>
        </p:txBody>
      </p:sp>
      <p:sp>
        <p:nvSpPr>
          <p:cNvPr id="3" name="Dolu etkinliklerde öğrenci sıraya girmek istiyor. Yeni issue">
            <a:extLst>
              <a:ext uri="{FF2B5EF4-FFF2-40B4-BE49-F238E27FC236}">
                <a16:creationId xmlns:a16="http://schemas.microsoft.com/office/drawing/2014/main" id="{1E60AEED-86AD-4267-A8C5-10E675D01C91}"/>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Dolu etkinliklerde öğrenci sıraya girmek istiyor. Yeni issue açılır.</a:t>
            </a:r>
          </a:p>
        </p:txBody>
      </p:sp>
      <p:sp>
        <p:nvSpPr>
          <p:cNvPr id="4" name="Etki analizi">
            <a:extLst>
              <a:ext uri="{FF2B5EF4-FFF2-40B4-BE49-F238E27FC236}">
                <a16:creationId xmlns:a16="http://schemas.microsoft.com/office/drawing/2014/main" id="{71EAA2DA-C966-4480-9B28-FBDB98EE1063}"/>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Etki analizi</a:t>
            </a:r>
          </a:p>
        </p:txBody>
      </p:sp>
      <p:sp>
        <p:nvSpPr>
          <p:cNvPr id="5" name="API yanıtı, kayıt durumu, veri tablosu ve iptal akışı birlik">
            <a:extLst>
              <a:ext uri="{FF2B5EF4-FFF2-40B4-BE49-F238E27FC236}">
                <a16:creationId xmlns:a16="http://schemas.microsoft.com/office/drawing/2014/main" id="{9E379CBA-5BCB-4CD9-9384-6864CA90EC8C}"/>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API yanıtı, kayıt durumu, veri tablosu ve iptal akışı birlikte incelenir.</a:t>
            </a:r>
          </a:p>
        </p:txBody>
      </p:sp>
      <p:sp>
        <p:nvSpPr>
          <p:cNvPr id="6" name="Kontrollü açılış">
            <a:extLst>
              <a:ext uri="{FF2B5EF4-FFF2-40B4-BE49-F238E27FC236}">
                <a16:creationId xmlns:a16="http://schemas.microsoft.com/office/drawing/2014/main" id="{50529364-6CA3-48B5-B827-AC9C7B7A534D}"/>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Kontrollü açılış</a:t>
            </a:r>
          </a:p>
        </p:txBody>
      </p:sp>
      <p:sp>
        <p:nvSpPr>
          <p:cNvPr id="7" name="Unleash özellik bayrağıyla bekleme listesi önce pilot kulüpl">
            <a:extLst>
              <a:ext uri="{FF2B5EF4-FFF2-40B4-BE49-F238E27FC236}">
                <a16:creationId xmlns:a16="http://schemas.microsoft.com/office/drawing/2014/main" id="{CA2DA5D1-3D67-403A-9EE9-2FF1C3F54F54}"/>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Unleash özellik bayrağıyla bekleme listesi önce pilot kulüplere açılabilir.</a:t>
            </a:r>
          </a:p>
        </p:txBody>
      </p:sp>
      <p:sp>
        <p:nvSpPr>
          <p:cNvPr id="8" name="Geri bildirim">
            <a:extLst>
              <a:ext uri="{FF2B5EF4-FFF2-40B4-BE49-F238E27FC236}">
                <a16:creationId xmlns:a16="http://schemas.microsoft.com/office/drawing/2014/main" id="{0D35AD11-9DA0-4893-A562-E9063276476D}"/>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Geri bildirim</a:t>
            </a:r>
          </a:p>
        </p:txBody>
      </p:sp>
      <p:sp>
        <p:nvSpPr>
          <p:cNvPr id="9" name="Ekip sıra bilgisinin anlaşılırlığını ve hataları izler, sonr">
            <a:extLst>
              <a:ext uri="{FF2B5EF4-FFF2-40B4-BE49-F238E27FC236}">
                <a16:creationId xmlns:a16="http://schemas.microsoft.com/office/drawing/2014/main" id="{8B4227A4-B9AB-4426-B17C-2AC3F0C45405}"/>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sıra bilgisinin anlaşılırlığını ve hataları izler, sonra kapsamı genişletir.</a:t>
            </a:r>
          </a:p>
        </p:txBody>
      </p:sp>
      <p:sp>
        <p:nvSpPr>
          <p:cNvPr id="10" name="Özellik bayrağı davranışı açıp kapatır. Veri değişikliğini v">
            <a:extLst>
              <a:ext uri="{FF2B5EF4-FFF2-40B4-BE49-F238E27FC236}">
                <a16:creationId xmlns:a16="http://schemas.microsoft.com/office/drawing/2014/main" id="{FA50F560-0B96-4652-A0BC-EBAAB1F25D58}"/>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Özellik bayrağı davranışı açıp kapatır. Veri değişikliğini veya kod dağıtımını geri almaz.</a:t>
            </a:r>
          </a:p>
        </p:txBody>
      </p:sp>
      <p:sp>
        <p:nvSpPr>
          <p:cNvPr id="11" name="Kaynak sunum: 34–36, 42–46">
            <a:extLst>
              <a:ext uri="{FF2B5EF4-FFF2-40B4-BE49-F238E27FC236}">
                <a16:creationId xmlns:a16="http://schemas.microsoft.com/office/drawing/2014/main" id="{35704119-0AB1-4AB5-A33C-2894FFC2B919}"/>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34–36, 42–46</a:t>
            </a:r>
          </a:p>
        </p:txBody>
      </p:sp>
      <p:sp>
        <p:nvSpPr>
          <p:cNvPr id="12" name="31">
            <a:extLst>
              <a:ext uri="{FF2B5EF4-FFF2-40B4-BE49-F238E27FC236}">
                <a16:creationId xmlns:a16="http://schemas.microsoft.com/office/drawing/2014/main" id="{528B2E04-019C-4D1D-B396-3141984B0685}"/>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31</a:t>
            </a:r>
          </a:p>
        </p:txBody>
      </p:sp>
    </p:spTree>
    <p:extLst>
      <p:ext uri="{BB962C8B-B14F-4D97-AF65-F5344CB8AC3E}">
        <p14:creationId xmlns:p14="http://schemas.microsoft.com/office/powerpoint/2010/main" val="1941777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İşletimde gözlemlenebilirlik">
            <a:extLst>
              <a:ext uri="{FF2B5EF4-FFF2-40B4-BE49-F238E27FC236}">
                <a16:creationId xmlns:a16="http://schemas.microsoft.com/office/drawing/2014/main" id="{BFAD5C08-78F8-4CF2-BC57-AD145BDCFCA1}"/>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İşletimde gözlemlenebilirlik</a:t>
            </a:r>
          </a:p>
        </p:txBody>
      </p:sp>
      <p:graphicFrame>
        <p:nvGraphicFramePr>
          <p:cNvPr id="2" name="Tablo 1">
            <a:extLst>
              <a:ext uri="{FF2B5EF4-FFF2-40B4-BE49-F238E27FC236}">
                <a16:creationId xmlns:a16="http://schemas.microsoft.com/office/drawing/2014/main" id="{F539AA70-96AA-4C02-841E-ACAE933D43EF}"/>
              </a:ext>
            </a:extLst>
          </p:cNvPr>
          <p:cNvGraphicFramePr/>
          <p:nvPr/>
        </p:nvGraphicFramePr>
        <p:xfrm>
          <a:off x="609600" y="1466850"/>
          <a:ext cx="10953750" cy="3905250"/>
        </p:xfrm>
        <a:graphic>
          <a:graphicData uri="http://schemas.openxmlformats.org/drawingml/2006/table">
            <a:tbl>
              <a:tblPr/>
              <a:tblGrid>
                <a:gridCol w="21907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Sinyal</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Cevaplanan soru</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Araç ve ders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Metrik</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Ne kadar yavaş veya hatalı?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Grafana’da kayıt API süresi ve hata oranı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Log</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Bu istekte hangi olay oldu?</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request_id ile EVENT_FULL kaydı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Trace</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İstek zamanı nerede harcadı?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OpenTelemetry ile API ve DB çağrıları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Uyarı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Ekip ne zaman müdahale edecek?</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Senaryoya uygun eşik ve bildirim kuralı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Ölçüm verisine parola, erişim belirteci veya gereksiz kişise">
            <a:extLst>
              <a:ext uri="{FF2B5EF4-FFF2-40B4-BE49-F238E27FC236}">
                <a16:creationId xmlns:a16="http://schemas.microsoft.com/office/drawing/2014/main" id="{139A8BA9-1DF7-48A2-A032-9281B105A5C1}"/>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Ölçüm verisine parola, erişim belirteci veya gereksiz kişisel veri eklenmez.</a:t>
            </a:r>
          </a:p>
        </p:txBody>
      </p:sp>
      <p:sp>
        <p:nvSpPr>
          <p:cNvPr id="4" name="Kaynak sunum: 31–32, 51–53">
            <a:extLst>
              <a:ext uri="{FF2B5EF4-FFF2-40B4-BE49-F238E27FC236}">
                <a16:creationId xmlns:a16="http://schemas.microsoft.com/office/drawing/2014/main" id="{9C8FE00E-B0E7-4A6A-9A7C-BAA7192BEC00}"/>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31–32, 51–53</a:t>
            </a:r>
          </a:p>
        </p:txBody>
      </p:sp>
      <p:sp>
        <p:nvSpPr>
          <p:cNvPr id="5" name="32">
            <a:extLst>
              <a:ext uri="{FF2B5EF4-FFF2-40B4-BE49-F238E27FC236}">
                <a16:creationId xmlns:a16="http://schemas.microsoft.com/office/drawing/2014/main" id="{E1DA8770-B665-41C7-8E05-89550F38A36B}"/>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32</a:t>
            </a:r>
          </a:p>
        </p:txBody>
      </p:sp>
    </p:spTree>
    <p:extLst>
      <p:ext uri="{BB962C8B-B14F-4D97-AF65-F5344CB8AC3E}">
        <p14:creationId xmlns:p14="http://schemas.microsoft.com/office/powerpoint/2010/main" val="829521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Üretim hatasının yaşam döngüsü">
            <a:extLst>
              <a:ext uri="{FF2B5EF4-FFF2-40B4-BE49-F238E27FC236}">
                <a16:creationId xmlns:a16="http://schemas.microsoft.com/office/drawing/2014/main" id="{BAAB91DC-5480-4D41-97AD-1F81EE32E20D}"/>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Üretim hatasının yaşam döngüsü</a:t>
            </a:r>
          </a:p>
        </p:txBody>
      </p:sp>
      <p:sp>
        <p:nvSpPr>
          <p:cNvPr id="2" name="Olay">
            <a:extLst>
              <a:ext uri="{FF2B5EF4-FFF2-40B4-BE49-F238E27FC236}">
                <a16:creationId xmlns:a16="http://schemas.microsoft.com/office/drawing/2014/main" id="{5EE42687-AFF9-4B91-B449-4D5060C7E376}"/>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Olay</a:t>
            </a:r>
          </a:p>
        </p:txBody>
      </p:sp>
      <p:sp>
        <p:nvSpPr>
          <p:cNvPr id="3" name="Yayın sonrası bazı öğrenciler kayıt sonucunu göremiyor.">
            <a:extLst>
              <a:ext uri="{FF2B5EF4-FFF2-40B4-BE49-F238E27FC236}">
                <a16:creationId xmlns:a16="http://schemas.microsoft.com/office/drawing/2014/main" id="{FBD777D9-F252-4513-B3FD-6B4991F7951B}"/>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Yayın sonrası bazı öğrenciler kayıt sonucunu göremiyor.</a:t>
            </a:r>
          </a:p>
        </p:txBody>
      </p:sp>
      <p:sp>
        <p:nvSpPr>
          <p:cNvPr id="4" name="İnceleme">
            <a:extLst>
              <a:ext uri="{FF2B5EF4-FFF2-40B4-BE49-F238E27FC236}">
                <a16:creationId xmlns:a16="http://schemas.microsoft.com/office/drawing/2014/main" id="{F20CE2D5-A90D-45C1-96E4-52CD5D3668F6}"/>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İnceleme</a:t>
            </a:r>
          </a:p>
        </p:txBody>
      </p:sp>
      <p:sp>
        <p:nvSpPr>
          <p:cNvPr id="5" name="Ekip log ve trace içindeki request_id üzerinden sorunlu API ">
            <a:extLst>
              <a:ext uri="{FF2B5EF4-FFF2-40B4-BE49-F238E27FC236}">
                <a16:creationId xmlns:a16="http://schemas.microsoft.com/office/drawing/2014/main" id="{28962E2F-4BA0-41D5-B466-EC6604568066}"/>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log ve trace içindeki request_id üzerinden sorunlu API isteğini bulur.</a:t>
            </a:r>
          </a:p>
        </p:txBody>
      </p:sp>
      <p:sp>
        <p:nvSpPr>
          <p:cNvPr id="6" name="Müdahale">
            <a:extLst>
              <a:ext uri="{FF2B5EF4-FFF2-40B4-BE49-F238E27FC236}">
                <a16:creationId xmlns:a16="http://schemas.microsoft.com/office/drawing/2014/main" id="{C2A2F9FE-2673-40E5-8C82-2C16C211C040}"/>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Müdahale</a:t>
            </a:r>
          </a:p>
        </p:txBody>
      </p:sp>
      <p:sp>
        <p:nvSpPr>
          <p:cNvPr id="7" name="Ekip önce etkiyi sınırlar, sonra düzeltmeyi test edip yeni s">
            <a:extLst>
              <a:ext uri="{FF2B5EF4-FFF2-40B4-BE49-F238E27FC236}">
                <a16:creationId xmlns:a16="http://schemas.microsoft.com/office/drawing/2014/main" id="{CC75EA75-B907-4B1A-9258-B20CAF7BA397}"/>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önce etkiyi sınırlar, sonra düzeltmeyi test edip yeni sürümü yayınlar.</a:t>
            </a:r>
          </a:p>
        </p:txBody>
      </p:sp>
      <p:sp>
        <p:nvSpPr>
          <p:cNvPr id="8" name="Öğrenme">
            <a:extLst>
              <a:ext uri="{FF2B5EF4-FFF2-40B4-BE49-F238E27FC236}">
                <a16:creationId xmlns:a16="http://schemas.microsoft.com/office/drawing/2014/main" id="{3EEBE0A6-5E15-4562-B151-9BC0A005D946}"/>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Öğrenme</a:t>
            </a:r>
          </a:p>
        </p:txBody>
      </p:sp>
      <p:sp>
        <p:nvSpPr>
          <p:cNvPr id="9" name="Olay kaydı, kök neden, regresyon testi ve sorumlu aksiyonla ">
            <a:extLst>
              <a:ext uri="{FF2B5EF4-FFF2-40B4-BE49-F238E27FC236}">
                <a16:creationId xmlns:a16="http://schemas.microsoft.com/office/drawing/2014/main" id="{0EC6D356-611B-44CC-BBCE-9BF9991D4ADA}"/>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Olay kaydı, kök neden, regresyon testi ve sorumlu aksiyonla kapanır.</a:t>
            </a:r>
          </a:p>
        </p:txBody>
      </p:sp>
      <p:sp>
        <p:nvSpPr>
          <p:cNvPr id="10" name="Dependabot, bağımlılıklardaki bilinen güvenlik açıkları için">
            <a:extLst>
              <a:ext uri="{FF2B5EF4-FFF2-40B4-BE49-F238E27FC236}">
                <a16:creationId xmlns:a16="http://schemas.microsoft.com/office/drawing/2014/main" id="{B52DE515-90A2-433C-82F3-3754DFD3AA21}"/>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Dependabot, bağımlılıklardaki bilinen güvenlik açıkları için ayrı uyarılar sağlar.</a:t>
            </a:r>
          </a:p>
        </p:txBody>
      </p:sp>
      <p:sp>
        <p:nvSpPr>
          <p:cNvPr id="11" name="Kaynak sunum: 26, 31–32, 48–51">
            <a:extLst>
              <a:ext uri="{FF2B5EF4-FFF2-40B4-BE49-F238E27FC236}">
                <a16:creationId xmlns:a16="http://schemas.microsoft.com/office/drawing/2014/main" id="{630CB91A-D290-403C-B59D-F5745E0CE035}"/>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26, 31–32, 48–51</a:t>
            </a:r>
          </a:p>
        </p:txBody>
      </p:sp>
      <p:sp>
        <p:nvSpPr>
          <p:cNvPr id="12" name="33">
            <a:extLst>
              <a:ext uri="{FF2B5EF4-FFF2-40B4-BE49-F238E27FC236}">
                <a16:creationId xmlns:a16="http://schemas.microsoft.com/office/drawing/2014/main" id="{02852C5F-D961-48BF-A09C-2A6F288ECFC4}"/>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33</a:t>
            </a:r>
          </a:p>
        </p:txBody>
      </p:sp>
    </p:spTree>
    <p:extLst>
      <p:ext uri="{BB962C8B-B14F-4D97-AF65-F5344CB8AC3E}">
        <p14:creationId xmlns:p14="http://schemas.microsoft.com/office/powerpoint/2010/main" val="1528086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üreç ölçümü için beş DORA ölçütü">
            <a:extLst>
              <a:ext uri="{FF2B5EF4-FFF2-40B4-BE49-F238E27FC236}">
                <a16:creationId xmlns:a16="http://schemas.microsoft.com/office/drawing/2014/main" id="{63C4BB10-FC64-4D4E-B5CD-F8885D8E9C7F}"/>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Süreç ölçümü için beş DORA ölçütü</a:t>
            </a:r>
          </a:p>
        </p:txBody>
      </p:sp>
      <p:graphicFrame>
        <p:nvGraphicFramePr>
          <p:cNvPr id="2" name="Tablo 1">
            <a:extLst>
              <a:ext uri="{FF2B5EF4-FFF2-40B4-BE49-F238E27FC236}">
                <a16:creationId xmlns:a16="http://schemas.microsoft.com/office/drawing/2014/main" id="{B5B652CD-0572-41EE-89F7-1820483F7E3E}"/>
              </a:ext>
            </a:extLst>
          </p:cNvPr>
          <p:cNvGraphicFramePr/>
          <p:nvPr/>
        </p:nvGraphicFramePr>
        <p:xfrm>
          <a:off x="609600" y="1466850"/>
          <a:ext cx="10953750" cy="4143375"/>
        </p:xfrm>
        <a:graphic>
          <a:graphicData uri="http://schemas.openxmlformats.org/drawingml/2006/table">
            <a:tbl>
              <a:tblPr/>
              <a:tblGrid>
                <a:gridCol w="3619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Ölçüt</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Ne ölçer?</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Veri kaynağı örneği</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710565">
                <a:tc>
                  <a:txBody>
                    <a:bodyPr/>
                    <a:lstStyle/>
                    <a:p>
                      <a:r>
                        <a:rPr sz="1875" b="0">
                          <a:solidFill>
                            <a:srgbClr val="24364B"/>
                          </a:solidFill>
                          <a:latin typeface="Arial"/>
                          <a:ea typeface="Arial"/>
                          <a:cs typeface="Arial"/>
                        </a:rPr>
                        <a:t>Değişiklik teslim süresi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Commit’ten üretime geçen süre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Git ve yayın zamanı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710565">
                <a:tc>
                  <a:txBody>
                    <a:bodyPr/>
                    <a:lstStyle/>
                    <a:p>
                      <a:r>
                        <a:rPr sz="1875" b="0">
                          <a:solidFill>
                            <a:srgbClr val="24364B"/>
                          </a:solidFill>
                          <a:latin typeface="Arial"/>
                          <a:ea typeface="Arial"/>
                          <a:cs typeface="Arial"/>
                        </a:rPr>
                        <a:t>Dağıtım sıklığı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Belirli süredeki dağıtımlar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Yayın iş akışı kayıtları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710565">
                <a:tc>
                  <a:txBody>
                    <a:bodyPr/>
                    <a:lstStyle/>
                    <a:p>
                      <a:r>
                        <a:rPr sz="1875" b="0">
                          <a:solidFill>
                            <a:srgbClr val="24364B"/>
                          </a:solidFill>
                          <a:latin typeface="Arial"/>
                          <a:ea typeface="Arial"/>
                          <a:cs typeface="Arial"/>
                        </a:rPr>
                        <a:t>Başarısız dağıtımdan kurtarma süresi</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Müdahale gereken yayından toparlanma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Olay zaman çizelgesi</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710565">
                <a:tc>
                  <a:txBody>
                    <a:bodyPr/>
                    <a:lstStyle/>
                    <a:p>
                      <a:r>
                        <a:rPr sz="1875" b="0">
                          <a:solidFill>
                            <a:srgbClr val="24364B"/>
                          </a:solidFill>
                          <a:latin typeface="Arial"/>
                          <a:ea typeface="Arial"/>
                          <a:cs typeface="Arial"/>
                        </a:rPr>
                        <a:t>Değişiklik başarısızlık oranı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Acil müdahale gerektiren dağıtım payı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Dağıtım ve olay bağlantısı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r h="710565">
                <a:tc>
                  <a:txBody>
                    <a:bodyPr/>
                    <a:lstStyle/>
                    <a:p>
                      <a:r>
                        <a:rPr sz="1875" b="0">
                          <a:solidFill>
                            <a:srgbClr val="24364B"/>
                          </a:solidFill>
                          <a:latin typeface="Arial"/>
                          <a:ea typeface="Arial"/>
                          <a:cs typeface="Arial"/>
                        </a:rPr>
                        <a:t>Dağıtım yeniden çalışma oranı</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Olay nedeniyle yapılan plansız dağıtım payı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Düzeltme yayınları</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5"/>
                  </a:ext>
                </a:extLst>
              </a:tr>
            </a:tbl>
          </a:graphicData>
        </a:graphic>
      </p:graphicFrame>
      <p:sp>
        <p:nvSpPr>
          <p:cNvPr id="3" name="Ölçütler uygulama veya servis bağlamında izlenir. Kişileri s">
            <a:extLst>
              <a:ext uri="{FF2B5EF4-FFF2-40B4-BE49-F238E27FC236}">
                <a16:creationId xmlns:a16="http://schemas.microsoft.com/office/drawing/2014/main" id="{A3F5197E-1D26-449E-9A58-C19A84F3E604}"/>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Ölçütler uygulama veya servis bağlamında izlenir. Kişileri sıralamak için kullanılmaz.</a:t>
            </a:r>
          </a:p>
        </p:txBody>
      </p:sp>
      <p:sp>
        <p:nvSpPr>
          <p:cNvPr id="4" name="Kaynak sunum: 51–53">
            <a:extLst>
              <a:ext uri="{FF2B5EF4-FFF2-40B4-BE49-F238E27FC236}">
                <a16:creationId xmlns:a16="http://schemas.microsoft.com/office/drawing/2014/main" id="{9149D1CF-14F4-4CB2-B6DE-9C3E7DA87A30}"/>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51–53</a:t>
            </a:r>
          </a:p>
        </p:txBody>
      </p:sp>
      <p:sp>
        <p:nvSpPr>
          <p:cNvPr id="5" name="34">
            <a:extLst>
              <a:ext uri="{FF2B5EF4-FFF2-40B4-BE49-F238E27FC236}">
                <a16:creationId xmlns:a16="http://schemas.microsoft.com/office/drawing/2014/main" id="{9783DD7E-CBFE-4D7D-99BF-E419873CC66A}"/>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34</a:t>
            </a:r>
          </a:p>
        </p:txBody>
      </p:sp>
    </p:spTree>
    <p:extLst>
      <p:ext uri="{BB962C8B-B14F-4D97-AF65-F5344CB8AC3E}">
        <p14:creationId xmlns:p14="http://schemas.microsoft.com/office/powerpoint/2010/main" val="2034804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Ölç, analiz et, değiştir">
            <a:extLst>
              <a:ext uri="{FF2B5EF4-FFF2-40B4-BE49-F238E27FC236}">
                <a16:creationId xmlns:a16="http://schemas.microsoft.com/office/drawing/2014/main" id="{4AE60E51-D19A-4928-AA15-3F9C51D8FFE4}"/>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Ölç, analiz et, değiştir</a:t>
            </a:r>
          </a:p>
        </p:txBody>
      </p:sp>
      <p:graphicFrame>
        <p:nvGraphicFramePr>
          <p:cNvPr id="2" name="Tablo 1">
            <a:extLst>
              <a:ext uri="{FF2B5EF4-FFF2-40B4-BE49-F238E27FC236}">
                <a16:creationId xmlns:a16="http://schemas.microsoft.com/office/drawing/2014/main" id="{DEE0C4ED-8588-46CE-B285-5F12DF8AFB71}"/>
              </a:ext>
            </a:extLst>
          </p:cNvPr>
          <p:cNvGraphicFramePr/>
          <p:nvPr/>
        </p:nvGraphicFramePr>
        <p:xfrm>
          <a:off x="609600" y="1466850"/>
          <a:ext cx="10953750" cy="3905250"/>
        </p:xfrm>
        <a:graphic>
          <a:graphicData uri="http://schemas.openxmlformats.org/drawingml/2006/table">
            <a:tbl>
              <a:tblPr/>
              <a:tblGrid>
                <a:gridCol w="219075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90550">
                <a:tc>
                  <a:txBody>
                    <a:bodyPr/>
                    <a:lstStyle/>
                    <a:p>
                      <a:r>
                        <a:rPr sz="1875" b="1">
                          <a:solidFill>
                            <a:srgbClr val="FFFFFF"/>
                          </a:solidFill>
                          <a:latin typeface="Arial"/>
                          <a:ea typeface="Arial"/>
                          <a:cs typeface="Arial"/>
                        </a:rPr>
                        <a:t>Adım</a:t>
                      </a:r>
                    </a:p>
                  </a:txBody>
                  <a:tcPr>
                    <a:lnL w="9525">
                      <a:solidFill>
                        <a:srgbClr val="D2DCE5"/>
                      </a:solidFill>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Ders senaryosundaki bulgu</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tc>
                  <a:txBody>
                    <a:bodyPr/>
                    <a:lstStyle/>
                    <a:p>
                      <a:r>
                        <a:rPr sz="1875" b="1">
                          <a:solidFill>
                            <a:srgbClr val="FFFFFF"/>
                          </a:solidFill>
                          <a:latin typeface="Arial"/>
                          <a:ea typeface="Arial"/>
                          <a:cs typeface="Arial"/>
                        </a:rPr>
                        <a:t>Ekip kararı</a:t>
                      </a:r>
                    </a:p>
                  </a:txBody>
                  <a:tcPr>
                    <a:lnL w="9525" cap="flat" cmpd="sng" algn="ctr">
                      <a:solidFill>
                        <a:srgbClr val="D2DCE5"/>
                      </a:solidFill>
                      <a:prstDash val="solid"/>
                      <a:round/>
                      <a:headEnd type="none" w="med" len="med"/>
                      <a:tailEnd type="none" w="med" len="med"/>
                    </a:lnL>
                    <a:lnR w="9525">
                      <a:solidFill>
                        <a:srgbClr val="D2DCE5"/>
                      </a:solidFill>
                    </a:lnR>
                    <a:lnT w="9525">
                      <a:solidFill>
                        <a:srgbClr val="D2DCE5"/>
                      </a:solidFill>
                    </a:lnT>
                    <a:lnB w="9525">
                      <a:solidFill>
                        <a:srgbClr val="D2DCE5"/>
                      </a:solidFill>
                    </a:lnB>
                    <a:solidFill>
                      <a:srgbClr val="132F4C"/>
                    </a:solidFill>
                  </a:tcPr>
                </a:tc>
                <a:extLst>
                  <a:ext uri="{0D108BD9-81ED-4DB2-BD59-A6C34878D82A}">
                    <a16:rowId xmlns:a16="http://schemas.microsoft.com/office/drawing/2014/main" val="10000"/>
                  </a:ext>
                </a:extLst>
              </a:tr>
              <a:tr h="828675">
                <a:tc>
                  <a:txBody>
                    <a:bodyPr/>
                    <a:lstStyle/>
                    <a:p>
                      <a:r>
                        <a:rPr sz="1875" b="0">
                          <a:solidFill>
                            <a:srgbClr val="24364B"/>
                          </a:solidFill>
                          <a:latin typeface="Arial"/>
                          <a:ea typeface="Arial"/>
                          <a:cs typeface="Arial"/>
                        </a:rPr>
                        <a:t>Ölç</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Kod incelemede medyan bekleme 2 gün</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PR açılış ve ilk inceleme zamanını topla</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1"/>
                  </a:ext>
                </a:extLst>
              </a:tr>
              <a:tr h="828675">
                <a:tc>
                  <a:txBody>
                    <a:bodyPr/>
                    <a:lstStyle/>
                    <a:p>
                      <a:r>
                        <a:rPr sz="1875" b="0">
                          <a:solidFill>
                            <a:srgbClr val="24364B"/>
                          </a:solidFill>
                          <a:latin typeface="Arial"/>
                          <a:ea typeface="Arial"/>
                          <a:cs typeface="Arial"/>
                        </a:rPr>
                        <a:t>Analiz et</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Büyük PR’lar tek kişide bekliyor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İş boyutunu ve sorumluluğu değerlendir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2"/>
                  </a:ext>
                </a:extLst>
              </a:tr>
              <a:tr h="828675">
                <a:tc>
                  <a:txBody>
                    <a:bodyPr/>
                    <a:lstStyle/>
                    <a:p>
                      <a:r>
                        <a:rPr sz="1875" b="0">
                          <a:solidFill>
                            <a:srgbClr val="24364B"/>
                          </a:solidFill>
                          <a:latin typeface="Arial"/>
                          <a:ea typeface="Arial"/>
                          <a:cs typeface="Arial"/>
                        </a:rPr>
                        <a:t>Değiştir</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Küçük PR ve dönüşümlü inceleme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tc>
                  <a:txBody>
                    <a:bodyPr/>
                    <a:lstStyle/>
                    <a:p>
                      <a:r>
                        <a:rPr sz="1875" b="0">
                          <a:solidFill>
                            <a:srgbClr val="24364B"/>
                          </a:solidFill>
                          <a:latin typeface="Arial"/>
                          <a:ea typeface="Arial"/>
                          <a:cs typeface="Arial"/>
                        </a:rPr>
                        <a:t>İki hafta boyunca dene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FFFFFF"/>
                    </a:solidFill>
                  </a:tcPr>
                </a:tc>
                <a:extLst>
                  <a:ext uri="{0D108BD9-81ED-4DB2-BD59-A6C34878D82A}">
                    <a16:rowId xmlns:a16="http://schemas.microsoft.com/office/drawing/2014/main" val="10003"/>
                  </a:ext>
                </a:extLst>
              </a:tr>
              <a:tr h="828675">
                <a:tc>
                  <a:txBody>
                    <a:bodyPr/>
                    <a:lstStyle/>
                    <a:p>
                      <a:r>
                        <a:rPr sz="1875" b="0">
                          <a:solidFill>
                            <a:srgbClr val="24364B"/>
                          </a:solidFill>
                          <a:latin typeface="Arial"/>
                          <a:ea typeface="Arial"/>
                          <a:cs typeface="Arial"/>
                        </a:rPr>
                        <a:t>Yeniden ölç</a:t>
                      </a:r>
                    </a:p>
                  </a:txBody>
                  <a:tcPr>
                    <a:lnL w="9525">
                      <a:solidFill>
                        <a:srgbClr val="D2DCE5"/>
                      </a:solidFill>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Bekleme süresi ve hata oranını karşılaştır</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tc>
                  <a:txBody>
                    <a:bodyPr/>
                    <a:lstStyle/>
                    <a:p>
                      <a:r>
                        <a:rPr sz="1875" b="0">
                          <a:solidFill>
                            <a:srgbClr val="24364B"/>
                          </a:solidFill>
                          <a:latin typeface="Arial"/>
                          <a:ea typeface="Arial"/>
                          <a:cs typeface="Arial"/>
                        </a:rPr>
                        <a:t>Hız artarken kaliteyi de izle</a:t>
                      </a:r>
                    </a:p>
                  </a:txBody>
                  <a:tcPr>
                    <a:lnL w="9525" cap="flat" cmpd="sng" algn="ctr">
                      <a:solidFill>
                        <a:srgbClr val="D2DCE5"/>
                      </a:solidFill>
                      <a:prstDash val="solid"/>
                      <a:round/>
                      <a:headEnd type="none" w="med" len="med"/>
                      <a:tailEnd type="none" w="med" len="med"/>
                    </a:lnL>
                    <a:lnR w="9525">
                      <a:solidFill>
                        <a:srgbClr val="D2DCE5"/>
                      </a:solidFill>
                    </a:lnR>
                    <a:lnT w="9525" cap="flat" cmpd="sng" algn="ctr">
                      <a:solidFill>
                        <a:srgbClr val="D2DCE5"/>
                      </a:solidFill>
                      <a:prstDash val="solid"/>
                      <a:round/>
                      <a:headEnd type="none" w="med" len="med"/>
                      <a:tailEnd type="none" w="med" len="med"/>
                    </a:lnT>
                    <a:lnB w="9525">
                      <a:solidFill>
                        <a:srgbClr val="D2DCE5"/>
                      </a:solidFill>
                    </a:lnB>
                    <a:solidFill>
                      <a:srgbClr val="EFF3F7"/>
                    </a:solidFill>
                  </a:tcPr>
                </a:tc>
                <a:extLst>
                  <a:ext uri="{0D108BD9-81ED-4DB2-BD59-A6C34878D82A}">
                    <a16:rowId xmlns:a16="http://schemas.microsoft.com/office/drawing/2014/main" val="10004"/>
                  </a:ext>
                </a:extLst>
              </a:tr>
            </a:tbl>
          </a:graphicData>
        </a:graphic>
      </p:graphicFrame>
      <p:sp>
        <p:nvSpPr>
          <p:cNvPr id="3" name="2 gün ve iki haftalık deney öğretim örneğidir. Gerçek projed">
            <a:extLst>
              <a:ext uri="{FF2B5EF4-FFF2-40B4-BE49-F238E27FC236}">
                <a16:creationId xmlns:a16="http://schemas.microsoft.com/office/drawing/2014/main" id="{CC7274A0-B417-4026-89C0-612DB0D1E9F5}"/>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2 gün ve iki haftalık deney öğretim örneğidir. Gerçek projeden ölçülmüş sonuç değildir.</a:t>
            </a:r>
          </a:p>
        </p:txBody>
      </p:sp>
      <p:sp>
        <p:nvSpPr>
          <p:cNvPr id="4" name="Kaynak sunum: 48–53">
            <a:extLst>
              <a:ext uri="{FF2B5EF4-FFF2-40B4-BE49-F238E27FC236}">
                <a16:creationId xmlns:a16="http://schemas.microsoft.com/office/drawing/2014/main" id="{A686432A-2195-4661-B0CE-B16C651B3525}"/>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48–53</a:t>
            </a:r>
          </a:p>
        </p:txBody>
      </p:sp>
      <p:sp>
        <p:nvSpPr>
          <p:cNvPr id="5" name="35">
            <a:extLst>
              <a:ext uri="{FF2B5EF4-FFF2-40B4-BE49-F238E27FC236}">
                <a16:creationId xmlns:a16="http://schemas.microsoft.com/office/drawing/2014/main" id="{966FA1FD-2CC3-4A60-8C48-C6998977D694}"/>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35</a:t>
            </a:r>
          </a:p>
        </p:txBody>
      </p:sp>
    </p:spTree>
    <p:extLst>
      <p:ext uri="{BB962C8B-B14F-4D97-AF65-F5344CB8AC3E}">
        <p14:creationId xmlns:p14="http://schemas.microsoft.com/office/powerpoint/2010/main" val="797422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Süreç olgunluğu için somut kanıtlar">
            <a:extLst>
              <a:ext uri="{FF2B5EF4-FFF2-40B4-BE49-F238E27FC236}">
                <a16:creationId xmlns:a16="http://schemas.microsoft.com/office/drawing/2014/main" id="{061207AD-D873-4D9B-8772-D78341D6E1AE}"/>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Süreç olgunluğu için somut kanıtlar</a:t>
            </a:r>
          </a:p>
        </p:txBody>
      </p:sp>
      <p:sp>
        <p:nvSpPr>
          <p:cNvPr id="2" name="Tekrarlanabilir çalışma">
            <a:extLst>
              <a:ext uri="{FF2B5EF4-FFF2-40B4-BE49-F238E27FC236}">
                <a16:creationId xmlns:a16="http://schemas.microsoft.com/office/drawing/2014/main" id="{C7FBBE27-D301-4ECB-A812-2DEAA70F3064}"/>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Tekrarlanabilir çalışma</a:t>
            </a:r>
          </a:p>
        </p:txBody>
      </p:sp>
      <p:sp>
        <p:nvSpPr>
          <p:cNvPr id="3" name="Ekip her işte sorumlu, kabul ölçütü ve değişiklik kaydı tuta">
            <a:extLst>
              <a:ext uri="{FF2B5EF4-FFF2-40B4-BE49-F238E27FC236}">
                <a16:creationId xmlns:a16="http://schemas.microsoft.com/office/drawing/2014/main" id="{A41BB66E-5190-4F8D-BE81-F306E4771AE9}"/>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her işte sorumlu, kabul ölçütü ve değişiklik kaydı tutar.</a:t>
            </a:r>
          </a:p>
        </p:txBody>
      </p:sp>
      <p:sp>
        <p:nvSpPr>
          <p:cNvPr id="4" name="Ortak uygulama">
            <a:extLst>
              <a:ext uri="{FF2B5EF4-FFF2-40B4-BE49-F238E27FC236}">
                <a16:creationId xmlns:a16="http://schemas.microsoft.com/office/drawing/2014/main" id="{8D7DC963-57ED-48E8-9226-D2D7D210CB11}"/>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Ortak uygulama</a:t>
            </a:r>
          </a:p>
        </p:txBody>
      </p:sp>
      <p:sp>
        <p:nvSpPr>
          <p:cNvPr id="5" name="Depolarda gözden geçirme, test ve yayın ilkeleri tanımlıdır.">
            <a:extLst>
              <a:ext uri="{FF2B5EF4-FFF2-40B4-BE49-F238E27FC236}">
                <a16:creationId xmlns:a16="http://schemas.microsoft.com/office/drawing/2014/main" id="{6EFF5E0B-7340-4234-81EA-F9C9B1F07B02}"/>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Depolarda gözden geçirme, test ve yayın ilkeleri tanımlıdır.</a:t>
            </a:r>
          </a:p>
        </p:txBody>
      </p:sp>
      <p:sp>
        <p:nvSpPr>
          <p:cNvPr id="6" name="Ölçüm ve iyileştirme">
            <a:extLst>
              <a:ext uri="{FF2B5EF4-FFF2-40B4-BE49-F238E27FC236}">
                <a16:creationId xmlns:a16="http://schemas.microsoft.com/office/drawing/2014/main" id="{FFDCE088-1EAE-4E0C-9655-FFFC73658708}"/>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Ölçüm ve iyileştirme</a:t>
            </a:r>
          </a:p>
        </p:txBody>
      </p:sp>
      <p:sp>
        <p:nvSpPr>
          <p:cNvPr id="7" name="Ekip bekleme ve kusur verisini kullanarak sürecini düzenli d">
            <a:extLst>
              <a:ext uri="{FF2B5EF4-FFF2-40B4-BE49-F238E27FC236}">
                <a16:creationId xmlns:a16="http://schemas.microsoft.com/office/drawing/2014/main" id="{4104AD01-F55C-46B3-912A-07FE7EEBF4AD}"/>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Ekip bekleme ve kusur verisini kullanarak sürecini düzenli değerlendirir.</a:t>
            </a:r>
          </a:p>
        </p:txBody>
      </p:sp>
      <p:sp>
        <p:nvSpPr>
          <p:cNvPr id="8" name="Araçların rolü">
            <a:extLst>
              <a:ext uri="{FF2B5EF4-FFF2-40B4-BE49-F238E27FC236}">
                <a16:creationId xmlns:a16="http://schemas.microsoft.com/office/drawing/2014/main" id="{8C121AB0-73CB-4D55-85E6-214A23647659}"/>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Araçların rolü</a:t>
            </a:r>
          </a:p>
        </p:txBody>
      </p:sp>
      <p:sp>
        <p:nvSpPr>
          <p:cNvPr id="9" name="Issue geçmişi, PR incelemesi ve test raporu süreç kanıtını s">
            <a:extLst>
              <a:ext uri="{FF2B5EF4-FFF2-40B4-BE49-F238E27FC236}">
                <a16:creationId xmlns:a16="http://schemas.microsoft.com/office/drawing/2014/main" id="{1604DF29-06AC-4188-A612-B0866FFF76A8}"/>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Issue geçmişi, PR incelemesi ve test raporu süreç kanıtını saklamaya yardım eder.</a:t>
            </a:r>
          </a:p>
        </p:txBody>
      </p:sp>
      <p:sp>
        <p:nvSpPr>
          <p:cNvPr id="10" name="Araç kurmak veya bu örnekleri uygulamak tek başına CMMI olgu">
            <a:extLst>
              <a:ext uri="{FF2B5EF4-FFF2-40B4-BE49-F238E27FC236}">
                <a16:creationId xmlns:a16="http://schemas.microsoft.com/office/drawing/2014/main" id="{0662CF22-4698-444A-B491-20BB97B146E3}"/>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Araç kurmak veya bu örnekleri uygulamak tek başına CMMI olgunluk düzeyi belgesi sağlamaz.</a:t>
            </a:r>
          </a:p>
        </p:txBody>
      </p:sp>
      <p:sp>
        <p:nvSpPr>
          <p:cNvPr id="11" name="Kaynak sunum: 49, 54–55">
            <a:extLst>
              <a:ext uri="{FF2B5EF4-FFF2-40B4-BE49-F238E27FC236}">
                <a16:creationId xmlns:a16="http://schemas.microsoft.com/office/drawing/2014/main" id="{7272B787-49D5-462A-8904-39D796031282}"/>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49, 54–55</a:t>
            </a:r>
          </a:p>
        </p:txBody>
      </p:sp>
      <p:sp>
        <p:nvSpPr>
          <p:cNvPr id="12" name="36">
            <a:extLst>
              <a:ext uri="{FF2B5EF4-FFF2-40B4-BE49-F238E27FC236}">
                <a16:creationId xmlns:a16="http://schemas.microsoft.com/office/drawing/2014/main" id="{61C7F64E-3472-4983-80E5-CC2D39CF4C12}"/>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36</a:t>
            </a:r>
          </a:p>
        </p:txBody>
      </p:sp>
    </p:spTree>
    <p:extLst>
      <p:ext uri="{BB962C8B-B14F-4D97-AF65-F5344CB8AC3E}">
        <p14:creationId xmlns:p14="http://schemas.microsoft.com/office/powerpoint/2010/main" val="1893725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ınıf içi uygulama">
            <a:extLst>
              <a:ext uri="{FF2B5EF4-FFF2-40B4-BE49-F238E27FC236}">
                <a16:creationId xmlns:a16="http://schemas.microsoft.com/office/drawing/2014/main" id="{D8A347D5-A24A-4192-9B21-87C14289CF41}"/>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Sınıf içi uygulama</a:t>
            </a:r>
          </a:p>
        </p:txBody>
      </p:sp>
      <p:sp>
        <p:nvSpPr>
          <p:cNvPr id="2" name="Görev 1 · Gereksinim">
            <a:extLst>
              <a:ext uri="{FF2B5EF4-FFF2-40B4-BE49-F238E27FC236}">
                <a16:creationId xmlns:a16="http://schemas.microsoft.com/office/drawing/2014/main" id="{8F93846A-7B59-43E0-9469-4EDC5C04B6AC}"/>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Görev 1 · Gereksinim</a:t>
            </a:r>
          </a:p>
        </p:txBody>
      </p:sp>
      <p:sp>
        <p:nvSpPr>
          <p:cNvPr id="3" name="“Kayıt iptali” için bir kullanıcı hikâyesi ve üç kabul ölçüt">
            <a:extLst>
              <a:ext uri="{FF2B5EF4-FFF2-40B4-BE49-F238E27FC236}">
                <a16:creationId xmlns:a16="http://schemas.microsoft.com/office/drawing/2014/main" id="{75BFD71B-F92C-4FF8-B65C-4BEE7EAF27A0}"/>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“Kayıt iptali” için bir kullanıcı hikâyesi ve üç kabul ölçütü yazın.</a:t>
            </a:r>
          </a:p>
        </p:txBody>
      </p:sp>
      <p:sp>
        <p:nvSpPr>
          <p:cNvPr id="4" name="Görev 2 · Tasarım">
            <a:extLst>
              <a:ext uri="{FF2B5EF4-FFF2-40B4-BE49-F238E27FC236}">
                <a16:creationId xmlns:a16="http://schemas.microsoft.com/office/drawing/2014/main" id="{DDA60BD7-BA8F-4A3B-B7C6-0B06F848BFAB}"/>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Görev 2 · Tasarım</a:t>
            </a:r>
          </a:p>
        </p:txBody>
      </p:sp>
      <p:sp>
        <p:nvSpPr>
          <p:cNvPr id="5" name="API yolunu, başarılı yanıtı ve iki hata durumunu belirleyin.">
            <a:extLst>
              <a:ext uri="{FF2B5EF4-FFF2-40B4-BE49-F238E27FC236}">
                <a16:creationId xmlns:a16="http://schemas.microsoft.com/office/drawing/2014/main" id="{2E5B1233-36D3-4616-AB6E-F12F9867D260}"/>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API yolunu, başarılı yanıtı ve iki hata durumunu belirleyin.</a:t>
            </a:r>
          </a:p>
        </p:txBody>
      </p:sp>
      <p:sp>
        <p:nvSpPr>
          <p:cNvPr id="6" name="Görev 3 · Geçerleme">
            <a:extLst>
              <a:ext uri="{FF2B5EF4-FFF2-40B4-BE49-F238E27FC236}">
                <a16:creationId xmlns:a16="http://schemas.microsoft.com/office/drawing/2014/main" id="{36449BC5-9049-43E6-9C50-6C8354619C6B}"/>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Görev 3 · Geçerleme</a:t>
            </a:r>
          </a:p>
        </p:txBody>
      </p:sp>
      <p:sp>
        <p:nvSpPr>
          <p:cNvPr id="7" name="Bir birim testi ve bir tarayıcı testi senaryosu hazırlayın.">
            <a:extLst>
              <a:ext uri="{FF2B5EF4-FFF2-40B4-BE49-F238E27FC236}">
                <a16:creationId xmlns:a16="http://schemas.microsoft.com/office/drawing/2014/main" id="{AB6327FA-9D2A-431E-9BD6-ECB197CE886E}"/>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Bir birim testi ve bir tarayıcı testi senaryosu hazırlayın.</a:t>
            </a:r>
          </a:p>
        </p:txBody>
      </p:sp>
      <p:sp>
        <p:nvSpPr>
          <p:cNvPr id="8" name="Görev 4 · Evrim">
            <a:extLst>
              <a:ext uri="{FF2B5EF4-FFF2-40B4-BE49-F238E27FC236}">
                <a16:creationId xmlns:a16="http://schemas.microsoft.com/office/drawing/2014/main" id="{C29921A1-1F38-4DD8-952B-DC099220A27F}"/>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Görev 4 · Evrim</a:t>
            </a:r>
          </a:p>
        </p:txBody>
      </p:sp>
      <p:sp>
        <p:nvSpPr>
          <p:cNvPr id="9" name="İptal sonrası bekleme listesinin nasıl ilerleyeceğini açıkla">
            <a:extLst>
              <a:ext uri="{FF2B5EF4-FFF2-40B4-BE49-F238E27FC236}">
                <a16:creationId xmlns:a16="http://schemas.microsoft.com/office/drawing/2014/main" id="{9F992CAA-7B58-47B3-8747-9C9F6ABC8D82}"/>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İptal sonrası bekleme listesinin nasıl ilerleyeceğini açıklayın.</a:t>
            </a:r>
          </a:p>
        </p:txBody>
      </p:sp>
      <p:sp>
        <p:nvSpPr>
          <p:cNvPr id="10" name="Teslim: issue.md, api-sozlesmesi.md ve test-senaryolari.md. ">
            <a:extLst>
              <a:ext uri="{FF2B5EF4-FFF2-40B4-BE49-F238E27FC236}">
                <a16:creationId xmlns:a16="http://schemas.microsoft.com/office/drawing/2014/main" id="{D221E6EA-53AC-4A4E-951B-64CF84F89746}"/>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Teslim: issue.md, api-sozlesmesi.md ve test-senaryolari.md. Kod yazmak zorunlu değil.</a:t>
            </a:r>
          </a:p>
        </p:txBody>
      </p:sp>
      <p:sp>
        <p:nvSpPr>
          <p:cNvPr id="11" name="37">
            <a:extLst>
              <a:ext uri="{FF2B5EF4-FFF2-40B4-BE49-F238E27FC236}">
                <a16:creationId xmlns:a16="http://schemas.microsoft.com/office/drawing/2014/main" id="{CBA698BB-8211-4766-A1D3-657DC8824CFB}"/>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37</a:t>
            </a:r>
          </a:p>
        </p:txBody>
      </p:sp>
    </p:spTree>
    <p:extLst>
      <p:ext uri="{BB962C8B-B14F-4D97-AF65-F5344CB8AC3E}">
        <p14:creationId xmlns:p14="http://schemas.microsoft.com/office/powerpoint/2010/main" val="727787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Bir işin tamamlanma kanıtı">
            <a:extLst>
              <a:ext uri="{FF2B5EF4-FFF2-40B4-BE49-F238E27FC236}">
                <a16:creationId xmlns:a16="http://schemas.microsoft.com/office/drawing/2014/main" id="{5B54706B-B63A-4DC9-88F1-1689E2D02F4D}"/>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Bir işin tamamlanma kanıtı</a:t>
            </a:r>
          </a:p>
        </p:txBody>
      </p:sp>
      <p:sp>
        <p:nvSpPr>
          <p:cNvPr id="2" name="İhtiyaç">
            <a:extLst>
              <a:ext uri="{FF2B5EF4-FFF2-40B4-BE49-F238E27FC236}">
                <a16:creationId xmlns:a16="http://schemas.microsoft.com/office/drawing/2014/main" id="{21C14581-A35B-4442-BB62-5B3B4983EF55}"/>
              </a:ext>
            </a:extLst>
          </p:cNvPr>
          <p:cNvSpPr>
            <a:spLocks noGrp="1"/>
          </p:cNvSpPr>
          <p:nvPr/>
        </p:nvSpPr>
        <p:spPr>
          <a:xfrm>
            <a:off x="628650" y="15716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İhtiyaç</a:t>
            </a:r>
          </a:p>
        </p:txBody>
      </p:sp>
      <p:sp>
        <p:nvSpPr>
          <p:cNvPr id="3" name="Issue içinde kullanıcı hikâyesi ve kabul ölçütleri bulunur.">
            <a:extLst>
              <a:ext uri="{FF2B5EF4-FFF2-40B4-BE49-F238E27FC236}">
                <a16:creationId xmlns:a16="http://schemas.microsoft.com/office/drawing/2014/main" id="{956A4C94-AE67-4A16-BCB6-1B85F239199F}"/>
              </a:ext>
            </a:extLst>
          </p:cNvPr>
          <p:cNvSpPr>
            <a:spLocks noGrp="1"/>
          </p:cNvSpPr>
          <p:nvPr/>
        </p:nvSpPr>
        <p:spPr>
          <a:xfrm>
            <a:off x="3390900" y="15716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Issue içinde kullanıcı hikâyesi ve kabul ölçütleri bulunur.</a:t>
            </a:r>
          </a:p>
        </p:txBody>
      </p:sp>
      <p:sp>
        <p:nvSpPr>
          <p:cNvPr id="4" name="Gerçekleştirme">
            <a:extLst>
              <a:ext uri="{FF2B5EF4-FFF2-40B4-BE49-F238E27FC236}">
                <a16:creationId xmlns:a16="http://schemas.microsoft.com/office/drawing/2014/main" id="{B12CC281-944E-4E13-80DE-669688CC19EA}"/>
              </a:ext>
            </a:extLst>
          </p:cNvPr>
          <p:cNvSpPr>
            <a:spLocks noGrp="1"/>
          </p:cNvSpPr>
          <p:nvPr/>
        </p:nvSpPr>
        <p:spPr>
          <a:xfrm>
            <a:off x="628650" y="25812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Gerçekleştirme</a:t>
            </a:r>
          </a:p>
        </p:txBody>
      </p:sp>
      <p:sp>
        <p:nvSpPr>
          <p:cNvPr id="5" name="Git commit’i ve pull request aynı işe bağlanır.">
            <a:extLst>
              <a:ext uri="{FF2B5EF4-FFF2-40B4-BE49-F238E27FC236}">
                <a16:creationId xmlns:a16="http://schemas.microsoft.com/office/drawing/2014/main" id="{63AFBE7D-6B76-4783-88FF-412763F1F655}"/>
              </a:ext>
            </a:extLst>
          </p:cNvPr>
          <p:cNvSpPr>
            <a:spLocks noGrp="1"/>
          </p:cNvSpPr>
          <p:nvPr/>
        </p:nvSpPr>
        <p:spPr>
          <a:xfrm>
            <a:off x="3390900" y="25812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Git commit’i ve pull request aynı işe bağlanır.</a:t>
            </a:r>
          </a:p>
        </p:txBody>
      </p:sp>
      <p:sp>
        <p:nvSpPr>
          <p:cNvPr id="6" name="Doğrulama">
            <a:extLst>
              <a:ext uri="{FF2B5EF4-FFF2-40B4-BE49-F238E27FC236}">
                <a16:creationId xmlns:a16="http://schemas.microsoft.com/office/drawing/2014/main" id="{E8F7B8FA-3C79-46C6-81B4-2B3633241EBC}"/>
              </a:ext>
            </a:extLst>
          </p:cNvPr>
          <p:cNvSpPr>
            <a:spLocks noGrp="1"/>
          </p:cNvSpPr>
          <p:nvPr/>
        </p:nvSpPr>
        <p:spPr>
          <a:xfrm>
            <a:off x="628650" y="359092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Doğrulama</a:t>
            </a:r>
          </a:p>
        </p:txBody>
      </p:sp>
      <p:sp>
        <p:nvSpPr>
          <p:cNvPr id="7" name="Birim, bütünleştirme ve gerekli kullanıcı akışı testleri geç">
            <a:extLst>
              <a:ext uri="{FF2B5EF4-FFF2-40B4-BE49-F238E27FC236}">
                <a16:creationId xmlns:a16="http://schemas.microsoft.com/office/drawing/2014/main" id="{964A67C2-A080-412C-A38B-08F77819451B}"/>
              </a:ext>
            </a:extLst>
          </p:cNvPr>
          <p:cNvSpPr>
            <a:spLocks noGrp="1"/>
          </p:cNvSpPr>
          <p:nvPr/>
        </p:nvSpPr>
        <p:spPr>
          <a:xfrm>
            <a:off x="3390900" y="359092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Birim, bütünleştirme ve gerekli kullanıcı akışı testleri geçer.</a:t>
            </a:r>
          </a:p>
        </p:txBody>
      </p:sp>
      <p:sp>
        <p:nvSpPr>
          <p:cNvPr id="8" name="Teslim ve bakım">
            <a:extLst>
              <a:ext uri="{FF2B5EF4-FFF2-40B4-BE49-F238E27FC236}">
                <a16:creationId xmlns:a16="http://schemas.microsoft.com/office/drawing/2014/main" id="{7CB379EE-4B77-42A0-BE2A-E73856771638}"/>
              </a:ext>
            </a:extLst>
          </p:cNvPr>
          <p:cNvSpPr>
            <a:spLocks noGrp="1"/>
          </p:cNvSpPr>
          <p:nvPr/>
        </p:nvSpPr>
        <p:spPr>
          <a:xfrm>
            <a:off x="628650" y="4600575"/>
            <a:ext cx="2476500" cy="704850"/>
          </a:xfrm>
          <a:prstGeom prst="rect">
            <a:avLst/>
          </a:prstGeom>
          <a:noFill/>
          <a:ln w="0">
            <a:noFill/>
          </a:ln>
        </p:spPr>
        <p:txBody>
          <a:bodyPr wrap="square" lIns="0" tIns="0" rIns="0" bIns="0" anchor="t">
            <a:noAutofit/>
          </a:bodyPr>
          <a:lstStyle>
            <a:defPPr>
              <a:defRPr sz="2100" b="1">
                <a:solidFill>
                  <a:srgbClr val="087C83"/>
                </a:solidFill>
                <a:latin typeface="Arial"/>
                <a:ea typeface="Arial"/>
                <a:cs typeface="Arial"/>
              </a:defRPr>
            </a:defPPr>
          </a:lstStyle>
          <a:p>
            <a:pPr>
              <a:defRPr sz="2100" b="1">
                <a:solidFill>
                  <a:srgbClr val="087C83"/>
                </a:solidFill>
                <a:latin typeface="Arial"/>
                <a:ea typeface="Arial"/>
                <a:cs typeface="Arial"/>
              </a:defRPr>
            </a:pPr>
            <a:r>
              <a:rPr sz="2100" b="1">
                <a:solidFill>
                  <a:srgbClr val="087C83"/>
                </a:solidFill>
                <a:latin typeface="Arial"/>
                <a:ea typeface="Arial"/>
                <a:cs typeface="Arial"/>
              </a:rPr>
              <a:t>Teslim ve bakım</a:t>
            </a:r>
          </a:p>
        </p:txBody>
      </p:sp>
      <p:sp>
        <p:nvSpPr>
          <p:cNvPr id="9" name="Sürüm notu, gözlem verisi ve geri bildirim sonraki işi besle">
            <a:extLst>
              <a:ext uri="{FF2B5EF4-FFF2-40B4-BE49-F238E27FC236}">
                <a16:creationId xmlns:a16="http://schemas.microsoft.com/office/drawing/2014/main" id="{12E76E1C-E77C-41A4-8561-E49C698DD3E7}"/>
              </a:ext>
            </a:extLst>
          </p:cNvPr>
          <p:cNvSpPr>
            <a:spLocks noGrp="1"/>
          </p:cNvSpPr>
          <p:nvPr/>
        </p:nvSpPr>
        <p:spPr>
          <a:xfrm>
            <a:off x="3390900" y="4600575"/>
            <a:ext cx="8096250" cy="819150"/>
          </a:xfrm>
          <a:prstGeom prst="rect">
            <a:avLst/>
          </a:prstGeom>
          <a:noFill/>
          <a:ln w="0">
            <a:noFill/>
          </a:ln>
        </p:spPr>
        <p:txBody>
          <a:bodyPr wrap="square" lIns="0" tIns="0" rIns="0" bIns="0" anchor="t">
            <a:noAutofit/>
          </a:bodyPr>
          <a:lstStyle>
            <a:defPPr>
              <a:defRPr sz="2175" b="0">
                <a:solidFill>
                  <a:srgbClr val="24364B"/>
                </a:solidFill>
                <a:latin typeface="Arial"/>
                <a:ea typeface="Arial"/>
                <a:cs typeface="Arial"/>
              </a:defRPr>
            </a:defPPr>
          </a:lstStyle>
          <a:p>
            <a:pPr>
              <a:defRPr sz="2175" b="0">
                <a:solidFill>
                  <a:srgbClr val="24364B"/>
                </a:solidFill>
                <a:latin typeface="Arial"/>
                <a:ea typeface="Arial"/>
                <a:cs typeface="Arial"/>
              </a:defRPr>
            </a:pPr>
            <a:r>
              <a:rPr sz="2175" b="0">
                <a:solidFill>
                  <a:srgbClr val="24364B"/>
                </a:solidFill>
                <a:latin typeface="Arial"/>
                <a:ea typeface="Arial"/>
                <a:cs typeface="Arial"/>
              </a:rPr>
              <a:t>Sürüm notu, gözlem verisi ve geri bildirim sonraki işi besler.</a:t>
            </a:r>
          </a:p>
        </p:txBody>
      </p:sp>
      <p:sp>
        <p:nvSpPr>
          <p:cNvPr id="10" name="Başlangıçta küçük bir araç seti yeterlidir. Süreç büyüdükçe ">
            <a:extLst>
              <a:ext uri="{FF2B5EF4-FFF2-40B4-BE49-F238E27FC236}">
                <a16:creationId xmlns:a16="http://schemas.microsoft.com/office/drawing/2014/main" id="{4C528991-5261-4961-93AC-AAFF0309558D}"/>
              </a:ext>
            </a:extLst>
          </p:cNvPr>
          <p:cNvSpPr>
            <a:spLocks noGrp="1"/>
          </p:cNvSpPr>
          <p:nvPr/>
        </p:nvSpPr>
        <p:spPr>
          <a:xfrm>
            <a:off x="619125" y="5867400"/>
            <a:ext cx="10915650" cy="457200"/>
          </a:xfrm>
          <a:prstGeom prst="rect">
            <a:avLst/>
          </a:prstGeom>
          <a:noFill/>
          <a:ln w="0">
            <a:noFill/>
          </a:ln>
        </p:spPr>
        <p:txBody>
          <a:bodyPr wrap="square" lIns="0" tIns="0" rIns="0" bIns="0" anchor="t">
            <a:noAutofit/>
          </a:bodyPr>
          <a:lstStyle>
            <a:defPPr>
              <a:defRPr sz="1650" b="0">
                <a:solidFill>
                  <a:srgbClr val="087C83"/>
                </a:solidFill>
                <a:latin typeface="Arial"/>
                <a:ea typeface="Arial"/>
                <a:cs typeface="Arial"/>
              </a:defRPr>
            </a:defPPr>
          </a:lstStyle>
          <a:p>
            <a:pPr>
              <a:defRPr sz="1650" b="0">
                <a:solidFill>
                  <a:srgbClr val="087C83"/>
                </a:solidFill>
                <a:latin typeface="Arial"/>
                <a:ea typeface="Arial"/>
                <a:cs typeface="Arial"/>
              </a:defRPr>
            </a:pPr>
            <a:r>
              <a:rPr sz="1650" b="0">
                <a:solidFill>
                  <a:srgbClr val="087C83"/>
                </a:solidFill>
                <a:latin typeface="Arial"/>
                <a:ea typeface="Arial"/>
                <a:cs typeface="Arial"/>
              </a:rPr>
              <a:t>Başlangıçta küçük bir araç seti yeterlidir. Süreç büyüdükçe kanıt ve otomasyon ihtiyacı belirler.</a:t>
            </a:r>
          </a:p>
        </p:txBody>
      </p:sp>
      <p:sp>
        <p:nvSpPr>
          <p:cNvPr id="11" name="Kaynak sunum: 56–58">
            <a:extLst>
              <a:ext uri="{FF2B5EF4-FFF2-40B4-BE49-F238E27FC236}">
                <a16:creationId xmlns:a16="http://schemas.microsoft.com/office/drawing/2014/main" id="{E68836F7-D80B-4854-80AC-CF831B56408C}"/>
              </a:ext>
            </a:extLst>
          </p:cNvPr>
          <p:cNvSpPr>
            <a:spLocks noGrp="1"/>
          </p:cNvSpPr>
          <p:nvPr/>
        </p:nvSpPr>
        <p:spPr>
          <a:xfrm>
            <a:off x="619125" y="6477000"/>
            <a:ext cx="10287000" cy="209550"/>
          </a:xfrm>
          <a:prstGeom prst="rect">
            <a:avLst/>
          </a:prstGeom>
          <a:noFill/>
          <a:ln w="0">
            <a:noFill/>
          </a:ln>
        </p:spPr>
        <p:txBody>
          <a:bodyPr wrap="square" lIns="0" tIns="0" rIns="0" bIns="0" anchor="t">
            <a:noAutofit/>
          </a:bodyPr>
          <a:lstStyle>
            <a:defPPr>
              <a:defRPr sz="1200" b="0">
                <a:solidFill>
                  <a:srgbClr val="5D6C7A"/>
                </a:solidFill>
                <a:latin typeface="Arial"/>
                <a:ea typeface="Arial"/>
                <a:cs typeface="Arial"/>
              </a:defRPr>
            </a:defPPr>
          </a:lstStyle>
          <a:p>
            <a:pPr>
              <a:defRPr sz="1200" b="0">
                <a:solidFill>
                  <a:srgbClr val="5D6C7A"/>
                </a:solidFill>
                <a:latin typeface="Arial"/>
                <a:ea typeface="Arial"/>
                <a:cs typeface="Arial"/>
              </a:defRPr>
            </a:pPr>
            <a:r>
              <a:rPr sz="1200" b="0">
                <a:solidFill>
                  <a:srgbClr val="5D6C7A"/>
                </a:solidFill>
                <a:latin typeface="Arial"/>
                <a:ea typeface="Arial"/>
                <a:cs typeface="Arial"/>
              </a:rPr>
              <a:t>Kaynak sunum: 56–58</a:t>
            </a:r>
          </a:p>
        </p:txBody>
      </p:sp>
      <p:sp>
        <p:nvSpPr>
          <p:cNvPr id="12" name="38">
            <a:extLst>
              <a:ext uri="{FF2B5EF4-FFF2-40B4-BE49-F238E27FC236}">
                <a16:creationId xmlns:a16="http://schemas.microsoft.com/office/drawing/2014/main" id="{E31E1D9D-7DFD-449A-8918-BFFDE193536D}"/>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38</a:t>
            </a:r>
          </a:p>
        </p:txBody>
      </p:sp>
    </p:spTree>
    <p:extLst>
      <p:ext uri="{BB962C8B-B14F-4D97-AF65-F5344CB8AC3E}">
        <p14:creationId xmlns:p14="http://schemas.microsoft.com/office/powerpoint/2010/main" val="978731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4" name="Resmî kaynaklar · geliştirme ve test">
            <a:extLst>
              <a:ext uri="{FF2B5EF4-FFF2-40B4-BE49-F238E27FC236}">
                <a16:creationId xmlns:a16="http://schemas.microsoft.com/office/drawing/2014/main" id="{140B1CD0-6710-4D1D-BCAC-E9D847D2D1A4}"/>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Resmî kaynaklar · geliştirme ve test</a:t>
            </a:r>
          </a:p>
        </p:txBody>
      </p:sp>
      <p:sp>
        <p:nvSpPr>
          <p:cNvPr id="2" name="GitHub Projects   docs.github.com">
            <a:extLst>
              <a:ext uri="{FF2B5EF4-FFF2-40B4-BE49-F238E27FC236}">
                <a16:creationId xmlns:a16="http://schemas.microsoft.com/office/drawing/2014/main" id="{39827E97-A5D6-4EE8-9545-6E1C9152FF63}"/>
              </a:ext>
            </a:extLst>
          </p:cNvPr>
          <p:cNvSpPr>
            <a:spLocks noGrp="1"/>
          </p:cNvSpPr>
          <p:nvPr/>
        </p:nvSpPr>
        <p:spPr>
          <a:xfrm>
            <a:off x="647700" y="15049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3"/>
              </a:rPr>
              <a:t>GitHub Projects   docs.github.com</a:t>
            </a:r>
          </a:p>
        </p:txBody>
      </p:sp>
      <p:sp>
        <p:nvSpPr>
          <p:cNvPr id="3" name="Git dalları   git-scm.com">
            <a:extLst>
              <a:ext uri="{FF2B5EF4-FFF2-40B4-BE49-F238E27FC236}">
                <a16:creationId xmlns:a16="http://schemas.microsoft.com/office/drawing/2014/main" id="{6A37125F-DE70-4C54-BCE8-3F4D22D04EFA}"/>
              </a:ext>
            </a:extLst>
          </p:cNvPr>
          <p:cNvSpPr>
            <a:spLocks noGrp="1"/>
          </p:cNvSpPr>
          <p:nvPr/>
        </p:nvSpPr>
        <p:spPr>
          <a:xfrm>
            <a:off x="647700" y="18764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4"/>
              </a:rPr>
              <a:t>Git dalları   git-scm.com</a:t>
            </a:r>
          </a:p>
        </p:txBody>
      </p:sp>
      <p:sp>
        <p:nvSpPr>
          <p:cNvPr id="4" name="Pull request   docs.github.com">
            <a:extLst>
              <a:ext uri="{FF2B5EF4-FFF2-40B4-BE49-F238E27FC236}">
                <a16:creationId xmlns:a16="http://schemas.microsoft.com/office/drawing/2014/main" id="{4FE6C21E-2BDD-42B4-8836-72D7EAC1C4D3}"/>
              </a:ext>
            </a:extLst>
          </p:cNvPr>
          <p:cNvSpPr>
            <a:spLocks noGrp="1"/>
          </p:cNvSpPr>
          <p:nvPr/>
        </p:nvSpPr>
        <p:spPr>
          <a:xfrm>
            <a:off x="647700" y="224790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5"/>
              </a:rPr>
              <a:t>Pull request   docs.github.com</a:t>
            </a:r>
          </a:p>
        </p:txBody>
      </p:sp>
      <p:sp>
        <p:nvSpPr>
          <p:cNvPr id="5" name="GitHub Actions   docs.github.com">
            <a:extLst>
              <a:ext uri="{FF2B5EF4-FFF2-40B4-BE49-F238E27FC236}">
                <a16:creationId xmlns:a16="http://schemas.microsoft.com/office/drawing/2014/main" id="{D0DC8D14-1C84-4C47-B568-1EDD97807C3A}"/>
              </a:ext>
            </a:extLst>
          </p:cNvPr>
          <p:cNvSpPr>
            <a:spLocks noGrp="1"/>
          </p:cNvSpPr>
          <p:nvPr/>
        </p:nvSpPr>
        <p:spPr>
          <a:xfrm>
            <a:off x="647700" y="261937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6"/>
              </a:rPr>
              <a:t>GitHub Actions   docs.github.com</a:t>
            </a:r>
          </a:p>
        </p:txBody>
      </p:sp>
      <p:sp>
        <p:nvSpPr>
          <p:cNvPr id="6" name="OpenAPI   spec.openapis.org">
            <a:extLst>
              <a:ext uri="{FF2B5EF4-FFF2-40B4-BE49-F238E27FC236}">
                <a16:creationId xmlns:a16="http://schemas.microsoft.com/office/drawing/2014/main" id="{68C9FC45-742C-482A-81B6-2BD6509538E1}"/>
              </a:ext>
            </a:extLst>
          </p:cNvPr>
          <p:cNvSpPr>
            <a:spLocks noGrp="1"/>
          </p:cNvSpPr>
          <p:nvPr/>
        </p:nvSpPr>
        <p:spPr>
          <a:xfrm>
            <a:off x="647700" y="29908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7"/>
              </a:rPr>
              <a:t>OpenAPI   spec.openapis.org</a:t>
            </a:r>
          </a:p>
        </p:txBody>
      </p:sp>
      <p:sp>
        <p:nvSpPr>
          <p:cNvPr id="7" name="FastAPI   fastapi.tiangolo.com">
            <a:extLst>
              <a:ext uri="{FF2B5EF4-FFF2-40B4-BE49-F238E27FC236}">
                <a16:creationId xmlns:a16="http://schemas.microsoft.com/office/drawing/2014/main" id="{E545AD06-3751-4F54-A15F-02B360C7BC67}"/>
              </a:ext>
            </a:extLst>
          </p:cNvPr>
          <p:cNvSpPr>
            <a:spLocks noGrp="1"/>
          </p:cNvSpPr>
          <p:nvPr/>
        </p:nvSpPr>
        <p:spPr>
          <a:xfrm>
            <a:off x="647700" y="33623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8"/>
              </a:rPr>
              <a:t>FastAPI   fastapi.tiangolo.com</a:t>
            </a:r>
          </a:p>
        </p:txBody>
      </p:sp>
      <p:sp>
        <p:nvSpPr>
          <p:cNvPr id="8" name="PostgreSQL kısıtları   www.postgresql.org">
            <a:extLst>
              <a:ext uri="{FF2B5EF4-FFF2-40B4-BE49-F238E27FC236}">
                <a16:creationId xmlns:a16="http://schemas.microsoft.com/office/drawing/2014/main" id="{0B81DFB6-9D37-4C35-AEAE-149D120736B5}"/>
              </a:ext>
            </a:extLst>
          </p:cNvPr>
          <p:cNvSpPr>
            <a:spLocks noGrp="1"/>
          </p:cNvSpPr>
          <p:nvPr/>
        </p:nvSpPr>
        <p:spPr>
          <a:xfrm>
            <a:off x="647700" y="373380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9"/>
              </a:rPr>
              <a:t>PostgreSQL kısıtları   www.postgresql.org</a:t>
            </a:r>
          </a:p>
        </p:txBody>
      </p:sp>
      <p:sp>
        <p:nvSpPr>
          <p:cNvPr id="9" name="pytest   docs.pytest.org">
            <a:extLst>
              <a:ext uri="{FF2B5EF4-FFF2-40B4-BE49-F238E27FC236}">
                <a16:creationId xmlns:a16="http://schemas.microsoft.com/office/drawing/2014/main" id="{4FFDF3FA-7733-4185-8E84-C6D02385D764}"/>
              </a:ext>
            </a:extLst>
          </p:cNvPr>
          <p:cNvSpPr>
            <a:spLocks noGrp="1"/>
          </p:cNvSpPr>
          <p:nvPr/>
        </p:nvSpPr>
        <p:spPr>
          <a:xfrm>
            <a:off x="647700" y="410527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10"/>
              </a:rPr>
              <a:t>pytest   docs.pytest.org</a:t>
            </a:r>
          </a:p>
        </p:txBody>
      </p:sp>
      <p:sp>
        <p:nvSpPr>
          <p:cNvPr id="10" name="Playwright   playwright.dev">
            <a:extLst>
              <a:ext uri="{FF2B5EF4-FFF2-40B4-BE49-F238E27FC236}">
                <a16:creationId xmlns:a16="http://schemas.microsoft.com/office/drawing/2014/main" id="{ED9F6692-EECA-4CFA-80C0-CA98F329E073}"/>
              </a:ext>
            </a:extLst>
          </p:cNvPr>
          <p:cNvSpPr>
            <a:spLocks noGrp="1"/>
          </p:cNvSpPr>
          <p:nvPr/>
        </p:nvSpPr>
        <p:spPr>
          <a:xfrm>
            <a:off x="647700" y="44767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11"/>
              </a:rPr>
              <a:t>Playwright   playwright.dev</a:t>
            </a:r>
          </a:p>
        </p:txBody>
      </p:sp>
      <p:sp>
        <p:nvSpPr>
          <p:cNvPr id="11" name="Docker Compose   docs.docker.com">
            <a:extLst>
              <a:ext uri="{FF2B5EF4-FFF2-40B4-BE49-F238E27FC236}">
                <a16:creationId xmlns:a16="http://schemas.microsoft.com/office/drawing/2014/main" id="{9D95A59A-71DD-4ECF-8319-408F1A7F9C65}"/>
              </a:ext>
            </a:extLst>
          </p:cNvPr>
          <p:cNvSpPr>
            <a:spLocks noGrp="1"/>
          </p:cNvSpPr>
          <p:nvPr/>
        </p:nvSpPr>
        <p:spPr>
          <a:xfrm>
            <a:off x="647700" y="48482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12"/>
              </a:rPr>
              <a:t>Docker Compose   docs.docker.com</a:t>
            </a:r>
          </a:p>
        </p:txBody>
      </p:sp>
      <p:sp>
        <p:nvSpPr>
          <p:cNvPr id="12" name="Tam bağlantılar ilgili slaytların konuşmacı notlarında da bu">
            <a:extLst>
              <a:ext uri="{FF2B5EF4-FFF2-40B4-BE49-F238E27FC236}">
                <a16:creationId xmlns:a16="http://schemas.microsoft.com/office/drawing/2014/main" id="{FD3FDDDE-0D5A-4263-A037-332242CD6197}"/>
              </a:ext>
            </a:extLst>
          </p:cNvPr>
          <p:cNvSpPr>
            <a:spLocks noGrp="1"/>
          </p:cNvSpPr>
          <p:nvPr/>
        </p:nvSpPr>
        <p:spPr>
          <a:xfrm>
            <a:off x="647700" y="5943600"/>
            <a:ext cx="10572750" cy="333375"/>
          </a:xfrm>
          <a:prstGeom prst="rect">
            <a:avLst/>
          </a:prstGeom>
          <a:noFill/>
          <a:ln w="0">
            <a:noFill/>
          </a:ln>
        </p:spPr>
        <p:txBody>
          <a:bodyPr wrap="square" lIns="0" tIns="0" rIns="0" bIns="0" anchor="t">
            <a:noAutofit/>
          </a:bodyPr>
          <a:lstStyle>
            <a:defPPr>
              <a:defRPr sz="1425" b="0">
                <a:solidFill>
                  <a:srgbClr val="5D6C7A"/>
                </a:solidFill>
                <a:latin typeface="Arial"/>
                <a:ea typeface="Arial"/>
                <a:cs typeface="Arial"/>
              </a:defRPr>
            </a:defPPr>
          </a:lstStyle>
          <a:p>
            <a:pPr>
              <a:defRPr sz="1425" b="0">
                <a:solidFill>
                  <a:srgbClr val="5D6C7A"/>
                </a:solidFill>
                <a:latin typeface="Arial"/>
                <a:ea typeface="Arial"/>
                <a:cs typeface="Arial"/>
              </a:defRPr>
            </a:pPr>
            <a:r>
              <a:rPr sz="1425" b="0">
                <a:solidFill>
                  <a:srgbClr val="5D6C7A"/>
                </a:solidFill>
                <a:latin typeface="Arial"/>
                <a:ea typeface="Arial"/>
                <a:cs typeface="Arial"/>
              </a:rPr>
              <a:t>Tam bağlantılar ilgili slaytların konuşmacı notlarında da bulunur. Erişim: 14 Ekim 2026.</a:t>
            </a:r>
          </a:p>
        </p:txBody>
      </p:sp>
      <p:sp>
        <p:nvSpPr>
          <p:cNvPr id="13" name="39">
            <a:extLst>
              <a:ext uri="{FF2B5EF4-FFF2-40B4-BE49-F238E27FC236}">
                <a16:creationId xmlns:a16="http://schemas.microsoft.com/office/drawing/2014/main" id="{ED4045A2-D99C-4BDC-8D8E-74763E70B087}"/>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39</a:t>
            </a:r>
          </a:p>
        </p:txBody>
      </p:sp>
    </p:spTree>
    <p:extLst>
      <p:ext uri="{BB962C8B-B14F-4D97-AF65-F5344CB8AC3E}">
        <p14:creationId xmlns:p14="http://schemas.microsoft.com/office/powerpoint/2010/main" val="1284390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smî kaynaklar · tasarım ve iyileştirme">
            <a:extLst>
              <a:ext uri="{FF2B5EF4-FFF2-40B4-BE49-F238E27FC236}">
                <a16:creationId xmlns:a16="http://schemas.microsoft.com/office/drawing/2014/main" id="{977B97F4-436A-43F2-A733-084AAE039306}"/>
              </a:ext>
            </a:extLst>
          </p:cNvPr>
          <p:cNvSpPr>
            <a:spLocks noGrp="1"/>
          </p:cNvSpPr>
          <p:nvPr/>
        </p:nvSpPr>
        <p:spPr>
          <a:xfrm>
            <a:off x="609600" y="438150"/>
            <a:ext cx="10972800" cy="895350"/>
          </a:xfrm>
          <a:prstGeom prst="rect">
            <a:avLst/>
          </a:prstGeom>
          <a:noFill/>
          <a:ln w="0">
            <a:noFill/>
          </a:ln>
        </p:spPr>
        <p:txBody>
          <a:bodyPr wrap="square" lIns="0" tIns="0" rIns="0" bIns="0" anchor="t">
            <a:noAutofit/>
          </a:bodyPr>
          <a:lstStyle>
            <a:defPPr>
              <a:defRPr sz="3300" b="1">
                <a:solidFill>
                  <a:srgbClr val="132F4C"/>
                </a:solidFill>
                <a:latin typeface="Arial"/>
                <a:ea typeface="Arial"/>
                <a:cs typeface="Arial"/>
              </a:defRPr>
            </a:defPPr>
          </a:lstStyle>
          <a:p>
            <a:pPr>
              <a:defRPr sz="3300" b="1">
                <a:solidFill>
                  <a:srgbClr val="132F4C"/>
                </a:solidFill>
                <a:latin typeface="Arial"/>
                <a:ea typeface="Arial"/>
                <a:cs typeface="Arial"/>
              </a:defRPr>
            </a:pPr>
            <a:r>
              <a:rPr sz="3300" b="1">
                <a:solidFill>
                  <a:srgbClr val="132F4C"/>
                </a:solidFill>
                <a:latin typeface="Arial"/>
                <a:ea typeface="Arial"/>
                <a:cs typeface="Arial"/>
              </a:rPr>
              <a:t>Resmî kaynaklar · tasarım ve iyileştirme</a:t>
            </a:r>
          </a:p>
        </p:txBody>
      </p:sp>
      <p:sp>
        <p:nvSpPr>
          <p:cNvPr id="2" name="Figma prototipleme   www.figma.com">
            <a:extLst>
              <a:ext uri="{FF2B5EF4-FFF2-40B4-BE49-F238E27FC236}">
                <a16:creationId xmlns:a16="http://schemas.microsoft.com/office/drawing/2014/main" id="{D7137A30-2163-4695-8EAF-2FA8D91A144D}"/>
              </a:ext>
            </a:extLst>
          </p:cNvPr>
          <p:cNvSpPr>
            <a:spLocks noGrp="1"/>
          </p:cNvSpPr>
          <p:nvPr/>
        </p:nvSpPr>
        <p:spPr>
          <a:xfrm>
            <a:off x="647700" y="15049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3"/>
              </a:rPr>
              <a:t>Figma prototipleme   www.figma.com</a:t>
            </a:r>
          </a:p>
        </p:txBody>
      </p:sp>
      <p:sp>
        <p:nvSpPr>
          <p:cNvPr id="3" name="Streamlit   docs.streamlit.io">
            <a:extLst>
              <a:ext uri="{FF2B5EF4-FFF2-40B4-BE49-F238E27FC236}">
                <a16:creationId xmlns:a16="http://schemas.microsoft.com/office/drawing/2014/main" id="{1EE42E2E-5A5B-4D5A-82B6-AFA6CC696045}"/>
              </a:ext>
            </a:extLst>
          </p:cNvPr>
          <p:cNvSpPr>
            <a:spLocks noGrp="1"/>
          </p:cNvSpPr>
          <p:nvPr/>
        </p:nvSpPr>
        <p:spPr>
          <a:xfrm>
            <a:off x="647700" y="18764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4"/>
              </a:rPr>
              <a:t>Streamlit   docs.streamlit.io</a:t>
            </a:r>
          </a:p>
        </p:txBody>
      </p:sp>
      <p:sp>
        <p:nvSpPr>
          <p:cNvPr id="4" name="draw.io UML   www.drawio.com">
            <a:extLst>
              <a:ext uri="{FF2B5EF4-FFF2-40B4-BE49-F238E27FC236}">
                <a16:creationId xmlns:a16="http://schemas.microsoft.com/office/drawing/2014/main" id="{4CEB5213-B756-4A2C-92AE-3254CF76F061}"/>
              </a:ext>
            </a:extLst>
          </p:cNvPr>
          <p:cNvSpPr>
            <a:spLocks noGrp="1"/>
          </p:cNvSpPr>
          <p:nvPr/>
        </p:nvSpPr>
        <p:spPr>
          <a:xfrm>
            <a:off x="647700" y="224790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5"/>
              </a:rPr>
              <a:t>draw.io UML   www.drawio.com</a:t>
            </a:r>
          </a:p>
        </p:txBody>
      </p:sp>
      <p:sp>
        <p:nvSpPr>
          <p:cNvPr id="5" name="Keycloak   www.keycloak.org">
            <a:extLst>
              <a:ext uri="{FF2B5EF4-FFF2-40B4-BE49-F238E27FC236}">
                <a16:creationId xmlns:a16="http://schemas.microsoft.com/office/drawing/2014/main" id="{FCC53AA6-913A-489C-9C7B-5ABDA21E7026}"/>
              </a:ext>
            </a:extLst>
          </p:cNvPr>
          <p:cNvSpPr>
            <a:spLocks noGrp="1"/>
          </p:cNvSpPr>
          <p:nvPr/>
        </p:nvSpPr>
        <p:spPr>
          <a:xfrm>
            <a:off x="647700" y="261937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6"/>
              </a:rPr>
              <a:t>Keycloak   www.keycloak.org</a:t>
            </a:r>
          </a:p>
        </p:txBody>
      </p:sp>
      <p:sp>
        <p:nvSpPr>
          <p:cNvPr id="6" name="Unleash özellik bayrakları   docs.getunleash.io">
            <a:extLst>
              <a:ext uri="{FF2B5EF4-FFF2-40B4-BE49-F238E27FC236}">
                <a16:creationId xmlns:a16="http://schemas.microsoft.com/office/drawing/2014/main" id="{D131820F-F209-4E99-83F2-7E9684079075}"/>
              </a:ext>
            </a:extLst>
          </p:cNvPr>
          <p:cNvSpPr>
            <a:spLocks noGrp="1"/>
          </p:cNvSpPr>
          <p:nvPr/>
        </p:nvSpPr>
        <p:spPr>
          <a:xfrm>
            <a:off x="647700" y="29908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7"/>
              </a:rPr>
              <a:t>Unleash özellik bayrakları   docs.getunleash.io</a:t>
            </a:r>
          </a:p>
        </p:txBody>
      </p:sp>
      <p:sp>
        <p:nvSpPr>
          <p:cNvPr id="7" name="OpenTelemetry   opentelemetry.io">
            <a:extLst>
              <a:ext uri="{FF2B5EF4-FFF2-40B4-BE49-F238E27FC236}">
                <a16:creationId xmlns:a16="http://schemas.microsoft.com/office/drawing/2014/main" id="{EC95A580-B6CB-4C0A-A9F3-C004CDE50EF0}"/>
              </a:ext>
            </a:extLst>
          </p:cNvPr>
          <p:cNvSpPr>
            <a:spLocks noGrp="1"/>
          </p:cNvSpPr>
          <p:nvPr/>
        </p:nvSpPr>
        <p:spPr>
          <a:xfrm>
            <a:off x="647700" y="33623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8"/>
              </a:rPr>
              <a:t>OpenTelemetry   opentelemetry.io</a:t>
            </a:r>
          </a:p>
        </p:txBody>
      </p:sp>
      <p:sp>
        <p:nvSpPr>
          <p:cNvPr id="8" name="Grafana   grafana.com">
            <a:extLst>
              <a:ext uri="{FF2B5EF4-FFF2-40B4-BE49-F238E27FC236}">
                <a16:creationId xmlns:a16="http://schemas.microsoft.com/office/drawing/2014/main" id="{59FAF7F5-A294-4573-86BB-35875408959C}"/>
              </a:ext>
            </a:extLst>
          </p:cNvPr>
          <p:cNvSpPr>
            <a:spLocks noGrp="1"/>
          </p:cNvSpPr>
          <p:nvPr/>
        </p:nvSpPr>
        <p:spPr>
          <a:xfrm>
            <a:off x="647700" y="373380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9"/>
              </a:rPr>
              <a:t>Grafana   grafana.com</a:t>
            </a:r>
          </a:p>
        </p:txBody>
      </p:sp>
      <p:sp>
        <p:nvSpPr>
          <p:cNvPr id="9" name="DORA ölçütleri   dora.dev">
            <a:extLst>
              <a:ext uri="{FF2B5EF4-FFF2-40B4-BE49-F238E27FC236}">
                <a16:creationId xmlns:a16="http://schemas.microsoft.com/office/drawing/2014/main" id="{31A24836-0859-4AFC-9CC5-20DA24B9068D}"/>
              </a:ext>
            </a:extLst>
          </p:cNvPr>
          <p:cNvSpPr>
            <a:spLocks noGrp="1"/>
          </p:cNvSpPr>
          <p:nvPr/>
        </p:nvSpPr>
        <p:spPr>
          <a:xfrm>
            <a:off x="647700" y="410527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10"/>
              </a:rPr>
              <a:t>DORA ölçütleri   dora.dev</a:t>
            </a:r>
          </a:p>
        </p:txBody>
      </p:sp>
      <p:sp>
        <p:nvSpPr>
          <p:cNvPr id="10" name="CMMI düzeyleri   cmmiinstitute.com">
            <a:extLst>
              <a:ext uri="{FF2B5EF4-FFF2-40B4-BE49-F238E27FC236}">
                <a16:creationId xmlns:a16="http://schemas.microsoft.com/office/drawing/2014/main" id="{A7D018CE-B9C9-4787-A5CE-508F53ABB6E3}"/>
              </a:ext>
            </a:extLst>
          </p:cNvPr>
          <p:cNvSpPr>
            <a:spLocks noGrp="1"/>
          </p:cNvSpPr>
          <p:nvPr/>
        </p:nvSpPr>
        <p:spPr>
          <a:xfrm>
            <a:off x="647700" y="447675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11"/>
              </a:rPr>
              <a:t>CMMI düzeyleri   cmmiinstitute.com</a:t>
            </a:r>
          </a:p>
        </p:txBody>
      </p:sp>
      <p:sp>
        <p:nvSpPr>
          <p:cNvPr id="11" name="Scrum Guide   scrumguides.org">
            <a:extLst>
              <a:ext uri="{FF2B5EF4-FFF2-40B4-BE49-F238E27FC236}">
                <a16:creationId xmlns:a16="http://schemas.microsoft.com/office/drawing/2014/main" id="{73D9846A-FF19-49A5-8E88-CAFA77122865}"/>
              </a:ext>
            </a:extLst>
          </p:cNvPr>
          <p:cNvSpPr>
            <a:spLocks noGrp="1"/>
          </p:cNvSpPr>
          <p:nvPr/>
        </p:nvSpPr>
        <p:spPr>
          <a:xfrm>
            <a:off x="647700" y="4848225"/>
            <a:ext cx="10810875" cy="333375"/>
          </a:xfrm>
          <a:prstGeom prst="rect">
            <a:avLst/>
          </a:prstGeom>
          <a:noFill/>
          <a:ln w="0">
            <a:noFill/>
          </a:ln>
        </p:spPr>
        <p:txBody>
          <a:bodyPr wrap="square" lIns="0" tIns="0" rIns="0" bIns="0" anchor="t">
            <a:noAutofit/>
          </a:bodyPr>
          <a:lstStyle>
            <a:defPPr>
              <a:defRPr sz="1875" b="0">
                <a:solidFill>
                  <a:srgbClr val="24364B"/>
                </a:solidFill>
                <a:latin typeface="Arial"/>
                <a:ea typeface="Arial"/>
                <a:cs typeface="Arial"/>
              </a:defRPr>
            </a:defPPr>
          </a:lstStyle>
          <a:p>
            <a:pPr>
              <a:defRPr sz="1875" b="0">
                <a:solidFill>
                  <a:srgbClr val="24364B"/>
                </a:solidFill>
                <a:latin typeface="Arial"/>
                <a:ea typeface="Arial"/>
                <a:cs typeface="Arial"/>
              </a:defRPr>
            </a:pPr>
            <a:r>
              <a:rPr sz="1875" b="0">
                <a:solidFill>
                  <a:srgbClr val="24364B"/>
                </a:solidFill>
                <a:latin typeface="Arial"/>
                <a:ea typeface="Arial"/>
                <a:cs typeface="Arial"/>
                <a:hlinkClick r:id="rId12"/>
              </a:rPr>
              <a:t>Scrum Guide   scrumguides.org</a:t>
            </a:r>
          </a:p>
        </p:txBody>
      </p:sp>
      <p:sp>
        <p:nvSpPr>
          <p:cNvPr id="12" name="Dependabot   docs.github.com">
            <a:extLst>
              <a:ext uri="{FF2B5EF4-FFF2-40B4-BE49-F238E27FC236}">
                <a16:creationId xmlns:a16="http://schemas.microsoft.com/office/drawing/2014/main" id="{2A236A05-65E3-42A2-91CF-6ED4B70041DB}"/>
              </a:ext>
            </a:extLst>
          </p:cNvPr>
          <p:cNvSpPr>
            <a:spLocks noGrp="1"/>
          </p:cNvSpPr>
          <p:nvPr/>
        </p:nvSpPr>
        <p:spPr>
          <a:xfrm>
            <a:off x="647700" y="5219700"/>
            <a:ext cx="10810875" cy="333375"/>
          </a:xfrm>
          <a:prstGeom prst="rect">
            <a:avLst/>
          </a:prstGeom>
          <a:noFill/>
          <a:ln w="0">
            <a:noFill/>
          </a:ln>
        </p:spPr>
        <p:txBody>
          <a:bodyPr wrap="square" lIns="0" tIns="0" rIns="0" bIns="0" anchor="t">
            <a:noAutofit/>
          </a:bodyPr>
          <a:lstStyle>
            <a:defPPr>
              <a:defRPr sz="1875" b="1">
                <a:solidFill>
                  <a:srgbClr val="087C83"/>
                </a:solidFill>
                <a:latin typeface="Arial"/>
                <a:ea typeface="Arial"/>
                <a:cs typeface="Arial"/>
              </a:defRPr>
            </a:defPPr>
          </a:lstStyle>
          <a:p>
            <a:pPr>
              <a:defRPr sz="1875" b="1">
                <a:solidFill>
                  <a:srgbClr val="087C83"/>
                </a:solidFill>
                <a:latin typeface="Arial"/>
                <a:ea typeface="Arial"/>
                <a:cs typeface="Arial"/>
              </a:defRPr>
            </a:pPr>
            <a:r>
              <a:rPr sz="1875" b="1">
                <a:solidFill>
                  <a:srgbClr val="087C83"/>
                </a:solidFill>
                <a:latin typeface="Arial"/>
                <a:ea typeface="Arial"/>
                <a:cs typeface="Arial"/>
                <a:hlinkClick r:id="rId13"/>
              </a:rPr>
              <a:t>Dependabot   docs.github.com</a:t>
            </a:r>
          </a:p>
        </p:txBody>
      </p:sp>
      <p:sp>
        <p:nvSpPr>
          <p:cNvPr id="13" name="Tam bağlantılar ilgili slaytların konuşmacı notlarında da bu">
            <a:extLst>
              <a:ext uri="{FF2B5EF4-FFF2-40B4-BE49-F238E27FC236}">
                <a16:creationId xmlns:a16="http://schemas.microsoft.com/office/drawing/2014/main" id="{BB4E0C19-40EC-45FA-84D7-14A06BE0B9A0}"/>
              </a:ext>
            </a:extLst>
          </p:cNvPr>
          <p:cNvSpPr>
            <a:spLocks noGrp="1"/>
          </p:cNvSpPr>
          <p:nvPr/>
        </p:nvSpPr>
        <p:spPr>
          <a:xfrm>
            <a:off x="647700" y="5943600"/>
            <a:ext cx="10572750" cy="333375"/>
          </a:xfrm>
          <a:prstGeom prst="rect">
            <a:avLst/>
          </a:prstGeom>
          <a:noFill/>
          <a:ln w="0">
            <a:noFill/>
          </a:ln>
        </p:spPr>
        <p:txBody>
          <a:bodyPr wrap="square" lIns="0" tIns="0" rIns="0" bIns="0" anchor="t">
            <a:noAutofit/>
          </a:bodyPr>
          <a:lstStyle>
            <a:defPPr>
              <a:defRPr sz="1425" b="0">
                <a:solidFill>
                  <a:srgbClr val="5D6C7A"/>
                </a:solidFill>
                <a:latin typeface="Arial"/>
                <a:ea typeface="Arial"/>
                <a:cs typeface="Arial"/>
              </a:defRPr>
            </a:defPPr>
          </a:lstStyle>
          <a:p>
            <a:pPr>
              <a:defRPr sz="1425" b="0">
                <a:solidFill>
                  <a:srgbClr val="5D6C7A"/>
                </a:solidFill>
                <a:latin typeface="Arial"/>
                <a:ea typeface="Arial"/>
                <a:cs typeface="Arial"/>
              </a:defRPr>
            </a:pPr>
            <a:r>
              <a:rPr sz="1425" b="0">
                <a:solidFill>
                  <a:srgbClr val="5D6C7A"/>
                </a:solidFill>
                <a:latin typeface="Arial"/>
                <a:ea typeface="Arial"/>
                <a:cs typeface="Arial"/>
              </a:rPr>
              <a:t>Tam bağlantılar ilgili slaytların konuşmacı notlarında da bulunur. Erişim: 14 Ekim 2026.</a:t>
            </a:r>
          </a:p>
        </p:txBody>
      </p:sp>
      <p:sp>
        <p:nvSpPr>
          <p:cNvPr id="14" name="40">
            <a:extLst>
              <a:ext uri="{FF2B5EF4-FFF2-40B4-BE49-F238E27FC236}">
                <a16:creationId xmlns:a16="http://schemas.microsoft.com/office/drawing/2014/main" id="{D54E1D8F-9B32-43CB-A4D7-5ED920D2F8CA}"/>
              </a:ext>
            </a:extLst>
          </p:cNvPr>
          <p:cNvSpPr>
            <a:spLocks noGrp="1"/>
          </p:cNvSpPr>
          <p:nvPr/>
        </p:nvSpPr>
        <p:spPr>
          <a:xfrm>
            <a:off x="11382375" y="6438900"/>
            <a:ext cx="381000" cy="228600"/>
          </a:xfrm>
          <a:prstGeom prst="rect">
            <a:avLst/>
          </a:prstGeom>
          <a:noFill/>
          <a:ln w="0">
            <a:noFill/>
          </a:ln>
        </p:spPr>
        <p:txBody>
          <a:bodyPr wrap="square" lIns="0" tIns="0" rIns="0" bIns="0" anchor="t">
            <a:noAutofit/>
          </a:bodyPr>
          <a:lstStyle>
            <a:defPPr>
              <a:defRPr sz="1350" b="0">
                <a:solidFill>
                  <a:srgbClr val="5D6C7A"/>
                </a:solidFill>
                <a:latin typeface="Arial"/>
                <a:ea typeface="Arial"/>
                <a:cs typeface="Arial"/>
              </a:defRPr>
            </a:defPPr>
          </a:lstStyle>
          <a:p>
            <a:pPr>
              <a:defRPr sz="1350" b="0">
                <a:solidFill>
                  <a:srgbClr val="5D6C7A"/>
                </a:solidFill>
                <a:latin typeface="Arial"/>
                <a:ea typeface="Arial"/>
                <a:cs typeface="Arial"/>
              </a:defRPr>
            </a:pPr>
            <a:r>
              <a:rPr sz="1350" b="0">
                <a:solidFill>
                  <a:srgbClr val="5D6C7A"/>
                </a:solidFill>
                <a:latin typeface="Arial"/>
                <a:ea typeface="Arial"/>
                <a:cs typeface="Arial"/>
              </a:rPr>
              <a:t>40</a:t>
            </a:r>
          </a:p>
        </p:txBody>
      </p:sp>
    </p:spTree>
    <p:extLst>
      <p:ext uri="{BB962C8B-B14F-4D97-AF65-F5344CB8AC3E}">
        <p14:creationId xmlns:p14="http://schemas.microsoft.com/office/powerpoint/2010/main" val="8230949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6706</Words>
  <Application>Microsoft Office PowerPoint</Application>
  <DocSecurity>0</DocSecurity>
  <PresentationFormat>Geniş ekran</PresentationFormat>
  <Paragraphs>1010</Paragraphs>
  <Slides>40</Slides>
  <Notes>40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40</vt:i4>
      </vt:variant>
    </vt:vector>
  </HeadingPairs>
  <TitlesOfParts>
    <vt:vector size="44" baseType="lpstr">
      <vt:lpstr>Aptos</vt:lpstr>
      <vt:lpstr>Arial</vt:lpstr>
      <vt:lpstr>Consolas</vt:lpstr>
      <vt:lpstr>ChatGPT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Mustafa Said Yolcu</cp:lastModifiedBy>
  <cp:revision>1</cp:revision>
  <dcterms:created xsi:type="dcterms:W3CDTF">2026-10-14T20:15:26Z</dcterms:created>
  <dcterms:modified xsi:type="dcterms:W3CDTF">2026-10-14T20:42:21Z</dcterms:modified>
</cp:coreProperties>
</file>