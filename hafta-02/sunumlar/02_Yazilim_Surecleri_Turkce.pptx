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60"/>
  </p:notesMasterIdLst>
  <p:handoutMasterIdLst>
    <p:handoutMasterId r:id="rId61"/>
  </p:handoutMasterIdLst>
  <p:sldIdLst>
    <p:sldId id="256" r:id="rId2"/>
    <p:sldId id="270" r:id="rId3"/>
    <p:sldId id="281" r:id="rId4"/>
    <p:sldId id="318" r:id="rId5"/>
    <p:sldId id="319" r:id="rId6"/>
    <p:sldId id="333" r:id="rId7"/>
    <p:sldId id="282" r:id="rId8"/>
    <p:sldId id="257" r:id="rId9"/>
    <p:sldId id="284" r:id="rId10"/>
    <p:sldId id="285" r:id="rId11"/>
    <p:sldId id="258" r:id="rId12"/>
    <p:sldId id="288" r:id="rId13"/>
    <p:sldId id="320" r:id="rId14"/>
    <p:sldId id="289" r:id="rId15"/>
    <p:sldId id="322" r:id="rId16"/>
    <p:sldId id="259" r:id="rId17"/>
    <p:sldId id="346" r:id="rId18"/>
    <p:sldId id="347" r:id="rId19"/>
    <p:sldId id="334" r:id="rId20"/>
    <p:sldId id="272" r:id="rId21"/>
    <p:sldId id="260" r:id="rId22"/>
    <p:sldId id="291" r:id="rId23"/>
    <p:sldId id="293" r:id="rId24"/>
    <p:sldId id="261" r:id="rId25"/>
    <p:sldId id="323" r:id="rId26"/>
    <p:sldId id="348" r:id="rId27"/>
    <p:sldId id="299" r:id="rId28"/>
    <p:sldId id="262" r:id="rId29"/>
    <p:sldId id="301" r:id="rId30"/>
    <p:sldId id="263" r:id="rId31"/>
    <p:sldId id="303" r:id="rId32"/>
    <p:sldId id="264" r:id="rId33"/>
    <p:sldId id="337" r:id="rId34"/>
    <p:sldId id="273" r:id="rId35"/>
    <p:sldId id="325" r:id="rId36"/>
    <p:sldId id="349" r:id="rId37"/>
    <p:sldId id="312" r:id="rId38"/>
    <p:sldId id="313" r:id="rId39"/>
    <p:sldId id="265" r:id="rId40"/>
    <p:sldId id="328" r:id="rId41"/>
    <p:sldId id="316" r:id="rId42"/>
    <p:sldId id="305" r:id="rId43"/>
    <p:sldId id="329" r:id="rId44"/>
    <p:sldId id="266" r:id="rId45"/>
    <p:sldId id="307" r:id="rId46"/>
    <p:sldId id="326" r:id="rId47"/>
    <p:sldId id="338" r:id="rId48"/>
    <p:sldId id="339" r:id="rId49"/>
    <p:sldId id="340" r:id="rId50"/>
    <p:sldId id="341" r:id="rId51"/>
    <p:sldId id="350" r:id="rId52"/>
    <p:sldId id="342" r:id="rId53"/>
    <p:sldId id="343" r:id="rId54"/>
    <p:sldId id="344" r:id="rId55"/>
    <p:sldId id="345" r:id="rId56"/>
    <p:sldId id="335" r:id="rId57"/>
    <p:sldId id="336" r:id="rId58"/>
    <p:sldId id="280" r:id="rId59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-141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notesMaster" Target="notesMasters/notesMaster1.xml"/><Relationship Id="rId61" Type="http://schemas.openxmlformats.org/officeDocument/2006/relationships/handoutMaster" Target="handoutMasters/handoutMaster1.xml"/><Relationship Id="rId62" Type="http://schemas.openxmlformats.org/officeDocument/2006/relationships/printerSettings" Target="printerSettings/printerSettings1.bin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83BB4-0A16-5245-9E06-FF8135372772}" type="datetimeFigureOut">
              <a:rPr lang="en-US" smtClean="0"/>
              <a:pPr/>
              <a:t>30/10/2014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F50E6-3C15-004E-9EE0-94B9FD5DD2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31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69228-E2B9-114B-84AC-2DD0140A52E6}" type="datetimeFigureOut">
              <a:rPr lang="en-US" smtClean="0"/>
              <a:pPr/>
              <a:t>30/10/2014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5A050-7306-7B4E-867E-A3663FBCD5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971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84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662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379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584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40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9B40A3-8C98-7643-999B-D2E4C4DFCA8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>
                <a:solidFill>
                  <a:srgbClr val="46424D"/>
                </a:solidFill>
                <a:latin typeface="Arial"/>
                <a:cs typeface="Arial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>
                <a:solidFill>
                  <a:srgbClr val="46424D"/>
                </a:solidFill>
                <a:latin typeface="Arial"/>
                <a:cs typeface="Arial"/>
              </a:defRPr>
            </a:lvl2pPr>
            <a:lvl3pPr>
              <a:defRPr sz="1800">
                <a:solidFill>
                  <a:srgbClr val="46424D"/>
                </a:solidFill>
                <a:latin typeface="Arial"/>
                <a:cs typeface="Arial"/>
              </a:defRPr>
            </a:lvl3pPr>
            <a:lvl4pPr>
              <a:defRPr sz="1800">
                <a:solidFill>
                  <a:srgbClr val="46424D"/>
                </a:solidFill>
                <a:latin typeface="Arial"/>
                <a:cs typeface="Arial"/>
              </a:defRPr>
            </a:lvl4pPr>
            <a:lvl5pPr>
              <a:defRPr sz="1800">
                <a:solidFill>
                  <a:srgbClr val="46424D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7AF1E-9B18-0243-8AD1-50A6A8AC0A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8BC69-CB41-DD44-A638-C4F95AA942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3444D-6BBE-FA46-910D-A293AF635ED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DD7DD-CC47-414C-BF78-C5251FE0B06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78AD6-5F3D-BA44-875A-31E2927FBE4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9686C-6E28-9A40-BAFE-97DC9D1AE6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 smtClean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25899C-C9DE-4C43-812F-DCCD705BC8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CDAE-E963-2B45-BB51-53CEBFE15BA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D119D-3673-024B-9609-A7D5472222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3E67C1E-A116-FA4E-B295-2EE9C41BDD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ommerville Cover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0432" y="213186"/>
            <a:ext cx="923794" cy="121935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/>
          <a:ea typeface="ＭＳ Ｐゴシック" charset="-128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tr-TR" dirty="0" smtClean="0"/>
              <a:t>Bölüm 2 - Yazılım Süreçleri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9B40A3-8C98-7643-999B-D2E4C4DFCA87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Ele alınan konular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Yazılım süreci modelleri</a:t>
            </a:r>
          </a:p>
          <a:p>
            <a:r>
              <a:rPr lang="tr-TR" dirty="0" smtClean="0"/>
              <a:t>Süreç faaliyetleri</a:t>
            </a:r>
          </a:p>
          <a:p>
            <a:r>
              <a:rPr lang="tr-TR" dirty="0" smtClean="0"/>
              <a:t>Değişimle başa çıkma</a:t>
            </a:r>
          </a:p>
          <a:p>
            <a:r>
              <a:rPr lang="tr-TR" dirty="0" smtClean="0"/>
              <a:t>Süreç iyileştirme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Yazılım süreci</a:t>
            </a:r>
            <a:endParaRPr lang="en-GB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smtClean="0" sz="2160"/>
              <a:t>Bir yazılım sistemi geliştirmek için gerekli yapılandırılmış faaliyetler kümesi.</a:t>
            </a:r>
            <a:br>
              <a:rPr lang="tr-TR" smtClean="0"/>
            </a:br>
            <a:r>
              <a:rPr lang="tr-TR" smtClean="0" sz="2160"/>
              <a:t/>
            </a:r>
          </a:p>
          <a:p>
            <a:r>
              <a:rPr lang="tr-TR" smtClean="0" sz="2160"/>
              <a:t>Birçok farklı yazılım süreci vardır, ancak hepsi şunları içerir:</a:t>
            </a:r>
          </a:p>
          <a:p>
            <a:pPr lvl="1"/>
            <a:r>
              <a:rPr lang="tr-TR" smtClean="0" sz="1890"/>
              <a:t>Belirtim: Sistemin ne yapması gerektiğini tanımlamak.</a:t>
            </a:r>
          </a:p>
          <a:p>
            <a:pPr lvl="1"/>
            <a:r>
              <a:rPr lang="tr-TR" smtClean="0" sz="1890"/>
              <a:t>Tasarım ve gerçekleştirme: Sistemin düzenini tanımlamak ve sistemi gerçekleştirmek.</a:t>
            </a:r>
          </a:p>
          <a:p>
            <a:pPr lvl="1"/>
            <a:r>
              <a:rPr lang="tr-TR" smtClean="0" sz="1890"/>
              <a:t>Geçerleme: Sistemin müşterinin istediğini yapıp yapmadığını kontrol etmek.</a:t>
            </a:r>
          </a:p>
          <a:p>
            <a:pPr lvl="1"/>
            <a:r>
              <a:rPr lang="tr-TR" smtClean="0" sz="1890"/>
              <a:t>Evrim: Değişen müşteri ihtiyaçlarına karşılık sistemi değiştirmek.</a:t>
            </a:r>
          </a:p>
          <a:p>
            <a:r>
              <a:rPr lang="tr-TR" smtClean="0" sz="2160"/>
              <a:t>Yazılım süreci modeli, bir sürecin soyut gösterimidir. Süreci belirli bir bakış açısından tanımlar.</a:t>
            </a:r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Yazılım süreci tanımları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mtClean="0"/>
              <a:t>Süreçleri tanımlayıp tartışırken genellikle veri modeli belirtme, kullanıcı arayüzü tasarlama vb. faaliyetlerden ve bu faaliyetlerin sırasından söz ederiz.</a:t>
            </a:r>
          </a:p>
          <a:p>
            <a:r>
              <a:rPr lang="tr-TR" smtClean="0"/>
              <a:t>Süreç tanımları ayrıca şunları içerebilir:</a:t>
            </a:r>
          </a:p>
          <a:p>
            <a:pPr lvl="1"/>
            <a:r>
              <a:rPr lang="tr-TR" smtClean="0"/>
              <a:t>Ürünler: Bir süreç faaliyetinin çıktıları.</a:t>
            </a:r>
          </a:p>
          <a:p>
            <a:pPr lvl="1"/>
            <a:r>
              <a:rPr lang="tr-TR" smtClean="0"/>
              <a:t>Roller: Sürece katılan kişilerin sorumluluklarını yansıtır.</a:t>
            </a:r>
          </a:p>
          <a:p>
            <a:pPr lvl="1"/>
            <a:r>
              <a:rPr lang="tr-TR" smtClean="0"/>
              <a:t>Ön ve son koşullar: Bir süreç faaliyeti gerçekleştirilmeden veya bir ürün üretilmeden önce ve sonra doğru olan ifadeler.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Plan odaklı ve çevik süreçler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Plan odaklı süreçlerde tüm süreç faaliyetleri önceden planlanır ve ilerleme bu plana göre ölçülür.</a:t>
            </a:r>
          </a:p>
          <a:p>
            <a:r>
              <a:rPr lang="tr-TR" dirty="0" smtClean="0"/>
              <a:t>Çevik süreçlerde planlama artımlıdır ve değişen müşteri gereksinimlerini yansıtmak için süreci değiştirmek daha kolaydır.</a:t>
            </a:r>
          </a:p>
          <a:p>
            <a:r>
              <a:rPr lang="tr-TR" dirty="0" smtClean="0"/>
              <a:t>Uygulamada çoğu süreç, hem plan odaklı hem de çevik yaklaşımların öğelerini içerir.</a:t>
            </a:r>
          </a:p>
          <a:p>
            <a:r>
              <a:rPr lang="tr-TR" dirty="0" smtClean="0"/>
              <a:t>Doğru veya yanlış yazılım süreci yoktur.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47888"/>
            <a:ext cx="9144000" cy="1143000"/>
          </a:xfrm>
        </p:spPr>
        <p:txBody>
          <a:bodyPr/>
          <a:lstStyle/>
          <a:p>
            <a:pPr algn="ctr"/>
            <a:r>
              <a:rPr lang="tr-TR" dirty="0" smtClean="0"/>
              <a:t>Yazılım süreci modelleri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41669"/>
      </p:ext>
    </p:extLst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Yazılım süreci modelleri</a:t>
            </a:r>
            <a:endParaRPr lang="en-GB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Şelale modeli</a:t>
            </a:r>
          </a:p>
          <a:p>
            <a:pPr lvl="1"/>
            <a:r>
              <a:rPr lang="tr-TR" dirty="0" smtClean="0"/>
              <a:t>Plan odaklı model. Belirtim ve geliştirme, ayrı ve belirgin aşamalardır.</a:t>
            </a:r>
          </a:p>
          <a:p>
            <a:r>
              <a:rPr lang="tr-TR" dirty="0" smtClean="0"/>
              <a:t>Artımlı geliştirme</a:t>
            </a:r>
          </a:p>
          <a:p>
            <a:pPr lvl="1"/>
            <a:r>
              <a:rPr lang="tr-TR" dirty="0" smtClean="0"/>
              <a:t>Belirtim, geliştirme ve geçerleme iç içe yürütülür. Plan odaklı veya çevik olabilir.</a:t>
            </a:r>
          </a:p>
          <a:p>
            <a:r>
              <a:rPr lang="tr-TR" dirty="0" smtClean="0"/>
              <a:t>Bütünleştirme ve yapılandırma</a:t>
            </a:r>
          </a:p>
          <a:p>
            <a:pPr lvl="1"/>
            <a:r>
              <a:rPr lang="tr-TR" dirty="0" smtClean="0"/>
              <a:t>Sistem, mevcut yapılandırılabilir bileşenlerden bir araya getirilir. Plan odaklı veya çevik olabilir.</a:t>
            </a:r>
          </a:p>
          <a:p>
            <a:r>
              <a:rPr lang="tr-TR" dirty="0" smtClean="0"/>
              <a:t>Uygulamada çoğu büyük sistem, bu modellerin tümünden öğeler içeren bir süreçle geliştirilir.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Şelale modeli</a:t>
            </a:r>
            <a:br>
              <a:rPr lang="tr-TR" dirty="0" smtClean="0"/>
            </a:b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4" name="Picture 3" descr="2.1.Waterfall-model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3" y="1931942"/>
            <a:ext cx="7183698" cy="403946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14339" name="Türkçe şema etiketi 14339"/>
          <p:cNvSpPr txBox="1"/>
          <p:nvPr/>
        </p:nvSpPr>
        <p:spPr>
          <a:xfrm>
            <a:off x="1110164" y="2026249"/>
            <a:ext cx="1116067" cy="38770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077" b="0">
                <a:solidFill>
                  <a:srgbClr val="000000"/>
                </a:solidFill>
                <a:latin typeface="Arial"/>
              </a:rPr>
              <a:t>Gereksinimlerin</a:t>
            </a:r>
          </a:p>
          <a:p>
            <a:pPr algn="ctr">
              <a:lnSpc>
                <a:spcPct val="100000"/>
              </a:lnSpc>
            </a:pPr>
            <a:r>
              <a:rPr lang="tr-TR" sz="1077" b="0">
                <a:solidFill>
                  <a:srgbClr val="000000"/>
                </a:solidFill>
                <a:latin typeface="Arial"/>
              </a:rPr>
              <a:t>tanımlanması</a:t>
            </a:r>
          </a:p>
        </p:txBody>
      </p:sp>
      <p:sp>
        <p:nvSpPr>
          <p:cNvPr id="14340" name="Türkçe şema etiketi 14340"/>
          <p:cNvSpPr txBox="1"/>
          <p:nvPr/>
        </p:nvSpPr>
        <p:spPr>
          <a:xfrm>
            <a:off x="2477738" y="2833094"/>
            <a:ext cx="1252300" cy="43485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184" b="0">
                <a:solidFill>
                  <a:srgbClr val="000000"/>
                </a:solidFill>
                <a:latin typeface="Arial"/>
              </a:rPr>
              <a:t>Sistem ve</a:t>
            </a:r>
          </a:p>
          <a:p>
            <a:pPr algn="ctr">
              <a:lnSpc>
                <a:spcPct val="100000"/>
              </a:lnSpc>
            </a:pPr>
            <a:r>
              <a:rPr lang="tr-TR" sz="1184" b="0">
                <a:solidFill>
                  <a:srgbClr val="000000"/>
                </a:solidFill>
                <a:latin typeface="Arial"/>
              </a:rPr>
              <a:t>yazılım tasarımı</a:t>
            </a:r>
          </a:p>
        </p:txBody>
      </p:sp>
      <p:sp>
        <p:nvSpPr>
          <p:cNvPr id="14341" name="Türkçe şema etiketi 14341"/>
          <p:cNvSpPr txBox="1"/>
          <p:nvPr/>
        </p:nvSpPr>
        <p:spPr>
          <a:xfrm>
            <a:off x="3871512" y="3697571"/>
            <a:ext cx="1262780" cy="43485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256" b="0">
                <a:solidFill>
                  <a:srgbClr val="000000"/>
                </a:solidFill>
                <a:latin typeface="Arial"/>
              </a:rPr>
              <a:t>Gerçekleştirme</a:t>
            </a:r>
          </a:p>
          <a:p>
            <a:pPr algn="ctr">
              <a:lnSpc>
                <a:spcPct val="100000"/>
              </a:lnSpc>
            </a:pPr>
            <a:r>
              <a:rPr lang="tr-TR" sz="1256" b="0">
                <a:solidFill>
                  <a:srgbClr val="000000"/>
                </a:solidFill>
                <a:latin typeface="Arial"/>
              </a:rPr>
              <a:t>ve birim testi</a:t>
            </a:r>
          </a:p>
        </p:txBody>
      </p:sp>
      <p:sp>
        <p:nvSpPr>
          <p:cNvPr id="14342" name="Türkçe şema etiketi 14342"/>
          <p:cNvSpPr txBox="1"/>
          <p:nvPr/>
        </p:nvSpPr>
        <p:spPr>
          <a:xfrm>
            <a:off x="5296724" y="4504416"/>
            <a:ext cx="1210382" cy="43485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292" b="0">
                <a:solidFill>
                  <a:srgbClr val="000000"/>
                </a:solidFill>
                <a:latin typeface="Arial"/>
              </a:rPr>
              <a:t>Bütünleştirme</a:t>
            </a:r>
          </a:p>
          <a:p>
            <a:pPr algn="ctr">
              <a:lnSpc>
                <a:spcPct val="100000"/>
              </a:lnSpc>
            </a:pPr>
            <a:r>
              <a:rPr lang="tr-TR" sz="1292" b="0">
                <a:solidFill>
                  <a:srgbClr val="000000"/>
                </a:solidFill>
                <a:latin typeface="Arial"/>
              </a:rPr>
              <a:t>ve sistem testi</a:t>
            </a:r>
          </a:p>
        </p:txBody>
      </p:sp>
      <p:sp>
        <p:nvSpPr>
          <p:cNvPr id="14343" name="Türkçe şema etiketi 14343"/>
          <p:cNvSpPr txBox="1"/>
          <p:nvPr/>
        </p:nvSpPr>
        <p:spPr>
          <a:xfrm>
            <a:off x="6700977" y="5353175"/>
            <a:ext cx="1147505" cy="3929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077" b="0">
                <a:solidFill>
                  <a:srgbClr val="000000"/>
                </a:solidFill>
                <a:latin typeface="Arial"/>
              </a:rPr>
              <a:t>İşletim ve</a:t>
            </a:r>
          </a:p>
          <a:p>
            <a:pPr algn="ctr">
              <a:lnSpc>
                <a:spcPct val="100000"/>
              </a:lnSpc>
            </a:pPr>
            <a:r>
              <a:rPr lang="tr-TR" sz="1077" b="0">
                <a:solidFill>
                  <a:srgbClr val="000000"/>
                </a:solidFill>
                <a:latin typeface="Arial"/>
              </a:rPr>
              <a:t>bakım</a:t>
            </a:r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Şelale modelinin aşamaları</a:t>
            </a:r>
            <a:endParaRPr lang="en-GB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Şelale modelinde ayrı olarak tanımlanmış aşamalar vardır:</a:t>
            </a:r>
          </a:p>
          <a:p>
            <a:pPr lvl="1"/>
            <a:r>
              <a:rPr lang="tr-TR" dirty="0" smtClean="0"/>
              <a:t>Gereksinim analizi ve tanımlama</a:t>
            </a:r>
          </a:p>
          <a:p>
            <a:pPr lvl="1"/>
            <a:r>
              <a:rPr lang="tr-TR" dirty="0" smtClean="0"/>
              <a:t>Sistem ve yazılım tasarımı</a:t>
            </a:r>
          </a:p>
          <a:p>
            <a:pPr lvl="1"/>
            <a:r>
              <a:rPr lang="tr-TR" dirty="0" smtClean="0"/>
              <a:t>Gerçekleştirme ve birim testi</a:t>
            </a:r>
          </a:p>
          <a:p>
            <a:pPr lvl="1"/>
            <a:r>
              <a:rPr lang="tr-TR" dirty="0" smtClean="0"/>
              <a:t>Bütünleştirme ve sistem testi</a:t>
            </a:r>
          </a:p>
          <a:p>
            <a:pPr lvl="1"/>
            <a:r>
              <a:rPr lang="tr-TR" dirty="0" smtClean="0"/>
              <a:t>İşletim ve bakım</a:t>
            </a:r>
          </a:p>
          <a:p>
            <a:r>
              <a:rPr lang="tr-TR" dirty="0" smtClean="0"/>
              <a:t>Şelale modelinin temel dezavantajı, süreç başladıktan sonra değişikliklere uyum sağlamanın zor olmasıdır. İlke olarak, bir sonraki aşamaya geçmeden önce mevcut aşama tamamlanmalıdır.</a:t>
            </a:r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Şelale modelinin sorunları</a:t>
            </a:r>
            <a:endParaRPr lang="en-GB"/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Projeyi ayrı aşamalara katı biçimde bölmek, değişen müşteri gereksinimlerine yanıt vermeyi zorlaştırır.</a:t>
            </a:r>
          </a:p>
          <a:p>
            <a:pPr lvl="1"/>
            <a:r>
              <a:rPr lang="tr-TR" dirty="0" smtClean="0"/>
              <a:t>Bu nedenle model, yalnızca gereksinimlerin iyi anlaşıldığı ve tasarım sürecindeki değişikliklerin oldukça sınırlı olacağı durumlarda uygundur.</a:t>
            </a:r>
          </a:p>
          <a:p>
            <a:pPr lvl="1"/>
            <a:r>
              <a:rPr lang="tr-TR" dirty="0" smtClean="0"/>
              <a:t>Çok az iş sisteminin gereksinimleri sabittir.</a:t>
            </a:r>
          </a:p>
          <a:p>
            <a:r>
              <a:rPr lang="tr-TR" dirty="0" smtClean="0"/>
              <a:t>Şelale modeli çoğunlukla, sistemin birden fazla yerde geliştirildiği büyük sistem mühendisliği projelerinde kullanılır.</a:t>
            </a:r>
          </a:p>
          <a:p>
            <a:pPr lvl="1"/>
            <a:r>
              <a:rPr lang="tr-TR" dirty="0" smtClean="0"/>
              <a:t>Bu koşullarda şelale modelinin plan odaklı yapısı, çalışmaların eşgüdümüne yardımcı olur.</a:t>
            </a:r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Artımlı geliştirme</a:t>
            </a:r>
            <a:br>
              <a:rPr lang="tr-TR" dirty="0" smtClean="0"/>
            </a:b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4" name="Picture 3" descr="2.2 Incremental-dev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92460"/>
            <a:ext cx="7517728" cy="4051928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15363" name="Türkçe şema etiketi 15363"/>
          <p:cNvSpPr txBox="1"/>
          <p:nvPr/>
        </p:nvSpPr>
        <p:spPr>
          <a:xfrm>
            <a:off x="788054" y="3952037"/>
            <a:ext cx="1035449" cy="488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089" b="0">
                <a:solidFill>
                  <a:srgbClr val="000000"/>
                </a:solidFill>
                <a:latin typeface="Arial"/>
              </a:rPr>
              <a:t>Ana hatlarıyla</a:t>
            </a:r>
          </a:p>
          <a:p>
            <a:pPr algn="ctr">
              <a:lnSpc>
                <a:spcPct val="100000"/>
              </a:lnSpc>
            </a:pPr>
            <a:r>
              <a:rPr lang="tr-TR" sz="1089" b="0">
                <a:solidFill>
                  <a:srgbClr val="000000"/>
                </a:solidFill>
                <a:latin typeface="Arial"/>
              </a:rPr>
              <a:t>açıklama</a:t>
            </a:r>
          </a:p>
        </p:txBody>
      </p:sp>
      <p:sp>
        <p:nvSpPr>
          <p:cNvPr id="15364" name="Türkçe şema etiketi 15364"/>
          <p:cNvSpPr txBox="1"/>
          <p:nvPr/>
        </p:nvSpPr>
        <p:spPr>
          <a:xfrm>
            <a:off x="3306217" y="1904683"/>
            <a:ext cx="1041576" cy="42780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256" b="0">
                <a:solidFill>
                  <a:srgbClr val="000000"/>
                </a:solidFill>
                <a:latin typeface="Arial"/>
              </a:rPr>
              <a:t>Eşzamanlı</a:t>
            </a:r>
          </a:p>
          <a:p>
            <a:pPr algn="ctr">
              <a:lnSpc>
                <a:spcPct val="100000"/>
              </a:lnSpc>
            </a:pPr>
            <a:r>
              <a:rPr lang="tr-TR" sz="1256" b="0">
                <a:solidFill>
                  <a:srgbClr val="000000"/>
                </a:solidFill>
                <a:latin typeface="Arial"/>
              </a:rPr>
              <a:t>faaliyetler</a:t>
            </a:r>
          </a:p>
        </p:txBody>
      </p:sp>
      <p:sp>
        <p:nvSpPr>
          <p:cNvPr id="15365" name="Türkçe şema etiketi 15365"/>
          <p:cNvSpPr txBox="1"/>
          <p:nvPr/>
        </p:nvSpPr>
        <p:spPr>
          <a:xfrm>
            <a:off x="3208186" y="2937527"/>
            <a:ext cx="1170241" cy="26279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507" b="0">
                <a:solidFill>
                  <a:srgbClr val="000000"/>
                </a:solidFill>
                <a:latin typeface="Arial"/>
              </a:rPr>
              <a:t>Belirtim</a:t>
            </a:r>
          </a:p>
        </p:txBody>
      </p:sp>
      <p:sp>
        <p:nvSpPr>
          <p:cNvPr id="15366" name="Türkçe şema etiketi 15366"/>
          <p:cNvSpPr txBox="1"/>
          <p:nvPr/>
        </p:nvSpPr>
        <p:spPr>
          <a:xfrm>
            <a:off x="3177551" y="4080379"/>
            <a:ext cx="1249891" cy="256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465" b="0">
                <a:solidFill>
                  <a:srgbClr val="000000"/>
                </a:solidFill>
                <a:latin typeface="Arial"/>
              </a:rPr>
              <a:t>Geliştirme</a:t>
            </a:r>
          </a:p>
        </p:txBody>
      </p:sp>
      <p:sp>
        <p:nvSpPr>
          <p:cNvPr id="15367" name="Türkçe şema etiketi 15367"/>
          <p:cNvSpPr txBox="1"/>
          <p:nvPr/>
        </p:nvSpPr>
        <p:spPr>
          <a:xfrm>
            <a:off x="3330724" y="5217119"/>
            <a:ext cx="912911" cy="2139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214" b="0">
                <a:solidFill>
                  <a:srgbClr val="000000"/>
                </a:solidFill>
                <a:latin typeface="Arial"/>
              </a:rPr>
              <a:t>Geçerleme</a:t>
            </a:r>
          </a:p>
        </p:txBody>
      </p:sp>
      <p:sp>
        <p:nvSpPr>
          <p:cNvPr id="15368" name="Türkçe şema etiketi 15368"/>
          <p:cNvSpPr txBox="1"/>
          <p:nvPr/>
        </p:nvSpPr>
        <p:spPr>
          <a:xfrm>
            <a:off x="6406437" y="2741959"/>
            <a:ext cx="955799" cy="5439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256" b="0">
                <a:solidFill>
                  <a:srgbClr val="000000"/>
                </a:solidFill>
                <a:latin typeface="Arial"/>
              </a:rPr>
              <a:t>İlk</a:t>
            </a:r>
          </a:p>
          <a:p>
            <a:pPr algn="ctr">
              <a:lnSpc>
                <a:spcPct val="100000"/>
              </a:lnSpc>
            </a:pPr>
            <a:r>
              <a:rPr lang="tr-TR" sz="1256" b="0">
                <a:solidFill>
                  <a:srgbClr val="000000"/>
                </a:solidFill>
                <a:latin typeface="Arial"/>
              </a:rPr>
              <a:t>sürüm</a:t>
            </a:r>
          </a:p>
        </p:txBody>
      </p:sp>
      <p:sp>
        <p:nvSpPr>
          <p:cNvPr id="15369" name="Türkçe şema etiketi 15369"/>
          <p:cNvSpPr txBox="1"/>
          <p:nvPr/>
        </p:nvSpPr>
        <p:spPr>
          <a:xfrm>
            <a:off x="6179741" y="3909257"/>
            <a:ext cx="1188622" cy="4400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256" b="0">
                <a:solidFill>
                  <a:srgbClr val="000000"/>
                </a:solidFill>
                <a:latin typeface="Arial"/>
              </a:rPr>
              <a:t>Ara</a:t>
            </a:r>
          </a:p>
          <a:p>
            <a:pPr algn="ctr">
              <a:lnSpc>
                <a:spcPct val="100000"/>
              </a:lnSpc>
            </a:pPr>
            <a:r>
              <a:rPr lang="tr-TR" sz="1256" b="0">
                <a:solidFill>
                  <a:srgbClr val="000000"/>
                </a:solidFill>
                <a:latin typeface="Arial"/>
              </a:rPr>
              <a:t>sürümler</a:t>
            </a:r>
          </a:p>
        </p:txBody>
      </p:sp>
      <p:sp>
        <p:nvSpPr>
          <p:cNvPr id="15370" name="Türkçe şema etiketi 15370"/>
          <p:cNvSpPr txBox="1"/>
          <p:nvPr/>
        </p:nvSpPr>
        <p:spPr>
          <a:xfrm>
            <a:off x="6424818" y="5009328"/>
            <a:ext cx="974180" cy="5378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879" b="0">
                <a:solidFill>
                  <a:srgbClr val="000000"/>
                </a:solidFill>
                <a:latin typeface="Arial"/>
              </a:rPr>
              <a:t>Son</a:t>
            </a:r>
          </a:p>
          <a:p>
            <a:pPr algn="ctr">
              <a:lnSpc>
                <a:spcPct val="100000"/>
              </a:lnSpc>
            </a:pPr>
            <a:r>
              <a:rPr lang="tr-TR" sz="879" b="0">
                <a:solidFill>
                  <a:srgbClr val="000000"/>
                </a:solidFill>
                <a:latin typeface="Arial"/>
              </a:rPr>
              <a:t>sürüm</a:t>
            </a:r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Artımlı geliştirmenin yararları</a:t>
            </a:r>
            <a:endParaRPr lang="en-GB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Değişen müşteri gereksinimlerine uyum maliyeti azalır.</a:t>
            </a:r>
          </a:p>
          <a:p>
            <a:pPr lvl="1"/>
            <a:r>
              <a:rPr lang="tr-TR" dirty="0" smtClean="0"/>
              <a:t>Yeniden yapılması gereken analiz ve belgelendirme miktarı, şelale modelindekinden çok daha azdır.</a:t>
            </a:r>
          </a:p>
          <a:p>
            <a:r>
              <a:rPr lang="tr-TR" dirty="0" smtClean="0"/>
              <a:t>Yapılan geliştirme çalışmaları hakkında müşteriden geri bildirim almak daha kolaydır.</a:t>
            </a:r>
          </a:p>
          <a:p>
            <a:pPr lvl="1"/>
            <a:r>
              <a:rPr lang="tr-TR" dirty="0" smtClean="0"/>
              <a:t>Müşteriler yazılım gösterimleri hakkında yorum yapabilir ve ne kadarının gerçekleştirildiğini görebilir.</a:t>
            </a:r>
          </a:p>
          <a:p>
            <a:r>
              <a:rPr lang="tr-TR" dirty="0" smtClean="0"/>
              <a:t>Kullanışlı yazılımın müşteriye daha hızlı teslimi ve devreye alınması mümkündür.</a:t>
            </a:r>
          </a:p>
          <a:p>
            <a:pPr lvl="1"/>
            <a:r>
              <a:rPr lang="tr-TR" dirty="0" smtClean="0"/>
              <a:t>Müşteriler, şelale sürecine kıyasla yazılımı daha erken kullanabilir ve yazılımdan daha erken değer elde edebilir.</a:t>
            </a:r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Artımlı geliştirmenin sorunları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Süreç görünür değildir.</a:t>
            </a:r>
          </a:p>
          <a:p>
            <a:pPr lvl="1"/>
            <a:r>
              <a:rPr lang="tr-TR" dirty="0" smtClean="0"/>
              <a:t>Yöneticilerin ilerlemeyi ölçmek için düzenli teslimatlara ihtiyacı vardır. Sistemler hızla geliştiriliyorsa, her sürümü yansıtan belgeler üretmek maliyet açısından verimli değildir.</a:t>
            </a:r>
          </a:p>
          <a:p>
            <a:r>
              <a:rPr lang="tr-TR" dirty="0" smtClean="0"/>
              <a:t>Yeni artımlar eklendikçe sistem yapısı bozulma eğilimindedir.</a:t>
            </a:r>
            <a:r>
              <a:rPr lang="tr-TR" i="1" dirty="0" smtClean="0"/>
              <a:t/>
            </a:r>
            <a:r>
              <a:rPr lang="tr-TR" dirty="0" smtClean="0"/>
              <a:t/>
            </a:r>
          </a:p>
          <a:p>
            <a:pPr lvl="1"/>
            <a:r>
              <a:rPr lang="tr-TR" dirty="0" smtClean="0"/>
              <a:t>Yazılımı iyileştirmek için yeniden düzenlemeye zaman ve para ayrılmadıkça, sürekli değişiklikler yapıyı bozma eğilimindedir. Yeni değişiklikleri dahil etmek giderek daha zor ve maliyetli hale gelir.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Bütünleştirme ve yapılandırma</a:t>
            </a:r>
            <a:endParaRPr lang="en-GB" dirty="0"/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Sistemlerin mevcut bileşenlerden veya COTS (hazır ticari yazılım) sistemlerinden bütünleştirildiği yazılım yeniden kullanımına dayanır.</a:t>
            </a:r>
          </a:p>
          <a:p>
            <a:r>
              <a:rPr lang="tr-TR" dirty="0" smtClean="0"/>
              <a:t>Yeniden kullanılan öğeler, davranışlarını ve işlevlerini kullanıcının gereksinimlerine uyarlamak için yapılandırılabilir.</a:t>
            </a:r>
          </a:p>
          <a:p>
            <a:r>
              <a:rPr lang="tr-TR" dirty="0" smtClean="0"/>
              <a:t>Yeniden kullanım artık birçok iş sistemi türünü oluşturmanın standart yaklaşımıdır.</a:t>
            </a:r>
          </a:p>
          <a:p>
            <a:pPr lvl="1"/>
            <a:r>
              <a:rPr lang="tr-TR" dirty="0" smtClean="0"/>
              <a:t>Yeniden kullanım, Bölüm 15'te daha ayrıntılı ele alınmaktadır.</a:t>
            </a:r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Yeniden kullanılabilir yazılım türleri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Belirli bir ortamda kullanılmak üzere yapılandırılan bağımsız uygulama sistemleri (bazen COTS olarak adlandırılır).</a:t>
            </a:r>
          </a:p>
          <a:p>
            <a:r>
              <a:rPr lang="tr-TR" dirty="0" smtClean="0"/>
              <a:t>.NET veya J2EE gibi bir bileşen çerçevesiyle bütünleştirilmek üzere paket olarak geliştirilen nesne koleksiyonları.</a:t>
            </a:r>
          </a:p>
          <a:p>
            <a:r>
              <a:rPr lang="tr-TR" dirty="0"/>
              <a:t>Hizmet standartlarına göre geliştirilen ve uzaktan çağrılabilen web hizmetleri.</a:t>
            </a:r>
          </a:p>
          <a:p>
            <a:endParaRPr lang="en-GB" dirty="0" smtClean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Yeniden kullanım odaklı yazılım mühendisliği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2" name="Picture 1" descr="2.3 Reuse oriented SE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50" y="2326734"/>
            <a:ext cx="8793575" cy="365468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16387" name="Türkçe şema etiketi 16387"/>
          <p:cNvSpPr txBox="1"/>
          <p:nvPr/>
        </p:nvSpPr>
        <p:spPr>
          <a:xfrm>
            <a:off x="280983" y="3069929"/>
            <a:ext cx="812304" cy="31413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919" b="0">
                <a:solidFill>
                  <a:srgbClr val="000000"/>
                </a:solidFill>
                <a:latin typeface="Arial"/>
              </a:rPr>
              <a:t>Gereksinim</a:t>
            </a:r>
          </a:p>
          <a:p>
            <a:pPr algn="ctr">
              <a:lnSpc>
                <a:spcPct val="100000"/>
              </a:lnSpc>
            </a:pPr>
            <a:r>
              <a:rPr lang="tr-TR" sz="919" b="0">
                <a:solidFill>
                  <a:srgbClr val="000000"/>
                </a:solidFill>
                <a:latin typeface="Arial"/>
              </a:rPr>
              <a:t>belirtimi</a:t>
            </a:r>
          </a:p>
        </p:txBody>
      </p:sp>
      <p:sp>
        <p:nvSpPr>
          <p:cNvPr id="16388" name="Türkçe şema etiketi 16388"/>
          <p:cNvSpPr txBox="1"/>
          <p:nvPr/>
        </p:nvSpPr>
        <p:spPr>
          <a:xfrm>
            <a:off x="2081846" y="2644699"/>
            <a:ext cx="547922" cy="31413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919" b="0">
                <a:solidFill>
                  <a:srgbClr val="000000"/>
                </a:solidFill>
                <a:latin typeface="Arial"/>
              </a:rPr>
              <a:t>Yazılım</a:t>
            </a:r>
          </a:p>
          <a:p>
            <a:pPr algn="ctr">
              <a:lnSpc>
                <a:spcPct val="100000"/>
              </a:lnSpc>
            </a:pPr>
            <a:r>
              <a:rPr lang="tr-TR" sz="919" b="0">
                <a:solidFill>
                  <a:srgbClr val="000000"/>
                </a:solidFill>
                <a:latin typeface="Arial"/>
              </a:rPr>
              <a:t>bulma</a:t>
            </a:r>
          </a:p>
        </p:txBody>
      </p:sp>
      <p:sp>
        <p:nvSpPr>
          <p:cNvPr id="16389" name="Türkçe şema etiketi 16389"/>
          <p:cNvSpPr txBox="1"/>
          <p:nvPr/>
        </p:nvSpPr>
        <p:spPr>
          <a:xfrm>
            <a:off x="3614495" y="3039282"/>
            <a:ext cx="812304" cy="28348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682" b="0">
                <a:solidFill>
                  <a:srgbClr val="000000"/>
                </a:solidFill>
                <a:latin typeface="Arial"/>
              </a:rPr>
              <a:t>Gereksinimlerin</a:t>
            </a:r>
          </a:p>
          <a:p>
            <a:pPr algn="ctr">
              <a:lnSpc>
                <a:spcPct val="100000"/>
              </a:lnSpc>
            </a:pPr>
            <a:r>
              <a:rPr lang="tr-TR" sz="682" b="0">
                <a:solidFill>
                  <a:srgbClr val="000000"/>
                </a:solidFill>
                <a:latin typeface="Arial"/>
              </a:rPr>
              <a:t>ayrıntılandırılması</a:t>
            </a:r>
          </a:p>
        </p:txBody>
      </p:sp>
      <p:sp>
        <p:nvSpPr>
          <p:cNvPr id="16390" name="Türkçe şema etiketi 16390"/>
          <p:cNvSpPr txBox="1"/>
          <p:nvPr/>
        </p:nvSpPr>
        <p:spPr>
          <a:xfrm>
            <a:off x="2051193" y="3464512"/>
            <a:ext cx="601565" cy="28348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630" b="0">
                <a:solidFill>
                  <a:srgbClr val="000000"/>
                </a:solidFill>
                <a:latin typeface="Arial"/>
              </a:rPr>
              <a:t>Yazılım</a:t>
            </a:r>
          </a:p>
          <a:p>
            <a:pPr algn="ctr">
              <a:lnSpc>
                <a:spcPct val="100000"/>
              </a:lnSpc>
            </a:pPr>
            <a:r>
              <a:rPr lang="tr-TR" sz="630" b="0">
                <a:solidFill>
                  <a:srgbClr val="000000"/>
                </a:solidFill>
                <a:latin typeface="Arial"/>
              </a:rPr>
              <a:t>değerlendirme</a:t>
            </a:r>
          </a:p>
        </p:txBody>
      </p:sp>
      <p:sp>
        <p:nvSpPr>
          <p:cNvPr id="16391" name="Türkçe şema etiketi 16391"/>
          <p:cNvSpPr txBox="1"/>
          <p:nvPr/>
        </p:nvSpPr>
        <p:spPr>
          <a:xfrm>
            <a:off x="4419136" y="2430168"/>
            <a:ext cx="1088181" cy="28731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840" b="0">
                <a:solidFill>
                  <a:srgbClr val="000000"/>
                </a:solidFill>
                <a:latin typeface="Arial"/>
              </a:rPr>
              <a:t>Uygulama sistemi</a:t>
            </a:r>
          </a:p>
          <a:p>
            <a:pPr algn="ctr">
              <a:lnSpc>
                <a:spcPct val="100000"/>
              </a:lnSpc>
            </a:pPr>
            <a:r>
              <a:rPr lang="tr-TR" sz="840" b="0">
                <a:solidFill>
                  <a:srgbClr val="000000"/>
                </a:solidFill>
                <a:latin typeface="Arial"/>
              </a:rPr>
              <a:t>mevcut</a:t>
            </a:r>
          </a:p>
        </p:txBody>
      </p:sp>
      <p:sp>
        <p:nvSpPr>
          <p:cNvPr id="16392" name="Türkçe şema etiketi 16392"/>
          <p:cNvSpPr txBox="1"/>
          <p:nvPr/>
        </p:nvSpPr>
        <p:spPr>
          <a:xfrm>
            <a:off x="4610717" y="3682873"/>
            <a:ext cx="750998" cy="2758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814" b="0">
                <a:solidFill>
                  <a:srgbClr val="000000"/>
                </a:solidFill>
                <a:latin typeface="Arial"/>
              </a:rPr>
              <a:t>Bileşenler</a:t>
            </a:r>
          </a:p>
          <a:p>
            <a:pPr algn="ctr">
              <a:lnSpc>
                <a:spcPct val="100000"/>
              </a:lnSpc>
            </a:pPr>
            <a:r>
              <a:rPr lang="tr-TR" sz="814" b="0">
                <a:solidFill>
                  <a:srgbClr val="000000"/>
                </a:solidFill>
                <a:latin typeface="Arial"/>
              </a:rPr>
              <a:t>mevcut</a:t>
            </a:r>
          </a:p>
        </p:txBody>
      </p:sp>
      <p:sp>
        <p:nvSpPr>
          <p:cNvPr id="16393" name="Türkçe şema etiketi 16393"/>
          <p:cNvSpPr txBox="1"/>
          <p:nvPr/>
        </p:nvSpPr>
        <p:spPr>
          <a:xfrm>
            <a:off x="5790857" y="2491463"/>
            <a:ext cx="639881" cy="46737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919" b="0">
                <a:solidFill>
                  <a:srgbClr val="000000"/>
                </a:solidFill>
                <a:latin typeface="Arial"/>
              </a:rPr>
              <a:t>Uygulama</a:t>
            </a:r>
          </a:p>
          <a:p>
            <a:pPr algn="ctr">
              <a:lnSpc>
                <a:spcPct val="100000"/>
              </a:lnSpc>
            </a:pPr>
            <a:r>
              <a:rPr lang="tr-TR" sz="919" b="0">
                <a:solidFill>
                  <a:srgbClr val="000000"/>
                </a:solidFill>
                <a:latin typeface="Arial"/>
              </a:rPr>
              <a:t>sistemini</a:t>
            </a:r>
          </a:p>
          <a:p>
            <a:pPr algn="ctr">
              <a:lnSpc>
                <a:spcPct val="100000"/>
              </a:lnSpc>
            </a:pPr>
            <a:r>
              <a:rPr lang="tr-TR" sz="919" b="0">
                <a:solidFill>
                  <a:srgbClr val="000000"/>
                </a:solidFill>
                <a:latin typeface="Arial"/>
              </a:rPr>
              <a:t>yapılandır</a:t>
            </a:r>
          </a:p>
        </p:txBody>
      </p:sp>
      <p:sp>
        <p:nvSpPr>
          <p:cNvPr id="16394" name="Türkçe şema etiketi 16394"/>
          <p:cNvSpPr txBox="1"/>
          <p:nvPr/>
        </p:nvSpPr>
        <p:spPr>
          <a:xfrm>
            <a:off x="6158693" y="3154209"/>
            <a:ext cx="900431" cy="37159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945" b="0">
                <a:solidFill>
                  <a:srgbClr val="000000"/>
                </a:solidFill>
                <a:latin typeface="Arial"/>
              </a:rPr>
              <a:t>Bileşenleri</a:t>
            </a:r>
          </a:p>
          <a:p>
            <a:pPr algn="ctr">
              <a:lnSpc>
                <a:spcPct val="100000"/>
              </a:lnSpc>
            </a:pPr>
            <a:r>
              <a:rPr lang="tr-TR" sz="945" b="0">
                <a:solidFill>
                  <a:srgbClr val="000000"/>
                </a:solidFill>
                <a:latin typeface="Arial"/>
              </a:rPr>
              <a:t>uyarla</a:t>
            </a:r>
          </a:p>
        </p:txBody>
      </p:sp>
      <p:sp>
        <p:nvSpPr>
          <p:cNvPr id="16395" name="Türkçe şema etiketi 16395"/>
          <p:cNvSpPr txBox="1"/>
          <p:nvPr/>
        </p:nvSpPr>
        <p:spPr>
          <a:xfrm>
            <a:off x="6170188" y="3862925"/>
            <a:ext cx="770156" cy="31413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761" b="0">
                <a:solidFill>
                  <a:srgbClr val="000000"/>
                </a:solidFill>
                <a:latin typeface="Arial"/>
              </a:rPr>
              <a:t>Yeni bileşenler</a:t>
            </a:r>
          </a:p>
          <a:p>
            <a:pPr algn="ctr">
              <a:lnSpc>
                <a:spcPct val="100000"/>
              </a:lnSpc>
            </a:pPr>
            <a:r>
              <a:rPr lang="tr-TR" sz="761" b="0">
                <a:solidFill>
                  <a:srgbClr val="000000"/>
                </a:solidFill>
                <a:latin typeface="Arial"/>
              </a:rPr>
              <a:t>geliştir</a:t>
            </a:r>
          </a:p>
        </p:txBody>
      </p:sp>
      <p:sp>
        <p:nvSpPr>
          <p:cNvPr id="16396" name="Türkçe şema etiketi 16396"/>
          <p:cNvSpPr txBox="1"/>
          <p:nvPr/>
        </p:nvSpPr>
        <p:spPr>
          <a:xfrm>
            <a:off x="8036188" y="3476004"/>
            <a:ext cx="524932" cy="306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761" b="0">
                <a:solidFill>
                  <a:srgbClr val="000000"/>
                </a:solidFill>
                <a:latin typeface="Arial"/>
              </a:rPr>
              <a:t>Sistemi</a:t>
            </a:r>
          </a:p>
          <a:p>
            <a:pPr algn="ctr">
              <a:lnSpc>
                <a:spcPct val="100000"/>
              </a:lnSpc>
            </a:pPr>
            <a:r>
              <a:rPr lang="tr-TR" sz="761" b="0">
                <a:solidFill>
                  <a:srgbClr val="000000"/>
                </a:solidFill>
                <a:latin typeface="Arial"/>
              </a:rPr>
              <a:t>bütünleştir</a:t>
            </a:r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Temel süreç aşamaları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Gereksinim belirtimi</a:t>
            </a:r>
          </a:p>
          <a:p>
            <a:r>
              <a:rPr lang="tr-TR" dirty="0" smtClean="0"/>
              <a:t>Yazılım bulma ve değerlendirme</a:t>
            </a:r>
          </a:p>
          <a:p>
            <a:r>
              <a:rPr lang="tr-TR" dirty="0" smtClean="0"/>
              <a:t>Gereksinimlerin ayrıntılandırılması</a:t>
            </a:r>
          </a:p>
          <a:p>
            <a:r>
              <a:rPr lang="tr-TR" dirty="0" smtClean="0"/>
              <a:t>Uygulama sisteminin yapılandırılması</a:t>
            </a:r>
          </a:p>
          <a:p>
            <a:r>
              <a:rPr lang="tr-TR" dirty="0" smtClean="0"/>
              <a:t>Bileşen uyarlama ve bütünleştirme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64114"/>
      </p:ext>
    </p:extLst>
  </p:cSld>
  <p:clrMapOvr>
    <a:masterClrMapping/>
  </p:clrMapOvr>
  <p:transition xmlns:p14="http://schemas.microsoft.com/office/powerpoint/2010/main"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Avantajlar ve dezavantajlar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Daha az yazılım sıfırdan geliştirildiği için maliyetler ve riskler azalır.</a:t>
            </a:r>
          </a:p>
          <a:p>
            <a:r>
              <a:rPr lang="tr-TR" dirty="0" smtClean="0"/>
              <a:t>Sistemin daha hızlı teslimi ve devreye alınması.</a:t>
            </a:r>
          </a:p>
          <a:p>
            <a:r>
              <a:rPr lang="tr-TR" dirty="0" smtClean="0"/>
              <a:t>Ancak gereksinimlerden ödün vermek kaçınılmazdır. Bu nedenle sistem, kullanıcıların gerçek ihtiyaçlarını karşılamayabilir.</a:t>
            </a:r>
          </a:p>
          <a:p>
            <a:r>
              <a:rPr lang="tr-TR" dirty="0" smtClean="0"/>
              <a:t>Yeniden kullanılan sistem öğelerinin evrimi üzerindeki kontrolün kaybı.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14283"/>
      </p:ext>
    </p:extLst>
  </p:cSld>
  <p:clrMapOvr>
    <a:masterClrMapping/>
  </p:clrMapOvr>
  <p:transition xmlns:p14="http://schemas.microsoft.com/office/powerpoint/2010/main"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43138"/>
            <a:ext cx="8229600" cy="1143000"/>
          </a:xfrm>
        </p:spPr>
        <p:txBody>
          <a:bodyPr/>
          <a:lstStyle/>
          <a:p>
            <a:pPr algn="ctr"/>
            <a:r>
              <a:rPr lang="tr-TR" dirty="0" smtClean="0"/>
              <a:t>Süreç faaliyetleri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70752"/>
      </p:ext>
    </p:extLst>
  </p:cSld>
  <p:clrMapOvr>
    <a:masterClrMapping/>
  </p:clrMapOvr>
  <p:transition xmlns:p14="http://schemas.microsoft.com/office/powerpoint/2010/main"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Süreç faaliyetleri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Gerçek yazılım süreçleri, bir yazılım sistemini belirtme, tasarlama, gerçekleştirme ve test etme genel amacıyla yürütülen, iç içe geçmiş teknik, iş birliğine dayalı ve yönetsel faaliyet dizileridir.</a:t>
            </a:r>
          </a:p>
          <a:p>
            <a:r>
              <a:rPr lang="tr-TR" dirty="0" smtClean="0"/>
              <a:t>Belirtim, geliştirme, geçerleme ve evrimden oluşan dört temel süreç faaliyeti, farklı geliştirme süreçlerinde farklı biçimlerde düzenlenir.</a:t>
            </a:r>
          </a:p>
          <a:p>
            <a:r>
              <a:rPr lang="tr-TR" dirty="0" smtClean="0"/>
              <a:t>Örneğin şelale modelinde sıralı düzenlenirken, artımlı geliştirmede iç içe yürütülürler.</a:t>
            </a:r>
            <a:r>
              <a:rPr lang="tr-TR" dirty="0"/>
              <a:t/>
            </a:r>
            <a:r>
              <a:rPr lang="tr-TR" dirty="0" smtClean="0"/>
              <a:t/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Gereksinim mühendisliği süreci</a:t>
            </a:r>
            <a:br>
              <a:rPr lang="tr-TR" dirty="0" smtClean="0"/>
            </a:b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2" name="Picture 1" descr="2.4 RE-process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62" y="1720552"/>
            <a:ext cx="6339334" cy="4392817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17411" name="Türkçe şema etiketi 17411"/>
          <p:cNvSpPr txBox="1"/>
          <p:nvPr/>
        </p:nvSpPr>
        <p:spPr>
          <a:xfrm>
            <a:off x="1589036" y="1771044"/>
            <a:ext cx="1360236" cy="8015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340" b="0">
                <a:solidFill>
                  <a:srgbClr val="000000"/>
                </a:solidFill>
                <a:latin typeface="Arial"/>
              </a:rPr>
              <a:t>Gereksinimleri</a:t>
            </a:r>
          </a:p>
          <a:p>
            <a:pPr algn="ctr">
              <a:lnSpc>
                <a:spcPct val="100000"/>
              </a:lnSpc>
            </a:pPr>
            <a:r>
              <a:rPr lang="tr-TR" sz="1340" b="0">
                <a:solidFill>
                  <a:srgbClr val="000000"/>
                </a:solidFill>
                <a:latin typeface="Arial"/>
              </a:rPr>
              <a:t>ortaya çıkarma</a:t>
            </a:r>
          </a:p>
          <a:p>
            <a:pPr algn="ctr">
              <a:lnSpc>
                <a:spcPct val="100000"/>
              </a:lnSpc>
            </a:pPr>
            <a:r>
              <a:rPr lang="tr-TR" sz="1340" b="0">
                <a:solidFill>
                  <a:srgbClr val="000000"/>
                </a:solidFill>
                <a:latin typeface="Arial"/>
              </a:rPr>
              <a:t>ve analiz</a:t>
            </a:r>
          </a:p>
        </p:txBody>
      </p:sp>
      <p:sp>
        <p:nvSpPr>
          <p:cNvPr id="17412" name="Türkçe şema etiketi 17412"/>
          <p:cNvSpPr txBox="1"/>
          <p:nvPr/>
        </p:nvSpPr>
        <p:spPr>
          <a:xfrm>
            <a:off x="3752761" y="2559984"/>
            <a:ext cx="1328603" cy="530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557" b="0">
                <a:solidFill>
                  <a:srgbClr val="000000"/>
                </a:solidFill>
                <a:latin typeface="Arial"/>
              </a:rPr>
              <a:t>Gereksinim</a:t>
            </a:r>
          </a:p>
          <a:p>
            <a:pPr algn="ctr">
              <a:lnSpc>
                <a:spcPct val="100000"/>
              </a:lnSpc>
            </a:pPr>
            <a:r>
              <a:rPr lang="tr-TR" sz="1557" b="0">
                <a:solidFill>
                  <a:srgbClr val="000000"/>
                </a:solidFill>
                <a:latin typeface="Arial"/>
              </a:rPr>
              <a:t>belirtimi</a:t>
            </a:r>
          </a:p>
        </p:txBody>
      </p:sp>
      <p:sp>
        <p:nvSpPr>
          <p:cNvPr id="17413" name="Türkçe şema etiketi 17413"/>
          <p:cNvSpPr txBox="1"/>
          <p:nvPr/>
        </p:nvSpPr>
        <p:spPr>
          <a:xfrm>
            <a:off x="5910159" y="3235316"/>
            <a:ext cx="1322276" cy="4796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427" b="0">
                <a:solidFill>
                  <a:srgbClr val="000000"/>
                </a:solidFill>
                <a:latin typeface="Arial"/>
              </a:rPr>
              <a:t>Gereksinim</a:t>
            </a:r>
          </a:p>
          <a:p>
            <a:pPr algn="ctr">
              <a:lnSpc>
                <a:spcPct val="100000"/>
              </a:lnSpc>
            </a:pPr>
            <a:r>
              <a:rPr lang="tr-TR" sz="1427" b="0">
                <a:solidFill>
                  <a:srgbClr val="000000"/>
                </a:solidFill>
                <a:latin typeface="Arial"/>
              </a:rPr>
              <a:t>geçerleme</a:t>
            </a:r>
          </a:p>
        </p:txBody>
      </p:sp>
      <p:sp>
        <p:nvSpPr>
          <p:cNvPr id="17414" name="Türkçe şema etiketi 17414"/>
          <p:cNvSpPr txBox="1"/>
          <p:nvPr/>
        </p:nvSpPr>
        <p:spPr>
          <a:xfrm>
            <a:off x="1709243" y="3935895"/>
            <a:ext cx="1164109" cy="50492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427" b="0">
                <a:solidFill>
                  <a:srgbClr val="000000"/>
                </a:solidFill>
                <a:latin typeface="Arial"/>
              </a:rPr>
              <a:t>Sistem</a:t>
            </a:r>
          </a:p>
          <a:p>
            <a:pPr algn="ctr">
              <a:lnSpc>
                <a:spcPct val="100000"/>
              </a:lnSpc>
            </a:pPr>
            <a:r>
              <a:rPr lang="tr-TR" sz="1427" b="0">
                <a:solidFill>
                  <a:srgbClr val="000000"/>
                </a:solidFill>
                <a:latin typeface="Arial"/>
              </a:rPr>
              <a:t>açıklamaları</a:t>
            </a:r>
          </a:p>
        </p:txBody>
      </p:sp>
      <p:sp>
        <p:nvSpPr>
          <p:cNvPr id="17415" name="Türkçe şema etiketi 17415"/>
          <p:cNvSpPr txBox="1"/>
          <p:nvPr/>
        </p:nvSpPr>
        <p:spPr>
          <a:xfrm>
            <a:off x="3664187" y="4573358"/>
            <a:ext cx="1575343" cy="5364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254" b="0">
                <a:solidFill>
                  <a:srgbClr val="000000"/>
                </a:solidFill>
                <a:latin typeface="Arial"/>
              </a:rPr>
              <a:t>Kullanıcı ve sistem</a:t>
            </a:r>
          </a:p>
          <a:p>
            <a:pPr algn="ctr">
              <a:lnSpc>
                <a:spcPct val="100000"/>
              </a:lnSpc>
            </a:pPr>
            <a:r>
              <a:rPr lang="tr-TR" sz="1254" b="0">
                <a:solidFill>
                  <a:srgbClr val="000000"/>
                </a:solidFill>
                <a:latin typeface="Arial"/>
              </a:rPr>
              <a:t>gereksinimleri</a:t>
            </a:r>
          </a:p>
        </p:txBody>
      </p:sp>
      <p:sp>
        <p:nvSpPr>
          <p:cNvPr id="17416" name="Türkçe şema etiketi 17416"/>
          <p:cNvSpPr txBox="1"/>
          <p:nvPr/>
        </p:nvSpPr>
        <p:spPr>
          <a:xfrm>
            <a:off x="5910159" y="5419102"/>
            <a:ext cx="1322276" cy="48598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427" b="0">
                <a:solidFill>
                  <a:srgbClr val="000000"/>
                </a:solidFill>
                <a:latin typeface="Arial"/>
              </a:rPr>
              <a:t>Gereksinim</a:t>
            </a:r>
          </a:p>
          <a:p>
            <a:pPr algn="ctr">
              <a:lnSpc>
                <a:spcPct val="100000"/>
              </a:lnSpc>
            </a:pPr>
            <a:r>
              <a:rPr lang="tr-TR" sz="1427" b="0">
                <a:solidFill>
                  <a:srgbClr val="000000"/>
                </a:solidFill>
                <a:latin typeface="Arial"/>
              </a:rPr>
              <a:t>belgesi</a:t>
            </a:r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Yazılım belirtimi</a:t>
            </a:r>
            <a:endParaRPr lang="en-GB"/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416664" y="1600200"/>
            <a:ext cx="8460480" cy="4525963"/>
          </a:xfrm>
        </p:spPr>
        <p:txBody>
          <a:bodyPr/>
          <a:lstStyle/>
          <a:p>
            <a:r>
              <a:rPr lang="tr-TR" dirty="0" smtClean="0"/>
              <a:t>Gerekli hizmetlerin ve sistemin işletimi ile geliştirilmesine ilişkin kısıtların belirlenmesi süreci.</a:t>
            </a:r>
          </a:p>
          <a:p>
            <a:r>
              <a:rPr lang="tr-TR" dirty="0" smtClean="0"/>
              <a:t>Gereksinim mühendisliği süreci</a:t>
            </a:r>
          </a:p>
          <a:p>
            <a:pPr lvl="1"/>
            <a:r>
              <a:rPr lang="tr-TR" dirty="0" smtClean="0"/>
              <a:t>Gereksinimlerin ortaya çıkarılması ve analizi</a:t>
            </a:r>
          </a:p>
          <a:p>
            <a:pPr lvl="2"/>
            <a:r>
              <a:rPr lang="tr-TR" dirty="0" smtClean="0"/>
              <a:t>Sistem paydaşları sistemden ne istiyor veya bekliyor?</a:t>
            </a:r>
          </a:p>
          <a:p>
            <a:pPr lvl="1"/>
            <a:r>
              <a:rPr lang="tr-TR" dirty="0" smtClean="0"/>
              <a:t>Gereksinim belirtimi</a:t>
            </a:r>
          </a:p>
          <a:p>
            <a:pPr lvl="2"/>
            <a:r>
              <a:rPr lang="tr-TR" dirty="0" smtClean="0"/>
              <a:t>Gereksinimlerin ayrıntılı tanımlanması</a:t>
            </a:r>
          </a:p>
          <a:p>
            <a:pPr lvl="1"/>
            <a:r>
              <a:rPr lang="tr-TR" dirty="0" smtClean="0"/>
              <a:t>Gereksinim geçerleme</a:t>
            </a:r>
          </a:p>
          <a:p>
            <a:pPr lvl="2"/>
            <a:r>
              <a:rPr lang="tr-TR" dirty="0" smtClean="0"/>
              <a:t>Gereksinimlerin geçerliliğinin kontrol edilmesi</a:t>
            </a:r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Yazılım tasarımı ve gerçekleştirme</a:t>
            </a:r>
            <a:endParaRPr lang="en-GB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smtClean="0"/>
              <a:t>Sistem belirtiminin çalıştırılabilir bir sisteme dönüştürülmesi süreci.</a:t>
            </a:r>
          </a:p>
          <a:p>
            <a:r>
              <a:rPr lang="tr-TR" smtClean="0"/>
              <a:t>Yazılım tasarımı</a:t>
            </a:r>
          </a:p>
          <a:p>
            <a:pPr lvl="1"/>
            <a:r>
              <a:rPr lang="tr-TR" smtClean="0"/>
              <a:t>Belirtimi gerçekleştiren bir yazılım yapısı tasarlamak.</a:t>
            </a:r>
          </a:p>
          <a:p>
            <a:r>
              <a:rPr lang="tr-TR" smtClean="0"/>
              <a:t>Gerçekleştirme</a:t>
            </a:r>
          </a:p>
          <a:p>
            <a:pPr lvl="1"/>
            <a:r>
              <a:rPr lang="tr-TR" smtClean="0"/>
              <a:t>Bu yapıyı çalıştırılabilir bir programa dönüştürmek.</a:t>
            </a:r>
          </a:p>
          <a:p>
            <a:r>
              <a:rPr lang="tr-TR" smtClean="0"/>
              <a:t>Tasarım ve gerçekleştirme faaliyetleri yakından ilişkilidir ve iç içe yürütülebilir.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Tasarım sürecinin genel modeli</a:t>
            </a:r>
            <a:br>
              <a:rPr lang="tr-TR" dirty="0" smtClean="0"/>
            </a:b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4" name="Picture 3" descr="2.5 Design-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243" y="1638390"/>
            <a:ext cx="6211739" cy="4638099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18435" name="Türkçe şema etiketi 18435"/>
          <p:cNvSpPr txBox="1"/>
          <p:nvPr/>
        </p:nvSpPr>
        <p:spPr>
          <a:xfrm>
            <a:off x="2225099" y="2110651"/>
            <a:ext cx="880992" cy="377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022" b="0">
                <a:solidFill>
                  <a:srgbClr val="000000"/>
                </a:solidFill>
                <a:latin typeface="Arial"/>
              </a:rPr>
              <a:t>Platform</a:t>
            </a:r>
          </a:p>
          <a:p>
            <a:pPr algn="ctr">
              <a:lnSpc>
                <a:spcPct val="100000"/>
              </a:lnSpc>
            </a:pPr>
            <a:r>
              <a:rPr lang="tr-TR" sz="1022" b="0">
                <a:solidFill>
                  <a:srgbClr val="000000"/>
                </a:solidFill>
                <a:latin typeface="Arial"/>
              </a:rPr>
              <a:t>bilgisi</a:t>
            </a:r>
          </a:p>
        </p:txBody>
      </p:sp>
      <p:sp>
        <p:nvSpPr>
          <p:cNvPr id="18436" name="Türkçe şema etiketi 18436"/>
          <p:cNvSpPr txBox="1"/>
          <p:nvPr/>
        </p:nvSpPr>
        <p:spPr>
          <a:xfrm>
            <a:off x="2175325" y="3447895"/>
            <a:ext cx="960630" cy="41757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056" b="0">
                <a:solidFill>
                  <a:srgbClr val="000000"/>
                </a:solidFill>
                <a:latin typeface="Arial"/>
              </a:rPr>
              <a:t>Mimari</a:t>
            </a:r>
          </a:p>
          <a:p>
            <a:pPr algn="ctr">
              <a:lnSpc>
                <a:spcPct val="100000"/>
              </a:lnSpc>
            </a:pPr>
            <a:r>
              <a:rPr lang="tr-TR" sz="1056" b="0">
                <a:solidFill>
                  <a:srgbClr val="000000"/>
                </a:solidFill>
                <a:latin typeface="Arial"/>
              </a:rPr>
              <a:t>tasarım</a:t>
            </a:r>
          </a:p>
        </p:txBody>
      </p:sp>
      <p:sp>
        <p:nvSpPr>
          <p:cNvPr id="18437" name="Türkçe şema etiketi 18437"/>
          <p:cNvSpPr txBox="1"/>
          <p:nvPr/>
        </p:nvSpPr>
        <p:spPr>
          <a:xfrm>
            <a:off x="1712431" y="5500987"/>
            <a:ext cx="806332" cy="36786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090" b="0">
                <a:solidFill>
                  <a:srgbClr val="000000"/>
                </a:solidFill>
                <a:latin typeface="Arial"/>
              </a:rPr>
              <a:t>Sistem</a:t>
            </a:r>
          </a:p>
          <a:p>
            <a:pPr algn="ctr">
              <a:lnSpc>
                <a:spcPct val="100000"/>
              </a:lnSpc>
            </a:pPr>
            <a:r>
              <a:rPr lang="tr-TR" sz="1090" b="0">
                <a:solidFill>
                  <a:srgbClr val="000000"/>
                </a:solidFill>
                <a:latin typeface="Arial"/>
              </a:rPr>
              <a:t>mimarisi</a:t>
            </a:r>
          </a:p>
        </p:txBody>
      </p:sp>
      <p:sp>
        <p:nvSpPr>
          <p:cNvPr id="18438" name="Türkçe şema etiketi 18438"/>
          <p:cNvSpPr txBox="1"/>
          <p:nvPr/>
        </p:nvSpPr>
        <p:spPr>
          <a:xfrm>
            <a:off x="3708351" y="2135507"/>
            <a:ext cx="945697" cy="41260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226" b="0">
                <a:solidFill>
                  <a:srgbClr val="000000"/>
                </a:solidFill>
                <a:latin typeface="Arial"/>
              </a:rPr>
              <a:t>Gereksinim</a:t>
            </a:r>
          </a:p>
          <a:p>
            <a:pPr algn="ctr">
              <a:lnSpc>
                <a:spcPct val="100000"/>
              </a:lnSpc>
            </a:pPr>
            <a:r>
              <a:rPr lang="tr-TR" sz="1226" b="0">
                <a:solidFill>
                  <a:srgbClr val="000000"/>
                </a:solidFill>
                <a:latin typeface="Arial"/>
              </a:rPr>
              <a:t>belirtimi</a:t>
            </a:r>
          </a:p>
        </p:txBody>
      </p:sp>
      <p:sp>
        <p:nvSpPr>
          <p:cNvPr id="18439" name="Türkçe şema etiketi 18439"/>
          <p:cNvSpPr txBox="1"/>
          <p:nvPr/>
        </p:nvSpPr>
        <p:spPr>
          <a:xfrm>
            <a:off x="3748170" y="3447895"/>
            <a:ext cx="806332" cy="41757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022" b="0">
                <a:solidFill>
                  <a:srgbClr val="000000"/>
                </a:solidFill>
                <a:latin typeface="Arial"/>
              </a:rPr>
              <a:t>Arayüz</a:t>
            </a:r>
          </a:p>
          <a:p>
            <a:pPr algn="ctr">
              <a:lnSpc>
                <a:spcPct val="100000"/>
              </a:lnSpc>
            </a:pPr>
            <a:r>
              <a:rPr lang="tr-TR" sz="1022" b="0">
                <a:solidFill>
                  <a:srgbClr val="000000"/>
                </a:solidFill>
                <a:latin typeface="Arial"/>
              </a:rPr>
              <a:t>tasarımı</a:t>
            </a:r>
          </a:p>
        </p:txBody>
      </p:sp>
      <p:sp>
        <p:nvSpPr>
          <p:cNvPr id="18440" name="Türkçe şema etiketi 18440"/>
          <p:cNvSpPr txBox="1"/>
          <p:nvPr/>
        </p:nvSpPr>
        <p:spPr>
          <a:xfrm>
            <a:off x="3743192" y="4322820"/>
            <a:ext cx="1119905" cy="213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885" b="0">
                <a:solidFill>
                  <a:srgbClr val="000000"/>
                </a:solidFill>
                <a:latin typeface="Arial"/>
              </a:rPr>
              <a:t>Veritabanı tasarımı</a:t>
            </a:r>
          </a:p>
        </p:txBody>
      </p:sp>
      <p:sp>
        <p:nvSpPr>
          <p:cNvPr id="18441" name="Türkçe şema etiketi 18441"/>
          <p:cNvSpPr txBox="1"/>
          <p:nvPr/>
        </p:nvSpPr>
        <p:spPr>
          <a:xfrm>
            <a:off x="6231870" y="1653304"/>
            <a:ext cx="1035290" cy="213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954" b="0">
                <a:solidFill>
                  <a:srgbClr val="000000"/>
                </a:solidFill>
                <a:latin typeface="Arial"/>
              </a:rPr>
              <a:t>Tasarım girdileri</a:t>
            </a:r>
          </a:p>
        </p:txBody>
      </p:sp>
      <p:sp>
        <p:nvSpPr>
          <p:cNvPr id="18442" name="Türkçe şema etiketi 18442"/>
          <p:cNvSpPr txBox="1"/>
          <p:nvPr/>
        </p:nvSpPr>
        <p:spPr>
          <a:xfrm>
            <a:off x="5226444" y="2130536"/>
            <a:ext cx="841173" cy="4076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158" b="0">
                <a:solidFill>
                  <a:srgbClr val="000000"/>
                </a:solidFill>
                <a:latin typeface="Arial"/>
              </a:rPr>
              <a:t>Veri</a:t>
            </a:r>
          </a:p>
          <a:p>
            <a:pPr algn="ctr">
              <a:lnSpc>
                <a:spcPct val="100000"/>
              </a:lnSpc>
            </a:pPr>
            <a:r>
              <a:rPr lang="tr-TR" sz="1158" b="0">
                <a:solidFill>
                  <a:srgbClr val="000000"/>
                </a:solidFill>
                <a:latin typeface="Arial"/>
              </a:rPr>
              <a:t>açıklaması</a:t>
            </a:r>
          </a:p>
        </p:txBody>
      </p:sp>
      <p:sp>
        <p:nvSpPr>
          <p:cNvPr id="18443" name="Türkçe şema etiketi 18443"/>
          <p:cNvSpPr txBox="1"/>
          <p:nvPr/>
        </p:nvSpPr>
        <p:spPr>
          <a:xfrm>
            <a:off x="6246802" y="2950778"/>
            <a:ext cx="1209497" cy="2087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954" b="0">
                <a:solidFill>
                  <a:srgbClr val="000000"/>
                </a:solidFill>
                <a:latin typeface="Arial"/>
              </a:rPr>
              <a:t>Tasarım faaliyetleri</a:t>
            </a:r>
          </a:p>
        </p:txBody>
      </p:sp>
      <p:sp>
        <p:nvSpPr>
          <p:cNvPr id="18444" name="Türkçe şema etiketi 18444"/>
          <p:cNvSpPr txBox="1"/>
          <p:nvPr/>
        </p:nvSpPr>
        <p:spPr>
          <a:xfrm>
            <a:off x="5206535" y="3447895"/>
            <a:ext cx="985516" cy="41757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226" b="0">
                <a:solidFill>
                  <a:srgbClr val="000000"/>
                </a:solidFill>
                <a:latin typeface="Arial"/>
              </a:rPr>
              <a:t>Bileşen</a:t>
            </a:r>
          </a:p>
          <a:p>
            <a:pPr algn="ctr">
              <a:lnSpc>
                <a:spcPct val="100000"/>
              </a:lnSpc>
            </a:pPr>
            <a:r>
              <a:rPr lang="tr-TR" sz="1226" b="0">
                <a:solidFill>
                  <a:srgbClr val="000000"/>
                </a:solidFill>
                <a:latin typeface="Arial"/>
              </a:rPr>
              <a:t>tasarımı</a:t>
            </a:r>
          </a:p>
        </p:txBody>
      </p:sp>
      <p:sp>
        <p:nvSpPr>
          <p:cNvPr id="18445" name="Türkçe şema etiketi 18445"/>
          <p:cNvSpPr txBox="1"/>
          <p:nvPr/>
        </p:nvSpPr>
        <p:spPr>
          <a:xfrm>
            <a:off x="6256756" y="5028726"/>
            <a:ext cx="1139814" cy="2087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056" b="0">
                <a:solidFill>
                  <a:srgbClr val="000000"/>
                </a:solidFill>
                <a:latin typeface="Arial"/>
              </a:rPr>
              <a:t>Tasarım çıktıları</a:t>
            </a:r>
          </a:p>
        </p:txBody>
      </p:sp>
      <p:sp>
        <p:nvSpPr>
          <p:cNvPr id="18446" name="Türkçe şema etiketi 18446"/>
          <p:cNvSpPr txBox="1"/>
          <p:nvPr/>
        </p:nvSpPr>
        <p:spPr>
          <a:xfrm>
            <a:off x="3195683" y="5500987"/>
            <a:ext cx="846150" cy="41757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226" b="0">
                <a:solidFill>
                  <a:srgbClr val="000000"/>
                </a:solidFill>
                <a:latin typeface="Arial"/>
              </a:rPr>
              <a:t>Veritabanı</a:t>
            </a:r>
          </a:p>
          <a:p>
            <a:pPr algn="ctr">
              <a:lnSpc>
                <a:spcPct val="100000"/>
              </a:lnSpc>
            </a:pPr>
            <a:r>
              <a:rPr lang="tr-TR" sz="1226" b="0">
                <a:solidFill>
                  <a:srgbClr val="000000"/>
                </a:solidFill>
                <a:latin typeface="Arial"/>
              </a:rPr>
              <a:t>belirtimi</a:t>
            </a:r>
          </a:p>
        </p:txBody>
      </p:sp>
      <p:sp>
        <p:nvSpPr>
          <p:cNvPr id="18447" name="Türkçe şema etiketi 18447"/>
          <p:cNvSpPr txBox="1"/>
          <p:nvPr/>
        </p:nvSpPr>
        <p:spPr>
          <a:xfrm>
            <a:off x="4708799" y="5491045"/>
            <a:ext cx="841173" cy="41757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226" b="0">
                <a:solidFill>
                  <a:srgbClr val="000000"/>
                </a:solidFill>
                <a:latin typeface="Arial"/>
              </a:rPr>
              <a:t>Arayüz</a:t>
            </a:r>
          </a:p>
          <a:p>
            <a:pPr algn="ctr">
              <a:lnSpc>
                <a:spcPct val="100000"/>
              </a:lnSpc>
            </a:pPr>
            <a:r>
              <a:rPr lang="tr-TR" sz="1226" b="0">
                <a:solidFill>
                  <a:srgbClr val="000000"/>
                </a:solidFill>
                <a:latin typeface="Arial"/>
              </a:rPr>
              <a:t>belirtimi</a:t>
            </a:r>
          </a:p>
        </p:txBody>
      </p:sp>
      <p:sp>
        <p:nvSpPr>
          <p:cNvPr id="18448" name="Türkçe şema etiketi 18448"/>
          <p:cNvSpPr txBox="1"/>
          <p:nvPr/>
        </p:nvSpPr>
        <p:spPr>
          <a:xfrm>
            <a:off x="6306530" y="5496016"/>
            <a:ext cx="846150" cy="4026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192" b="0">
                <a:solidFill>
                  <a:srgbClr val="000000"/>
                </a:solidFill>
                <a:latin typeface="Arial"/>
              </a:rPr>
              <a:t>Bileşen</a:t>
            </a:r>
          </a:p>
          <a:p>
            <a:pPr algn="ctr">
              <a:lnSpc>
                <a:spcPct val="100000"/>
              </a:lnSpc>
            </a:pPr>
            <a:r>
              <a:rPr lang="tr-TR" sz="1192" b="0">
                <a:solidFill>
                  <a:srgbClr val="000000"/>
                </a:solidFill>
                <a:latin typeface="Arial"/>
              </a:rPr>
              <a:t>belirtimi</a:t>
            </a:r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Tasarım faaliyetleri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i="1" dirty="0" smtClean="0"/>
              <a:t>Mimari tasarım: Sistemin genel yapısı, temel bileşenleri (alt sistemler veya modüller), aralarındaki ilişkiler ve dağılımları belirlenir.</a:t>
            </a:r>
            <a:r>
              <a:rPr lang="tr-TR" dirty="0" smtClean="0"/>
              <a:t/>
            </a:r>
          </a:p>
          <a:p>
            <a:r>
              <a:rPr lang="tr-TR" i="1" dirty="0"/>
              <a:t>Veritabanı tasarımı: Sistemin veri yapıları ve bunların veritabanında nasıl temsil edileceği tasarlanır.</a:t>
            </a:r>
            <a:r>
              <a:rPr lang="tr-TR" dirty="0"/>
              <a:t/>
            </a:r>
            <a:endParaRPr lang="en-GB" dirty="0" smtClean="0"/>
          </a:p>
          <a:p>
            <a:r>
              <a:rPr lang="tr-TR" i="1" dirty="0" smtClean="0"/>
              <a:t>Arayüz tasarımı: Sistem bileşenleri arasındaki arayüzler tanımlanır.</a:t>
            </a:r>
            <a:r>
              <a:rPr lang="tr-TR" dirty="0" smtClean="0"/>
              <a:t/>
            </a:r>
          </a:p>
          <a:p>
            <a:r>
              <a:rPr lang="tr-TR" i="1" dirty="0" smtClean="0"/>
              <a:t>Bileşen seçimi ve tasarımı: Yeniden kullanılabilir bileşenler aranır. Bulunamazsa bileşenin nasıl çalışacağı tasarlanır.</a:t>
            </a:r>
            <a:r>
              <a:rPr lang="tr-TR" dirty="0" smtClean="0"/>
              <a:t/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Sistemin gerçekleştirilmesi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Yazılım, bir veya daha fazla program geliştirilerek ya da bir uygulama sistemi yapılandırılarak gerçekleştirilir.</a:t>
            </a:r>
          </a:p>
          <a:p>
            <a:r>
              <a:rPr lang="tr-TR" dirty="0" smtClean="0"/>
              <a:t>Çoğu yazılım sistemi türünde tasarım ve gerçekleştirme iç içe yürütülen faaliyetlerdir.</a:t>
            </a:r>
          </a:p>
          <a:p>
            <a:r>
              <a:rPr lang="tr-TR" dirty="0" smtClean="0"/>
              <a:t>Programlama, standart bir süreci olmayan bireysel bir faaliyettir.</a:t>
            </a:r>
          </a:p>
          <a:p>
            <a:r>
              <a:rPr lang="tr-TR" dirty="0" smtClean="0"/>
              <a:t>Hata ayıklama, program hatalarını bulma ve düzeltme faaliyetidir.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83746"/>
      </p:ext>
    </p:extLst>
  </p:cSld>
  <p:clrMapOvr>
    <a:masterClrMapping/>
  </p:clrMapOvr>
  <p:transition xmlns:p14="http://schemas.microsoft.com/office/powerpoint/2010/main"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Yazılım geçerleme</a:t>
            </a:r>
            <a:endParaRPr lang="en-GB"/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Doğrulama ve geçerleme (V &amp; V), sistemin belirtimine uygun olduğunu ve müşterisinin gereksinimlerini karşıladığını göstermeyi amaçlar.</a:t>
            </a:r>
          </a:p>
          <a:p>
            <a:r>
              <a:rPr lang="tr-TR" dirty="0" smtClean="0"/>
              <a:t>Kontrol ve gözden geçirme süreçlerini ve sistem testini içerir.</a:t>
            </a:r>
          </a:p>
          <a:p>
            <a:r>
              <a:rPr lang="tr-TR" dirty="0" smtClean="0"/>
              <a:t>Sistem testi, sistemin işleyeceği gerçek verilerin belirtiminden türetilen test durumlarıyla sistemi çalıştırmayı içerir.</a:t>
            </a:r>
          </a:p>
          <a:p>
            <a:r>
              <a:rPr lang="tr-TR" dirty="0" smtClean="0"/>
              <a:t>Test, en yaygın kullanılan doğrulama ve geçerleme faaliyetidir.</a:t>
            </a:r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Testin aşamaları</a:t>
            </a:r>
            <a:br>
              <a:rPr lang="tr-TR" dirty="0" smtClean="0"/>
            </a:b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4" name="Picture 3" descr="2.6 Testing-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409" y="2829344"/>
            <a:ext cx="6277535" cy="1707049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19459" name="Türkçe şema etiketi 19459"/>
          <p:cNvSpPr txBox="1"/>
          <p:nvPr/>
        </p:nvSpPr>
        <p:spPr>
          <a:xfrm>
            <a:off x="1757906" y="3391744"/>
            <a:ext cx="1324374" cy="562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677" b="0">
                <a:solidFill>
                  <a:srgbClr val="000000"/>
                </a:solidFill>
                <a:latin typeface="Arial"/>
              </a:rPr>
              <a:t>Bileşen</a:t>
            </a:r>
          </a:p>
          <a:p>
            <a:pPr algn="ctr">
              <a:lnSpc>
                <a:spcPct val="100000"/>
              </a:lnSpc>
            </a:pPr>
            <a:r>
              <a:rPr lang="tr-TR" sz="1677" b="0">
                <a:solidFill>
                  <a:srgbClr val="000000"/>
                </a:solidFill>
                <a:latin typeface="Arial"/>
              </a:rPr>
              <a:t>testi</a:t>
            </a:r>
          </a:p>
        </p:txBody>
      </p:sp>
      <p:sp>
        <p:nvSpPr>
          <p:cNvPr id="19460" name="Türkçe şema etiketi 19460"/>
          <p:cNvSpPr txBox="1"/>
          <p:nvPr/>
        </p:nvSpPr>
        <p:spPr>
          <a:xfrm>
            <a:off x="3810686" y="3537306"/>
            <a:ext cx="1470056" cy="3440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722" b="0">
                <a:solidFill>
                  <a:srgbClr val="000000"/>
                </a:solidFill>
                <a:latin typeface="Arial"/>
              </a:rPr>
              <a:t>Sistem testi</a:t>
            </a:r>
          </a:p>
        </p:txBody>
      </p:sp>
      <p:sp>
        <p:nvSpPr>
          <p:cNvPr id="19461" name="Türkçe şema etiketi 19461"/>
          <p:cNvSpPr txBox="1"/>
          <p:nvPr/>
        </p:nvSpPr>
        <p:spPr>
          <a:xfrm>
            <a:off x="6081988" y="3391744"/>
            <a:ext cx="1311131" cy="562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677" b="0">
                <a:solidFill>
                  <a:srgbClr val="000000"/>
                </a:solidFill>
                <a:latin typeface="Arial"/>
              </a:rPr>
              <a:t>Kabul</a:t>
            </a:r>
          </a:p>
          <a:p>
            <a:pPr algn="ctr">
              <a:lnSpc>
                <a:spcPct val="100000"/>
              </a:lnSpc>
            </a:pPr>
            <a:r>
              <a:rPr lang="tr-TR" sz="1677" b="0">
                <a:solidFill>
                  <a:srgbClr val="000000"/>
                </a:solidFill>
                <a:latin typeface="Arial"/>
              </a:rPr>
              <a:t>testi</a:t>
            </a:r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Test aşamaları</a:t>
            </a:r>
            <a:endParaRPr lang="en-GB"/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Bileşen testi</a:t>
            </a:r>
          </a:p>
          <a:p>
            <a:pPr lvl="1"/>
            <a:r>
              <a:rPr lang="tr-TR" dirty="0" smtClean="0"/>
              <a:t>Bileşenler birbirinden bağımsız olarak test edilir.</a:t>
            </a:r>
          </a:p>
          <a:p>
            <a:pPr lvl="1"/>
            <a:r>
              <a:rPr lang="tr-TR" dirty="0" smtClean="0"/>
              <a:t>Bileşenler, işlevler, nesneler veya bunların tutarlı grupları olabilir.</a:t>
            </a:r>
          </a:p>
          <a:p>
            <a:r>
              <a:rPr lang="tr-TR" dirty="0" smtClean="0"/>
              <a:t>Sistem testi</a:t>
            </a:r>
          </a:p>
          <a:p>
            <a:pPr lvl="1"/>
            <a:r>
              <a:rPr lang="tr-TR" dirty="0" smtClean="0"/>
              <a:t>Sistemin bütün olarak test edilmesi. Özellikle bütünleşmeyle ortaya çıkan özelliklerin testi önemlidir.</a:t>
            </a:r>
          </a:p>
          <a:p>
            <a:r>
              <a:rPr lang="tr-TR" dirty="0" smtClean="0"/>
              <a:t>Müşteri testi</a:t>
            </a:r>
          </a:p>
          <a:p>
            <a:pPr lvl="1"/>
            <a:r>
              <a:rPr lang="tr-TR" dirty="0" smtClean="0"/>
              <a:t>Sistemin müşteri ihtiyaçlarını karşıladığını kontrol etmek için müşteri verileriyle yapılan test.</a:t>
            </a:r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Plan odaklı yazılım sürecinde test aşamaları (V modeli)</a:t>
            </a:r>
            <a:r>
              <a:rPr lang="tr-TR" dirty="0"/>
              <a:t/>
            </a:r>
            <a:r>
              <a:rPr lang="tr-TR" dirty="0" smtClean="0"/>
              <a:t/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pic>
        <p:nvPicPr>
          <p:cNvPr id="4" name="Picture 3" descr="2.7 Testing-phase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57" y="2186304"/>
            <a:ext cx="8647437" cy="2988016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20483" name="Türkçe şema etiketi 20483"/>
          <p:cNvSpPr txBox="1"/>
          <p:nvPr/>
        </p:nvSpPr>
        <p:spPr>
          <a:xfrm>
            <a:off x="443655" y="2286381"/>
            <a:ext cx="1006731" cy="39077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143" b="0">
                <a:solidFill>
                  <a:srgbClr val="000000"/>
                </a:solidFill>
                <a:latin typeface="Arial"/>
              </a:rPr>
              <a:t>Gereksinim</a:t>
            </a:r>
          </a:p>
          <a:p>
            <a:pPr algn="ctr">
              <a:lnSpc>
                <a:spcPct val="100000"/>
              </a:lnSpc>
            </a:pPr>
            <a:r>
              <a:rPr lang="tr-TR" sz="1143" b="0">
                <a:solidFill>
                  <a:srgbClr val="000000"/>
                </a:solidFill>
                <a:latin typeface="Arial"/>
              </a:rPr>
              <a:t>belirtimi</a:t>
            </a:r>
          </a:p>
        </p:txBody>
      </p:sp>
      <p:sp>
        <p:nvSpPr>
          <p:cNvPr id="20484" name="Türkçe şema etiketi 20484"/>
          <p:cNvSpPr txBox="1"/>
          <p:nvPr/>
        </p:nvSpPr>
        <p:spPr>
          <a:xfrm>
            <a:off x="2295660" y="2295912"/>
            <a:ext cx="897510" cy="38124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110" b="0">
                <a:solidFill>
                  <a:srgbClr val="000000"/>
                </a:solidFill>
                <a:latin typeface="Arial"/>
              </a:rPr>
              <a:t>Sistem</a:t>
            </a:r>
          </a:p>
          <a:p>
            <a:pPr algn="ctr">
              <a:lnSpc>
                <a:spcPct val="100000"/>
              </a:lnSpc>
            </a:pPr>
            <a:r>
              <a:rPr lang="tr-TR" sz="1110" b="0">
                <a:solidFill>
                  <a:srgbClr val="000000"/>
                </a:solidFill>
                <a:latin typeface="Arial"/>
              </a:rPr>
              <a:t>belirtimi</a:t>
            </a:r>
          </a:p>
        </p:txBody>
      </p:sp>
      <p:sp>
        <p:nvSpPr>
          <p:cNvPr id="20485" name="Türkçe şema etiketi 20485"/>
          <p:cNvSpPr txBox="1"/>
          <p:nvPr/>
        </p:nvSpPr>
        <p:spPr>
          <a:xfrm>
            <a:off x="4157162" y="2243491"/>
            <a:ext cx="826279" cy="42890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208" b="0">
                <a:solidFill>
                  <a:srgbClr val="000000"/>
                </a:solidFill>
                <a:latin typeface="Arial"/>
              </a:rPr>
              <a:t>Sistem</a:t>
            </a:r>
          </a:p>
          <a:p>
            <a:pPr algn="ctr">
              <a:lnSpc>
                <a:spcPct val="100000"/>
              </a:lnSpc>
            </a:pPr>
            <a:r>
              <a:rPr lang="tr-TR" sz="1208" b="0">
                <a:solidFill>
                  <a:srgbClr val="000000"/>
                </a:solidFill>
                <a:latin typeface="Arial"/>
              </a:rPr>
              <a:t>tasarımı</a:t>
            </a:r>
          </a:p>
        </p:txBody>
      </p:sp>
      <p:sp>
        <p:nvSpPr>
          <p:cNvPr id="20486" name="Türkçe şema etiketi 20486"/>
          <p:cNvSpPr txBox="1"/>
          <p:nvPr/>
        </p:nvSpPr>
        <p:spPr>
          <a:xfrm>
            <a:off x="1369657" y="3439650"/>
            <a:ext cx="944997" cy="4479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208" b="0">
                <a:solidFill>
                  <a:srgbClr val="000000"/>
                </a:solidFill>
                <a:latin typeface="Arial"/>
              </a:rPr>
              <a:t>Kabul</a:t>
            </a:r>
          </a:p>
          <a:p>
            <a:pPr algn="ctr">
              <a:lnSpc>
                <a:spcPct val="100000"/>
              </a:lnSpc>
            </a:pPr>
            <a:r>
              <a:rPr lang="tr-TR" sz="1208" b="0">
                <a:solidFill>
                  <a:srgbClr val="000000"/>
                </a:solidFill>
                <a:latin typeface="Arial"/>
              </a:rPr>
              <a:t>test planı</a:t>
            </a:r>
          </a:p>
        </p:txBody>
      </p:sp>
      <p:sp>
        <p:nvSpPr>
          <p:cNvPr id="20487" name="Türkçe şema etiketi 20487"/>
          <p:cNvSpPr txBox="1"/>
          <p:nvPr/>
        </p:nvSpPr>
        <p:spPr>
          <a:xfrm>
            <a:off x="3183672" y="3330042"/>
            <a:ext cx="954495" cy="63382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077" b="0">
                <a:solidFill>
                  <a:srgbClr val="000000"/>
                </a:solidFill>
                <a:latin typeface="Arial"/>
              </a:rPr>
              <a:t>Sistem</a:t>
            </a:r>
          </a:p>
          <a:p>
            <a:pPr algn="ctr">
              <a:lnSpc>
                <a:spcPct val="100000"/>
              </a:lnSpc>
            </a:pPr>
            <a:r>
              <a:rPr lang="tr-TR" sz="1077" b="0">
                <a:solidFill>
                  <a:srgbClr val="000000"/>
                </a:solidFill>
                <a:latin typeface="Arial"/>
              </a:rPr>
              <a:t>bütünleştirme</a:t>
            </a:r>
          </a:p>
          <a:p>
            <a:pPr algn="ctr">
              <a:lnSpc>
                <a:spcPct val="100000"/>
              </a:lnSpc>
            </a:pPr>
            <a:r>
              <a:rPr lang="tr-TR" sz="1077" b="0">
                <a:solidFill>
                  <a:srgbClr val="000000"/>
                </a:solidFill>
                <a:latin typeface="Arial"/>
              </a:rPr>
              <a:t>test planı</a:t>
            </a:r>
          </a:p>
        </p:txBody>
      </p:sp>
      <p:sp>
        <p:nvSpPr>
          <p:cNvPr id="20488" name="Türkçe şema etiketi 20488"/>
          <p:cNvSpPr txBox="1"/>
          <p:nvPr/>
        </p:nvSpPr>
        <p:spPr>
          <a:xfrm>
            <a:off x="5985423" y="2243491"/>
            <a:ext cx="759797" cy="42890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012" b="0">
                <a:solidFill>
                  <a:srgbClr val="000000"/>
                </a:solidFill>
                <a:latin typeface="Arial"/>
              </a:rPr>
              <a:t>Ayrıntılı</a:t>
            </a:r>
          </a:p>
          <a:p>
            <a:pPr algn="ctr">
              <a:lnSpc>
                <a:spcPct val="100000"/>
              </a:lnSpc>
            </a:pPr>
            <a:r>
              <a:rPr lang="tr-TR" sz="1012" b="0">
                <a:solidFill>
                  <a:srgbClr val="000000"/>
                </a:solidFill>
                <a:latin typeface="Arial"/>
              </a:rPr>
              <a:t>tasarım</a:t>
            </a:r>
          </a:p>
        </p:txBody>
      </p:sp>
      <p:sp>
        <p:nvSpPr>
          <p:cNvPr id="20489" name="Türkçe şema etiketi 20489"/>
          <p:cNvSpPr txBox="1"/>
          <p:nvPr/>
        </p:nvSpPr>
        <p:spPr>
          <a:xfrm>
            <a:off x="5035677" y="3391995"/>
            <a:ext cx="831028" cy="581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947" b="0">
                <a:solidFill>
                  <a:srgbClr val="000000"/>
                </a:solidFill>
                <a:latin typeface="Arial"/>
              </a:rPr>
              <a:t>Alt sistem</a:t>
            </a:r>
          </a:p>
          <a:p>
            <a:pPr algn="ctr">
              <a:lnSpc>
                <a:spcPct val="100000"/>
              </a:lnSpc>
            </a:pPr>
            <a:r>
              <a:rPr lang="tr-TR" sz="947" b="0">
                <a:solidFill>
                  <a:srgbClr val="000000"/>
                </a:solidFill>
                <a:latin typeface="Arial"/>
              </a:rPr>
              <a:t>bütünleştirme</a:t>
            </a:r>
          </a:p>
          <a:p>
            <a:pPr algn="ctr">
              <a:lnSpc>
                <a:spcPct val="100000"/>
              </a:lnSpc>
            </a:pPr>
            <a:r>
              <a:rPr lang="tr-TR" sz="947" b="0">
                <a:solidFill>
                  <a:srgbClr val="000000"/>
                </a:solidFill>
                <a:latin typeface="Arial"/>
              </a:rPr>
              <a:t>test planı</a:t>
            </a:r>
          </a:p>
        </p:txBody>
      </p:sp>
      <p:sp>
        <p:nvSpPr>
          <p:cNvPr id="20490" name="Türkçe şema etiketi 20490"/>
          <p:cNvSpPr txBox="1"/>
          <p:nvPr/>
        </p:nvSpPr>
        <p:spPr>
          <a:xfrm>
            <a:off x="7709212" y="3377698"/>
            <a:ext cx="869018" cy="5432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947" b="0">
                <a:solidFill>
                  <a:srgbClr val="000000"/>
                </a:solidFill>
                <a:latin typeface="Arial"/>
              </a:rPr>
              <a:t>Modül ve</a:t>
            </a:r>
          </a:p>
          <a:p>
            <a:pPr algn="ctr">
              <a:lnSpc>
                <a:spcPct val="100000"/>
              </a:lnSpc>
            </a:pPr>
            <a:r>
              <a:rPr lang="tr-TR" sz="947" b="0">
                <a:solidFill>
                  <a:srgbClr val="000000"/>
                </a:solidFill>
                <a:latin typeface="Arial"/>
              </a:rPr>
              <a:t>birim kodlama</a:t>
            </a:r>
          </a:p>
          <a:p>
            <a:pPr algn="ctr">
              <a:lnSpc>
                <a:spcPct val="100000"/>
              </a:lnSpc>
            </a:pPr>
            <a:r>
              <a:rPr lang="tr-TR" sz="947" b="0">
                <a:solidFill>
                  <a:srgbClr val="000000"/>
                </a:solidFill>
                <a:latin typeface="Arial"/>
              </a:rPr>
              <a:t>ve testi</a:t>
            </a:r>
          </a:p>
        </p:txBody>
      </p:sp>
      <p:sp>
        <p:nvSpPr>
          <p:cNvPr id="20491" name="Türkçe şema etiketi 20491"/>
          <p:cNvSpPr txBox="1"/>
          <p:nvPr/>
        </p:nvSpPr>
        <p:spPr>
          <a:xfrm>
            <a:off x="2281413" y="4607216"/>
            <a:ext cx="907007" cy="41460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175" b="0">
                <a:solidFill>
                  <a:srgbClr val="000000"/>
                </a:solidFill>
                <a:latin typeface="Arial"/>
              </a:rPr>
              <a:t>Kabul</a:t>
            </a:r>
          </a:p>
          <a:p>
            <a:pPr algn="ctr">
              <a:lnSpc>
                <a:spcPct val="100000"/>
              </a:lnSpc>
            </a:pPr>
            <a:r>
              <a:rPr lang="tr-TR" sz="1175" b="0">
                <a:solidFill>
                  <a:srgbClr val="000000"/>
                </a:solidFill>
                <a:latin typeface="Arial"/>
              </a:rPr>
              <a:t>testi</a:t>
            </a:r>
          </a:p>
        </p:txBody>
      </p:sp>
      <p:sp>
        <p:nvSpPr>
          <p:cNvPr id="20492" name="Türkçe şema etiketi 20492"/>
          <p:cNvSpPr txBox="1"/>
          <p:nvPr/>
        </p:nvSpPr>
        <p:spPr>
          <a:xfrm>
            <a:off x="704835" y="4754949"/>
            <a:ext cx="517612" cy="16679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947" b="0">
                <a:solidFill>
                  <a:srgbClr val="000000"/>
                </a:solidFill>
                <a:latin typeface="Arial"/>
              </a:rPr>
              <a:t>Hizmet</a:t>
            </a:r>
          </a:p>
        </p:txBody>
      </p:sp>
      <p:sp>
        <p:nvSpPr>
          <p:cNvPr id="20493" name="Türkçe şema etiketi 20493"/>
          <p:cNvSpPr txBox="1"/>
          <p:nvPr/>
        </p:nvSpPr>
        <p:spPr>
          <a:xfrm>
            <a:off x="4000454" y="4664403"/>
            <a:ext cx="1087459" cy="38124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881" b="0">
                <a:solidFill>
                  <a:srgbClr val="000000"/>
                </a:solidFill>
                <a:latin typeface="Arial"/>
              </a:rPr>
              <a:t>Sistem</a:t>
            </a:r>
          </a:p>
          <a:p>
            <a:pPr algn="ctr">
              <a:lnSpc>
                <a:spcPct val="100000"/>
              </a:lnSpc>
            </a:pPr>
            <a:r>
              <a:rPr lang="tr-TR" sz="881" b="0">
                <a:solidFill>
                  <a:srgbClr val="000000"/>
                </a:solidFill>
                <a:latin typeface="Arial"/>
              </a:rPr>
              <a:t>bütünleştirme testi</a:t>
            </a:r>
          </a:p>
        </p:txBody>
      </p:sp>
      <p:sp>
        <p:nvSpPr>
          <p:cNvPr id="20494" name="Türkçe şema etiketi 20494"/>
          <p:cNvSpPr txBox="1"/>
          <p:nvPr/>
        </p:nvSpPr>
        <p:spPr>
          <a:xfrm>
            <a:off x="5790725" y="4654872"/>
            <a:ext cx="1092208" cy="39077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881" b="0">
                <a:solidFill>
                  <a:srgbClr val="000000"/>
                </a:solidFill>
                <a:latin typeface="Arial"/>
              </a:rPr>
              <a:t>Alt sistem</a:t>
            </a:r>
          </a:p>
          <a:p>
            <a:pPr algn="ctr">
              <a:lnSpc>
                <a:spcPct val="100000"/>
              </a:lnSpc>
            </a:pPr>
            <a:r>
              <a:rPr lang="tr-TR" sz="881" b="0">
                <a:solidFill>
                  <a:srgbClr val="000000"/>
                </a:solidFill>
                <a:latin typeface="Arial"/>
              </a:rPr>
              <a:t>bütünleştirme testi</a:t>
            </a:r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Yazılımın evrimi</a:t>
            </a:r>
            <a:endParaRPr lang="en-GB"/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smtClean="0"/>
              <a:t>Yazılım doğası gereği esnektir ve değişebilir.</a:t>
            </a:r>
          </a:p>
          <a:p>
            <a:r>
              <a:rPr lang="tr-TR" smtClean="0"/>
              <a:t>İş koşullarındaki değişiklikler gereksinimleri değiştirdikçe, işi destekleyen yazılım da evrilmeli ve değişmelidir.</a:t>
            </a:r>
          </a:p>
          <a:p>
            <a:r>
              <a:rPr lang="tr-TR" smtClean="0"/>
              <a:t>Geliştirme ile evrim (bakım) arasında bir ayrım yapılmış olsa da tamamen yeni sistemler giderek azaldığı için bu ayrım önemini kaybetmektedir.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Sistemin evrimi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pic>
        <p:nvPicPr>
          <p:cNvPr id="4" name="Picture 3" descr="2.8 System evolution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78" y="2563931"/>
            <a:ext cx="7567072" cy="232833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21507" name="Türkçe şema etiketi 21507"/>
          <p:cNvSpPr txBox="1"/>
          <p:nvPr/>
        </p:nvSpPr>
        <p:spPr>
          <a:xfrm>
            <a:off x="952595" y="3058930"/>
            <a:ext cx="1300685" cy="5194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005" b="0">
                <a:solidFill>
                  <a:srgbClr val="000000"/>
                </a:solidFill>
                <a:latin typeface="Arial"/>
              </a:rPr>
              <a:t>Sistem</a:t>
            </a:r>
          </a:p>
          <a:p>
            <a:pPr algn="ctr">
              <a:lnSpc>
                <a:spcPct val="100000"/>
              </a:lnSpc>
            </a:pPr>
            <a:r>
              <a:rPr lang="tr-TR" sz="1005" b="0">
                <a:solidFill>
                  <a:srgbClr val="000000"/>
                </a:solidFill>
                <a:latin typeface="Arial"/>
              </a:rPr>
              <a:t>gereksinimlerini</a:t>
            </a:r>
          </a:p>
          <a:p>
            <a:pPr algn="ctr">
              <a:lnSpc>
                <a:spcPct val="100000"/>
              </a:lnSpc>
            </a:pPr>
            <a:r>
              <a:rPr lang="tr-TR" sz="1005" b="0">
                <a:solidFill>
                  <a:srgbClr val="000000"/>
                </a:solidFill>
                <a:latin typeface="Arial"/>
              </a:rPr>
              <a:t>tanımla</a:t>
            </a:r>
          </a:p>
        </p:txBody>
      </p:sp>
      <p:sp>
        <p:nvSpPr>
          <p:cNvPr id="21508" name="Türkçe şema etiketi 21508"/>
          <p:cNvSpPr txBox="1"/>
          <p:nvPr/>
        </p:nvSpPr>
        <p:spPr>
          <a:xfrm>
            <a:off x="2897545" y="3058930"/>
            <a:ext cx="1367543" cy="5194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172" b="0">
                <a:solidFill>
                  <a:srgbClr val="000000"/>
                </a:solidFill>
                <a:latin typeface="Arial"/>
              </a:rPr>
              <a:t>Mevcut sistemleri</a:t>
            </a:r>
          </a:p>
          <a:p>
            <a:pPr algn="ctr">
              <a:lnSpc>
                <a:spcPct val="100000"/>
              </a:lnSpc>
            </a:pPr>
            <a:r>
              <a:rPr lang="tr-TR" sz="1172" b="0">
                <a:solidFill>
                  <a:srgbClr val="000000"/>
                </a:solidFill>
                <a:latin typeface="Arial"/>
              </a:rPr>
              <a:t>değerlendir</a:t>
            </a:r>
          </a:p>
        </p:txBody>
      </p:sp>
      <p:sp>
        <p:nvSpPr>
          <p:cNvPr id="21509" name="Türkçe şema etiketi 21509"/>
          <p:cNvSpPr txBox="1"/>
          <p:nvPr/>
        </p:nvSpPr>
        <p:spPr>
          <a:xfrm>
            <a:off x="2690894" y="4262817"/>
            <a:ext cx="747590" cy="48277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256" b="0">
                <a:solidFill>
                  <a:srgbClr val="000000"/>
                </a:solidFill>
                <a:latin typeface="Arial"/>
              </a:rPr>
              <a:t>Mevcut</a:t>
            </a:r>
          </a:p>
          <a:p>
            <a:pPr algn="ctr">
              <a:lnSpc>
                <a:spcPct val="100000"/>
              </a:lnSpc>
            </a:pPr>
            <a:r>
              <a:rPr lang="tr-TR" sz="1256" b="0">
                <a:solidFill>
                  <a:srgbClr val="000000"/>
                </a:solidFill>
                <a:latin typeface="Arial"/>
              </a:rPr>
              <a:t>sistemler</a:t>
            </a:r>
          </a:p>
        </p:txBody>
      </p:sp>
      <p:sp>
        <p:nvSpPr>
          <p:cNvPr id="21510" name="Türkçe şema etiketi 21510"/>
          <p:cNvSpPr txBox="1"/>
          <p:nvPr/>
        </p:nvSpPr>
        <p:spPr>
          <a:xfrm>
            <a:off x="4878963" y="3077264"/>
            <a:ext cx="1440479" cy="5011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088" b="0">
                <a:solidFill>
                  <a:srgbClr val="000000"/>
                </a:solidFill>
                <a:latin typeface="Arial"/>
              </a:rPr>
              <a:t>Sistem değişiklikleri</a:t>
            </a:r>
          </a:p>
          <a:p>
            <a:pPr algn="ctr">
              <a:lnSpc>
                <a:spcPct val="100000"/>
              </a:lnSpc>
            </a:pPr>
            <a:r>
              <a:rPr lang="tr-TR" sz="1088" b="0">
                <a:solidFill>
                  <a:srgbClr val="000000"/>
                </a:solidFill>
                <a:latin typeface="Arial"/>
              </a:rPr>
              <a:t>öner</a:t>
            </a:r>
          </a:p>
        </p:txBody>
      </p:sp>
      <p:sp>
        <p:nvSpPr>
          <p:cNvPr id="21511" name="Türkçe şema etiketi 21511"/>
          <p:cNvSpPr txBox="1"/>
          <p:nvPr/>
        </p:nvSpPr>
        <p:spPr>
          <a:xfrm>
            <a:off x="7133890" y="3058930"/>
            <a:ext cx="747590" cy="5194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130" b="0">
                <a:solidFill>
                  <a:srgbClr val="000000"/>
                </a:solidFill>
                <a:latin typeface="Arial"/>
              </a:rPr>
              <a:t>Sistemleri</a:t>
            </a:r>
          </a:p>
          <a:p>
            <a:pPr algn="ctr">
              <a:lnSpc>
                <a:spcPct val="100000"/>
              </a:lnSpc>
            </a:pPr>
            <a:r>
              <a:rPr lang="tr-TR" sz="1130" b="0">
                <a:solidFill>
                  <a:srgbClr val="000000"/>
                </a:solidFill>
                <a:latin typeface="Arial"/>
              </a:rPr>
              <a:t>değiştir</a:t>
            </a:r>
          </a:p>
        </p:txBody>
      </p:sp>
      <p:sp>
        <p:nvSpPr>
          <p:cNvPr id="21512" name="Türkçe şema etiketi 21512"/>
          <p:cNvSpPr txBox="1"/>
          <p:nvPr/>
        </p:nvSpPr>
        <p:spPr>
          <a:xfrm>
            <a:off x="7182514" y="4275040"/>
            <a:ext cx="650343" cy="4705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381" b="0">
                <a:solidFill>
                  <a:srgbClr val="000000"/>
                </a:solidFill>
                <a:latin typeface="Arial"/>
              </a:rPr>
              <a:t>Yeni</a:t>
            </a:r>
          </a:p>
          <a:p>
            <a:pPr algn="ctr">
              <a:lnSpc>
                <a:spcPct val="100000"/>
              </a:lnSpc>
            </a:pPr>
            <a:r>
              <a:rPr lang="tr-TR" sz="1381" b="0">
                <a:solidFill>
                  <a:srgbClr val="000000"/>
                </a:solidFill>
                <a:latin typeface="Arial"/>
              </a:rPr>
              <a:t>sistem</a:t>
            </a:r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80722"/>
            <a:ext cx="8229600" cy="1143000"/>
          </a:xfrm>
        </p:spPr>
        <p:txBody>
          <a:bodyPr/>
          <a:lstStyle/>
          <a:p>
            <a:pPr algn="ctr"/>
            <a:r>
              <a:rPr lang="tr-TR" dirty="0" smtClean="0"/>
              <a:t>Değişimle başa çıkma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39441"/>
      </p:ext>
    </p:extLst>
  </p:cSld>
  <p:clrMapOvr>
    <a:masterClrMapping/>
  </p:clrMapOvr>
  <p:transition xmlns:p14="http://schemas.microsoft.com/office/powerpoint/2010/main"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Değişimle başa çıkma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Tüm büyük yazılım projelerinde değişim kaçınılmazdır.</a:t>
            </a:r>
          </a:p>
          <a:p>
            <a:pPr lvl="1"/>
            <a:r>
              <a:rPr lang="tr-TR" dirty="0" smtClean="0"/>
              <a:t>İş değişiklikleri, yeni ve değişmiş sistem gereksinimlerine yol açar.</a:t>
            </a:r>
          </a:p>
          <a:p>
            <a:pPr lvl="1"/>
            <a:r>
              <a:rPr lang="tr-TR" dirty="0" smtClean="0"/>
              <a:t>Yeni teknolojiler, gerçekleştirimleri iyileştirmek için yeni olanaklar sunar.</a:t>
            </a:r>
          </a:p>
          <a:p>
            <a:pPr lvl="1"/>
            <a:r>
              <a:rPr lang="tr-TR" dirty="0" smtClean="0"/>
              <a:t>Platform değişiklikleri, uygulama değişiklikleri gerektirir.</a:t>
            </a:r>
          </a:p>
          <a:p>
            <a:r>
              <a:rPr lang="tr-TR" dirty="0" smtClean="0"/>
              <a:t>Değişim yeniden çalışmaya yol açar. Bu nedenle değişim maliyetleri, hem yeniden çalışma (örneğin gereksinimleri yeniden analiz etme) hem de yeni işlevleri gerçekleştirme maliyetlerini içerir.</a:t>
            </a:r>
            <a:r>
              <a:rPr lang="tr-TR" dirty="0" err="1" smtClean="0"/>
              <a:t/>
            </a:r>
            <a:r>
              <a:rPr lang="tr-TR" dirty="0" smtClean="0"/>
              <a:t/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Yeniden çalışma maliyetlerini azaltma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Değişimi öngörme: Yazılım süreci, önemli miktarda yeniden çalışma gerekmeden olası değişiklikleri öngören faaliyetler içerir.</a:t>
            </a:r>
          </a:p>
          <a:p>
            <a:pPr lvl="1"/>
            <a:r>
              <a:rPr lang="tr-TR" dirty="0" smtClean="0"/>
              <a:t>Örneğin sistemin bazı temel özelliklerini müşterilere göstermek için bir prototip geliştirilebilir.</a:t>
            </a:r>
          </a:p>
          <a:p>
            <a:r>
              <a:rPr lang="tr-TR" dirty="0" smtClean="0"/>
              <a:t>Değişime tolerans: Süreç, değişikliklere görece düşük maliyetle uyum sağlayacak biçimde tasarlanır.</a:t>
            </a:r>
          </a:p>
          <a:p>
            <a:pPr lvl="1"/>
            <a:r>
              <a:rPr lang="tr-TR" dirty="0" smtClean="0"/>
              <a:t>Bu genellikle bir tür artımlı geliştirme içerir. Önerilen değişiklikler henüz geliştirilmemiş artımlarda gerçekleştirilebilir. Bu mümkün değilse, değişikliği dahil etmek için yalnızca bir artımın (sistemin küçük bir bölümünün) değiştirilmesi gerekebilir.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Değişen gereksinimlerle başa çıkma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Sistem prototipleme: Müşteri gereksinimlerini ve tasarım kararlarının uygulanabilirliğini kontrol etmek için sistemin veya bir bölümünün sürümü hızla geliştirilir. Bu yaklaşım değişimi öngörmeyi destekler.</a:t>
            </a:r>
            <a:r>
              <a:rPr lang="tr-TR" dirty="0" smtClean="0"/>
              <a:t/>
            </a:r>
          </a:p>
          <a:p>
            <a:r>
              <a:rPr lang="tr-TR" dirty="0"/>
              <a:t>Artımlı teslim: Sistem artımları, yorum yapması ve denemesi için müşteriye teslim edilir. Bu, hem değişimden kaçınmayı hem de değişime toleransı destekler.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83247"/>
      </p:ext>
    </p:extLst>
  </p:cSld>
  <p:clrMapOvr>
    <a:masterClrMapping/>
  </p:clrMapOvr>
  <p:transition xmlns:p14="http://schemas.microsoft.com/office/powerpoint/2010/main"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Yazılım prototipleme</a:t>
            </a:r>
            <a:endParaRPr lang="en-US"/>
          </a:p>
        </p:txBody>
      </p:sp>
      <p:sp>
        <p:nvSpPr>
          <p:cNvPr id="1178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smtClean="0"/>
              <a:t>Prototip, kavramları göstermek ve tasarım seçeneklerini denemek için kullanılan ilk sistem sürümüdür.</a:t>
            </a:r>
          </a:p>
          <a:p>
            <a:r>
              <a:rPr lang="tr-TR" smtClean="0"/>
              <a:t>Prototip şu alanlarda kullanılabilir:</a:t>
            </a:r>
          </a:p>
          <a:p>
            <a:pPr lvl="1"/>
            <a:r>
              <a:rPr lang="tr-TR" smtClean="0"/>
              <a:t>Gereksinimleri ortaya çıkarmaya ve geçerlemeye yardımcı olmak için gereksinim mühendisliği sürecinde.</a:t>
            </a:r>
          </a:p>
          <a:p>
            <a:pPr lvl="1"/>
            <a:r>
              <a:rPr lang="tr-TR" smtClean="0"/>
              <a:t>Seçenekleri araştırmak ve kullanıcı arayüzü tasarımını geliştirmek için tasarım süreçlerinde.</a:t>
            </a:r>
          </a:p>
          <a:p>
            <a:pPr lvl="1"/>
            <a:r>
              <a:rPr lang="tr-TR" smtClean="0"/>
              <a:t>Karşılaştırmalı testler yürütmek için test sürecinde.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Prototiplemenin yararları</a:t>
            </a:r>
            <a:endParaRPr lang="en-US"/>
          </a:p>
        </p:txBody>
      </p:sp>
      <p:sp>
        <p:nvSpPr>
          <p:cNvPr id="1182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smtClean="0"/>
              <a:t>Daha iyi sistem kullanılabilirliği.</a:t>
            </a:r>
          </a:p>
          <a:p>
            <a:r>
              <a:rPr lang="tr-TR" smtClean="0"/>
              <a:t>Kullanıcıların gerçek ihtiyaçlarına daha yakın uyum.</a:t>
            </a:r>
          </a:p>
          <a:p>
            <a:r>
              <a:rPr lang="tr-TR" smtClean="0"/>
              <a:t>Daha iyi tasarım kalitesi.</a:t>
            </a:r>
          </a:p>
          <a:p>
            <a:r>
              <a:rPr lang="tr-TR" smtClean="0"/>
              <a:t>Daha iyi bakım yapılabilirlik.</a:t>
            </a:r>
          </a:p>
          <a:p>
            <a:r>
              <a:rPr lang="tr-TR" smtClean="0"/>
              <a:t>Daha az geliştirme çabası.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Prototip geliştirme süreci</a:t>
            </a:r>
            <a:br>
              <a:rPr lang="tr-TR" dirty="0" smtClean="0"/>
            </a:b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pic>
        <p:nvPicPr>
          <p:cNvPr id="4" name="Picture 3" descr="2.9 Prototype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75" y="2608352"/>
            <a:ext cx="7627164" cy="216292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22531" name="Türkçe şema etiketi 22531"/>
          <p:cNvSpPr txBox="1"/>
          <p:nvPr/>
        </p:nvSpPr>
        <p:spPr>
          <a:xfrm>
            <a:off x="1380638" y="2701205"/>
            <a:ext cx="831060" cy="69366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235" b="0">
                <a:solidFill>
                  <a:srgbClr val="000000"/>
                </a:solidFill>
                <a:latin typeface="Arial"/>
              </a:rPr>
              <a:t>Prototip</a:t>
            </a:r>
          </a:p>
          <a:p>
            <a:pPr algn="ctr">
              <a:lnSpc>
                <a:spcPct val="100000"/>
              </a:lnSpc>
            </a:pPr>
            <a:r>
              <a:rPr lang="tr-TR" sz="1235" b="0">
                <a:solidFill>
                  <a:srgbClr val="000000"/>
                </a:solidFill>
                <a:latin typeface="Arial"/>
              </a:rPr>
              <a:t>hedeflerini</a:t>
            </a:r>
          </a:p>
          <a:p>
            <a:pPr algn="ctr">
              <a:lnSpc>
                <a:spcPct val="100000"/>
              </a:lnSpc>
            </a:pPr>
            <a:r>
              <a:rPr lang="tr-TR" sz="1235" b="0">
                <a:solidFill>
                  <a:srgbClr val="000000"/>
                </a:solidFill>
                <a:latin typeface="Arial"/>
              </a:rPr>
              <a:t>belirle</a:t>
            </a:r>
          </a:p>
        </p:txBody>
      </p:sp>
      <p:sp>
        <p:nvSpPr>
          <p:cNvPr id="22532" name="Türkçe şema etiketi 22532"/>
          <p:cNvSpPr txBox="1"/>
          <p:nvPr/>
        </p:nvSpPr>
        <p:spPr>
          <a:xfrm>
            <a:off x="1249418" y="4143156"/>
            <a:ext cx="1104435" cy="480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310" b="0">
                <a:solidFill>
                  <a:srgbClr val="000000"/>
                </a:solidFill>
                <a:latin typeface="Arial"/>
              </a:rPr>
              <a:t>Prototipleme</a:t>
            </a:r>
          </a:p>
          <a:p>
            <a:pPr algn="ctr">
              <a:lnSpc>
                <a:spcPct val="100000"/>
              </a:lnSpc>
            </a:pPr>
            <a:r>
              <a:rPr lang="tr-TR" sz="1310" b="0">
                <a:solidFill>
                  <a:srgbClr val="000000"/>
                </a:solidFill>
                <a:latin typeface="Arial"/>
              </a:rPr>
              <a:t>planı</a:t>
            </a:r>
          </a:p>
        </p:txBody>
      </p:sp>
      <p:sp>
        <p:nvSpPr>
          <p:cNvPr id="22533" name="Türkçe şema etiketi 22533"/>
          <p:cNvSpPr txBox="1"/>
          <p:nvPr/>
        </p:nvSpPr>
        <p:spPr>
          <a:xfrm>
            <a:off x="3234120" y="2701205"/>
            <a:ext cx="1033358" cy="69366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347" b="0">
                <a:solidFill>
                  <a:srgbClr val="000000"/>
                </a:solidFill>
                <a:latin typeface="Arial"/>
              </a:rPr>
              <a:t>Prototip</a:t>
            </a:r>
          </a:p>
          <a:p>
            <a:pPr algn="ctr">
              <a:lnSpc>
                <a:spcPct val="100000"/>
              </a:lnSpc>
            </a:pPr>
            <a:r>
              <a:rPr lang="tr-TR" sz="1347" b="0">
                <a:solidFill>
                  <a:srgbClr val="000000"/>
                </a:solidFill>
                <a:latin typeface="Arial"/>
              </a:rPr>
              <a:t>işlevlerini</a:t>
            </a:r>
          </a:p>
          <a:p>
            <a:pPr algn="ctr">
              <a:lnSpc>
                <a:spcPct val="100000"/>
              </a:lnSpc>
            </a:pPr>
            <a:r>
              <a:rPr lang="tr-TR" sz="1347" b="0">
                <a:solidFill>
                  <a:srgbClr val="000000"/>
                </a:solidFill>
                <a:latin typeface="Arial"/>
              </a:rPr>
              <a:t>tanımla</a:t>
            </a:r>
          </a:p>
        </p:txBody>
      </p:sp>
      <p:sp>
        <p:nvSpPr>
          <p:cNvPr id="22534" name="Türkçe şema etiketi 22534"/>
          <p:cNvSpPr txBox="1"/>
          <p:nvPr/>
        </p:nvSpPr>
        <p:spPr>
          <a:xfrm>
            <a:off x="3354405" y="4154080"/>
            <a:ext cx="792788" cy="42056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861" b="0">
                <a:solidFill>
                  <a:srgbClr val="000000"/>
                </a:solidFill>
                <a:latin typeface="Arial"/>
              </a:rPr>
              <a:t>Ana hatlarıyla</a:t>
            </a:r>
          </a:p>
          <a:p>
            <a:pPr algn="ctr">
              <a:lnSpc>
                <a:spcPct val="100000"/>
              </a:lnSpc>
            </a:pPr>
            <a:r>
              <a:rPr lang="tr-TR" sz="861" b="0">
                <a:solidFill>
                  <a:srgbClr val="000000"/>
                </a:solidFill>
                <a:latin typeface="Arial"/>
              </a:rPr>
              <a:t>tanım</a:t>
            </a:r>
          </a:p>
        </p:txBody>
      </p:sp>
      <p:sp>
        <p:nvSpPr>
          <p:cNvPr id="22535" name="Türkçe şema etiketi 22535"/>
          <p:cNvSpPr txBox="1"/>
          <p:nvPr/>
        </p:nvSpPr>
        <p:spPr>
          <a:xfrm>
            <a:off x="5344576" y="2837753"/>
            <a:ext cx="798255" cy="4642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384" b="0">
                <a:solidFill>
                  <a:srgbClr val="000000"/>
                </a:solidFill>
                <a:latin typeface="Arial"/>
              </a:rPr>
              <a:t>Prototipi</a:t>
            </a:r>
          </a:p>
          <a:p>
            <a:pPr algn="ctr">
              <a:lnSpc>
                <a:spcPct val="100000"/>
              </a:lnSpc>
            </a:pPr>
            <a:r>
              <a:rPr lang="tr-TR" sz="1384" b="0">
                <a:solidFill>
                  <a:srgbClr val="000000"/>
                </a:solidFill>
                <a:latin typeface="Arial"/>
              </a:rPr>
              <a:t>geliştir</a:t>
            </a:r>
          </a:p>
        </p:txBody>
      </p:sp>
      <p:sp>
        <p:nvSpPr>
          <p:cNvPr id="22536" name="Türkçe şema etiketi 22536"/>
          <p:cNvSpPr txBox="1"/>
          <p:nvPr/>
        </p:nvSpPr>
        <p:spPr>
          <a:xfrm>
            <a:off x="5300836" y="4154080"/>
            <a:ext cx="885735" cy="4642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010" b="0">
                <a:solidFill>
                  <a:srgbClr val="000000"/>
                </a:solidFill>
                <a:latin typeface="Arial"/>
              </a:rPr>
              <a:t>Çalıştırılabilir</a:t>
            </a:r>
          </a:p>
          <a:p>
            <a:pPr algn="ctr">
              <a:lnSpc>
                <a:spcPct val="100000"/>
              </a:lnSpc>
            </a:pPr>
            <a:r>
              <a:rPr lang="tr-TR" sz="1010" b="0">
                <a:solidFill>
                  <a:srgbClr val="000000"/>
                </a:solidFill>
                <a:latin typeface="Arial"/>
              </a:rPr>
              <a:t>prototip</a:t>
            </a:r>
          </a:p>
        </p:txBody>
      </p:sp>
      <p:sp>
        <p:nvSpPr>
          <p:cNvPr id="22537" name="Türkçe şema etiketi 22537"/>
          <p:cNvSpPr txBox="1"/>
          <p:nvPr/>
        </p:nvSpPr>
        <p:spPr>
          <a:xfrm>
            <a:off x="7329279" y="2837753"/>
            <a:ext cx="803723" cy="4642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085" b="0">
                <a:solidFill>
                  <a:srgbClr val="000000"/>
                </a:solidFill>
                <a:latin typeface="Arial"/>
              </a:rPr>
              <a:t>Prototipi</a:t>
            </a:r>
          </a:p>
          <a:p>
            <a:pPr algn="ctr">
              <a:lnSpc>
                <a:spcPct val="100000"/>
              </a:lnSpc>
            </a:pPr>
            <a:r>
              <a:rPr lang="tr-TR" sz="1085" b="0">
                <a:solidFill>
                  <a:srgbClr val="000000"/>
                </a:solidFill>
                <a:latin typeface="Arial"/>
              </a:rPr>
              <a:t>değerlendir</a:t>
            </a:r>
          </a:p>
        </p:txBody>
      </p:sp>
      <p:sp>
        <p:nvSpPr>
          <p:cNvPr id="22538" name="Türkçe şema etiketi 22538"/>
          <p:cNvSpPr txBox="1"/>
          <p:nvPr/>
        </p:nvSpPr>
        <p:spPr>
          <a:xfrm>
            <a:off x="7307409" y="4154080"/>
            <a:ext cx="847463" cy="4642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861" b="0">
                <a:solidFill>
                  <a:srgbClr val="000000"/>
                </a:solidFill>
                <a:latin typeface="Arial"/>
              </a:rPr>
              <a:t>Değerlendirme</a:t>
            </a:r>
          </a:p>
          <a:p>
            <a:pPr algn="ctr">
              <a:lnSpc>
                <a:spcPct val="100000"/>
              </a:lnSpc>
            </a:pPr>
            <a:r>
              <a:rPr lang="tr-TR" sz="861" b="0">
                <a:solidFill>
                  <a:srgbClr val="000000"/>
                </a:solidFill>
                <a:latin typeface="Arial"/>
              </a:rPr>
              <a:t>raporu</a:t>
            </a:r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Prototip geliştirme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Hızlı prototipleme dillerine veya araçlarına dayanabilir.</a:t>
            </a:r>
          </a:p>
          <a:p>
            <a:r>
              <a:rPr lang="tr-TR" dirty="0" smtClean="0"/>
              <a:t>Bazı işlevlerin dışarıda bırakılmasını içerebilir.</a:t>
            </a:r>
          </a:p>
          <a:p>
            <a:pPr lvl="1"/>
            <a:r>
              <a:rPr lang="tr-TR" dirty="0" smtClean="0"/>
              <a:t>Prototip, ürünün iyi anlaşılmamış alanlarına odaklanmalıdır.</a:t>
            </a:r>
          </a:p>
          <a:p>
            <a:pPr lvl="1"/>
            <a:r>
              <a:rPr lang="tr-TR" dirty="0" smtClean="0"/>
              <a:t>Hata kontrolü ve hatadan kurtarma prototipe dahil edilmeyebilir.</a:t>
            </a:r>
          </a:p>
          <a:p>
            <a:pPr lvl="1"/>
            <a:r>
              <a:rPr lang="tr-TR" dirty="0" smtClean="0"/>
              <a:t>Güvenilirlik ve güvenlik gibi işlevsel olmayan gereksinimler yerine işlevsel gereksinimlere odaklanır.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Atılacak prototipler</a:t>
            </a:r>
            <a:endParaRPr lang="en-US"/>
          </a:p>
        </p:txBody>
      </p:sp>
      <p:sp>
        <p:nvSpPr>
          <p:cNvPr id="1184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smtClean="0"/>
              <a:t>Üretim sistemi için iyi bir temel olmadıklarından, geliştirmeden sonra prototipler atılmalıdır:</a:t>
            </a:r>
          </a:p>
          <a:p>
            <a:pPr lvl="1"/>
            <a:r>
              <a:rPr lang="tr-TR" smtClean="0"/>
              <a:t>Sistemi işlevsel olmayan gereksinimleri karşılayacak biçimde ayarlamak mümkün olmayabilir.</a:t>
            </a:r>
          </a:p>
          <a:p>
            <a:pPr lvl="1"/>
            <a:r>
              <a:rPr lang="tr-TR" smtClean="0"/>
              <a:t>Prototipler genellikle belgelendirilmez.</a:t>
            </a:r>
          </a:p>
          <a:p>
            <a:pPr lvl="1"/>
            <a:r>
              <a:rPr lang="tr-TR" smtClean="0"/>
              <a:t>Prototip yapısı, hızlı değişiklikler nedeniyle genellikle bozulur.</a:t>
            </a:r>
          </a:p>
          <a:p>
            <a:pPr lvl="1"/>
            <a:r>
              <a:rPr lang="tr-TR" smtClean="0"/>
              <a:t>Prototip muhtemelen kurumun normal kalite standartlarını karşılamaz.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Artımlı teslim</a:t>
            </a:r>
            <a:endParaRPr lang="en-GB"/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smtClean="0"/>
              <a:t>Sistemi tek seferde teslim etmek yerine geliştirme ve teslim, her biri gerekli işlevlerin bir bölümünü sunan artımlara bölünür.</a:t>
            </a:r>
          </a:p>
          <a:p>
            <a:r>
              <a:rPr lang="tr-TR" smtClean="0"/>
              <a:t>Kullanıcı gereksinimleri önceliklendirilir ve en yüksek öncelikli gereksinimler ilk artımlara dahil edilir.</a:t>
            </a:r>
          </a:p>
          <a:p>
            <a:r>
              <a:rPr lang="tr-TR" smtClean="0"/>
              <a:t>Bir artımın geliştirilmesine başlandığında gereksinimleri sabitlenir. Ancak sonraki artımların gereksinimleri evrilmeye devam edebilir.</a:t>
            </a:r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Artımlı geliştirme ve teslim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Artımlı geliştirme</a:t>
            </a:r>
          </a:p>
          <a:p>
            <a:pPr lvl="1"/>
            <a:r>
              <a:rPr lang="tr-TR" dirty="0" smtClean="0"/>
              <a:t>Sistemi artımlar halinde geliştirmek ve sonraki artımın geliştirilmesine geçmeden önce her artımı değerlendirmek.</a:t>
            </a:r>
          </a:p>
          <a:p>
            <a:pPr lvl="1"/>
            <a:r>
              <a:rPr lang="tr-TR" dirty="0" smtClean="0"/>
              <a:t>Çevik yöntemlerde kullanılan normal yaklaşım.</a:t>
            </a:r>
          </a:p>
          <a:p>
            <a:pPr lvl="1"/>
            <a:r>
              <a:rPr lang="tr-TR" dirty="0" smtClean="0"/>
              <a:t>Değerlendirmeyi kullanıcı veya müşteri temsilcisi yapar.</a:t>
            </a:r>
          </a:p>
          <a:p>
            <a:r>
              <a:rPr lang="tr-TR" dirty="0" smtClean="0"/>
              <a:t>Artımlı teslim</a:t>
            </a:r>
          </a:p>
          <a:p>
            <a:pPr lvl="1"/>
            <a:r>
              <a:rPr lang="tr-TR" dirty="0" smtClean="0"/>
              <a:t>Bir artımı son kullanıcıların kullanımına sunmak.</a:t>
            </a:r>
          </a:p>
          <a:p>
            <a:pPr lvl="1"/>
            <a:r>
              <a:rPr lang="tr-TR" dirty="0" smtClean="0"/>
              <a:t>Yazılımın uygulamadaki kullanımını daha gerçekçi değerlendirmek.</a:t>
            </a:r>
          </a:p>
          <a:p>
            <a:pPr lvl="1"/>
            <a:r>
              <a:rPr lang="tr-TR" dirty="0" smtClean="0"/>
              <a:t>Artımlar, yerini aldıkları sistemden daha az işlev içerdiği için mevcut sistemlerin yerine geçen sistemlerde uygulanması zordur.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Artımlı teslim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pic>
        <p:nvPicPr>
          <p:cNvPr id="4" name="Picture 3" descr="2.10 Incremental-delivery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53036"/>
            <a:ext cx="8172017" cy="276724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23555" name="Türkçe şema etiketi 23555"/>
          <p:cNvSpPr txBox="1"/>
          <p:nvPr/>
        </p:nvSpPr>
        <p:spPr>
          <a:xfrm>
            <a:off x="701063" y="2430768"/>
            <a:ext cx="1115545" cy="419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816" b="0">
                <a:solidFill>
                  <a:srgbClr val="000000"/>
                </a:solidFill>
                <a:latin typeface="Arial"/>
              </a:rPr>
              <a:t>Gereksinimleri</a:t>
            </a:r>
          </a:p>
          <a:p>
            <a:pPr algn="ctr">
              <a:lnSpc>
                <a:spcPct val="100000"/>
              </a:lnSpc>
            </a:pPr>
            <a:r>
              <a:rPr lang="tr-TR" sz="816" b="0">
                <a:solidFill>
                  <a:srgbClr val="000000"/>
                </a:solidFill>
                <a:latin typeface="Arial"/>
              </a:rPr>
              <a:t>ana hatlarıyla</a:t>
            </a:r>
          </a:p>
          <a:p>
            <a:pPr algn="ctr">
              <a:lnSpc>
                <a:spcPct val="100000"/>
              </a:lnSpc>
            </a:pPr>
            <a:r>
              <a:rPr lang="tr-TR" sz="816" b="0">
                <a:solidFill>
                  <a:srgbClr val="000000"/>
                </a:solidFill>
                <a:latin typeface="Arial"/>
              </a:rPr>
              <a:t>tanımla</a:t>
            </a:r>
          </a:p>
        </p:txBody>
      </p:sp>
      <p:sp>
        <p:nvSpPr>
          <p:cNvPr id="23556" name="Türkçe şema etiketi 23556"/>
          <p:cNvSpPr txBox="1"/>
          <p:nvPr/>
        </p:nvSpPr>
        <p:spPr>
          <a:xfrm>
            <a:off x="789269" y="3560466"/>
            <a:ext cx="804230" cy="39902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100" b="0">
                <a:solidFill>
                  <a:srgbClr val="000000"/>
                </a:solidFill>
                <a:latin typeface="Arial"/>
              </a:rPr>
              <a:t>Artımı</a:t>
            </a:r>
          </a:p>
          <a:p>
            <a:pPr algn="ctr">
              <a:lnSpc>
                <a:spcPct val="100000"/>
              </a:lnSpc>
            </a:pPr>
            <a:r>
              <a:rPr lang="tr-TR" sz="1100" b="0">
                <a:solidFill>
                  <a:srgbClr val="000000"/>
                </a:solidFill>
                <a:latin typeface="Arial"/>
              </a:rPr>
              <a:t>geçerle</a:t>
            </a:r>
          </a:p>
        </p:txBody>
      </p:sp>
      <p:sp>
        <p:nvSpPr>
          <p:cNvPr id="23557" name="Türkçe şema etiketi 23557"/>
          <p:cNvSpPr txBox="1"/>
          <p:nvPr/>
        </p:nvSpPr>
        <p:spPr>
          <a:xfrm>
            <a:off x="2527444" y="2435950"/>
            <a:ext cx="1603272" cy="3679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065" b="0">
                <a:solidFill>
                  <a:srgbClr val="000000"/>
                </a:solidFill>
                <a:latin typeface="Arial"/>
              </a:rPr>
              <a:t>Gereksinimleri</a:t>
            </a:r>
          </a:p>
          <a:p>
            <a:pPr algn="ctr">
              <a:lnSpc>
                <a:spcPct val="100000"/>
              </a:lnSpc>
            </a:pPr>
            <a:r>
              <a:rPr lang="tr-TR" sz="1065" b="0">
                <a:solidFill>
                  <a:srgbClr val="000000"/>
                </a:solidFill>
                <a:latin typeface="Arial"/>
              </a:rPr>
              <a:t>artımlara ata</a:t>
            </a:r>
          </a:p>
        </p:txBody>
      </p:sp>
      <p:sp>
        <p:nvSpPr>
          <p:cNvPr id="23558" name="Türkçe şema etiketi 23558"/>
          <p:cNvSpPr txBox="1"/>
          <p:nvPr/>
        </p:nvSpPr>
        <p:spPr>
          <a:xfrm>
            <a:off x="2963285" y="3576013"/>
            <a:ext cx="809419" cy="3834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136" b="0">
                <a:solidFill>
                  <a:srgbClr val="000000"/>
                </a:solidFill>
                <a:latin typeface="Arial"/>
              </a:rPr>
              <a:t>Artımı</a:t>
            </a:r>
          </a:p>
          <a:p>
            <a:pPr algn="ctr">
              <a:lnSpc>
                <a:spcPct val="100000"/>
              </a:lnSpc>
            </a:pPr>
            <a:r>
              <a:rPr lang="tr-TR" sz="1136" b="0">
                <a:solidFill>
                  <a:srgbClr val="000000"/>
                </a:solidFill>
                <a:latin typeface="Arial"/>
              </a:rPr>
              <a:t>bütünleştir</a:t>
            </a:r>
          </a:p>
        </p:txBody>
      </p:sp>
      <p:sp>
        <p:nvSpPr>
          <p:cNvPr id="23559" name="Türkçe şema etiketi 23559"/>
          <p:cNvSpPr txBox="1"/>
          <p:nvPr/>
        </p:nvSpPr>
        <p:spPr>
          <a:xfrm>
            <a:off x="4893438" y="2430768"/>
            <a:ext cx="1131111" cy="393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958" b="0">
                <a:solidFill>
                  <a:srgbClr val="000000"/>
                </a:solidFill>
                <a:latin typeface="Arial"/>
              </a:rPr>
              <a:t>Sistem mimarisini</a:t>
            </a:r>
          </a:p>
          <a:p>
            <a:pPr algn="ctr">
              <a:lnSpc>
                <a:spcPct val="100000"/>
              </a:lnSpc>
            </a:pPr>
            <a:r>
              <a:rPr lang="tr-TR" sz="958" b="0">
                <a:solidFill>
                  <a:srgbClr val="000000"/>
                </a:solidFill>
                <a:latin typeface="Arial"/>
              </a:rPr>
              <a:t>tasarla</a:t>
            </a:r>
          </a:p>
        </p:txBody>
      </p:sp>
      <p:sp>
        <p:nvSpPr>
          <p:cNvPr id="23560" name="Türkçe şema etiketi 23560"/>
          <p:cNvSpPr txBox="1"/>
          <p:nvPr/>
        </p:nvSpPr>
        <p:spPr>
          <a:xfrm>
            <a:off x="5158055" y="3570831"/>
            <a:ext cx="627818" cy="4404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207" b="0">
                <a:solidFill>
                  <a:srgbClr val="000000"/>
                </a:solidFill>
                <a:latin typeface="Arial"/>
              </a:rPr>
              <a:t>Sistemi</a:t>
            </a:r>
          </a:p>
          <a:p>
            <a:pPr algn="ctr">
              <a:lnSpc>
                <a:spcPct val="100000"/>
              </a:lnSpc>
            </a:pPr>
            <a:r>
              <a:rPr lang="tr-TR" sz="1207" b="0">
                <a:solidFill>
                  <a:srgbClr val="000000"/>
                </a:solidFill>
                <a:latin typeface="Arial"/>
              </a:rPr>
              <a:t>geçerle</a:t>
            </a:r>
          </a:p>
        </p:txBody>
      </p:sp>
      <p:sp>
        <p:nvSpPr>
          <p:cNvPr id="23561" name="Türkçe şema etiketi 23561"/>
          <p:cNvSpPr txBox="1"/>
          <p:nvPr/>
        </p:nvSpPr>
        <p:spPr>
          <a:xfrm>
            <a:off x="6776893" y="2420403"/>
            <a:ext cx="1234883" cy="39902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171" b="0">
                <a:solidFill>
                  <a:srgbClr val="000000"/>
                </a:solidFill>
                <a:latin typeface="Arial"/>
              </a:rPr>
              <a:t>Sistem artımını</a:t>
            </a:r>
          </a:p>
          <a:p>
            <a:pPr algn="ctr">
              <a:lnSpc>
                <a:spcPct val="100000"/>
              </a:lnSpc>
            </a:pPr>
            <a:r>
              <a:rPr lang="tr-TR" sz="1171" b="0">
                <a:solidFill>
                  <a:srgbClr val="000000"/>
                </a:solidFill>
                <a:latin typeface="Arial"/>
              </a:rPr>
              <a:t>geliştir</a:t>
            </a:r>
          </a:p>
        </p:txBody>
      </p:sp>
      <p:sp>
        <p:nvSpPr>
          <p:cNvPr id="23562" name="Türkçe şema etiketi 23562"/>
          <p:cNvSpPr txBox="1"/>
          <p:nvPr/>
        </p:nvSpPr>
        <p:spPr>
          <a:xfrm>
            <a:off x="7596689" y="3037074"/>
            <a:ext cx="965076" cy="4042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171" b="0">
                <a:solidFill>
                  <a:srgbClr val="000000"/>
                </a:solidFill>
                <a:latin typeface="Arial"/>
              </a:rPr>
              <a:t>Sistem</a:t>
            </a:r>
          </a:p>
          <a:p>
            <a:pPr algn="ctr">
              <a:lnSpc>
                <a:spcPct val="100000"/>
              </a:lnSpc>
            </a:pPr>
            <a:r>
              <a:rPr lang="tr-TR" sz="1171" b="0">
                <a:solidFill>
                  <a:srgbClr val="000000"/>
                </a:solidFill>
                <a:latin typeface="Arial"/>
              </a:rPr>
              <a:t>eksik mi?</a:t>
            </a:r>
          </a:p>
        </p:txBody>
      </p:sp>
      <p:sp>
        <p:nvSpPr>
          <p:cNvPr id="23563" name="Türkçe şema etiketi 23563"/>
          <p:cNvSpPr txBox="1"/>
          <p:nvPr/>
        </p:nvSpPr>
        <p:spPr>
          <a:xfrm>
            <a:off x="7072642" y="3576013"/>
            <a:ext cx="809419" cy="39902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171" b="0">
                <a:solidFill>
                  <a:srgbClr val="000000"/>
                </a:solidFill>
                <a:latin typeface="Arial"/>
              </a:rPr>
              <a:t>Artımı</a:t>
            </a:r>
          </a:p>
          <a:p>
            <a:pPr algn="ctr">
              <a:lnSpc>
                <a:spcPct val="100000"/>
              </a:lnSpc>
            </a:pPr>
            <a:r>
              <a:rPr lang="tr-TR" sz="1171" b="0">
                <a:solidFill>
                  <a:srgbClr val="000000"/>
                </a:solidFill>
                <a:latin typeface="Arial"/>
              </a:rPr>
              <a:t>devreye al</a:t>
            </a:r>
          </a:p>
        </p:txBody>
      </p:sp>
      <p:sp>
        <p:nvSpPr>
          <p:cNvPr id="23564" name="Türkçe şema etiketi 23564"/>
          <p:cNvSpPr txBox="1"/>
          <p:nvPr/>
        </p:nvSpPr>
        <p:spPr>
          <a:xfrm>
            <a:off x="7690084" y="4166773"/>
            <a:ext cx="824985" cy="4042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100" b="0">
                <a:solidFill>
                  <a:srgbClr val="000000"/>
                </a:solidFill>
                <a:latin typeface="Arial"/>
              </a:rPr>
              <a:t>Sistem</a:t>
            </a:r>
          </a:p>
          <a:p>
            <a:pPr algn="ctr">
              <a:lnSpc>
                <a:spcPct val="100000"/>
              </a:lnSpc>
            </a:pPr>
            <a:r>
              <a:rPr lang="tr-TR" sz="1100" b="0">
                <a:solidFill>
                  <a:srgbClr val="000000"/>
                </a:solidFill>
                <a:latin typeface="Arial"/>
              </a:rPr>
              <a:t>tamam mı?</a:t>
            </a:r>
          </a:p>
        </p:txBody>
      </p:sp>
      <p:sp>
        <p:nvSpPr>
          <p:cNvPr id="23565" name="Türkçe şema etiketi 23565"/>
          <p:cNvSpPr txBox="1"/>
          <p:nvPr/>
        </p:nvSpPr>
        <p:spPr>
          <a:xfrm>
            <a:off x="7150471" y="4648708"/>
            <a:ext cx="622630" cy="4145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207" b="0">
                <a:solidFill>
                  <a:srgbClr val="000000"/>
                </a:solidFill>
                <a:latin typeface="Arial"/>
              </a:rPr>
              <a:t>Nihai</a:t>
            </a:r>
          </a:p>
          <a:p>
            <a:pPr algn="ctr">
              <a:lnSpc>
                <a:spcPct val="100000"/>
              </a:lnSpc>
            </a:pPr>
            <a:r>
              <a:rPr lang="tr-TR" sz="1207" b="0">
                <a:solidFill>
                  <a:srgbClr val="000000"/>
                </a:solidFill>
                <a:latin typeface="Arial"/>
              </a:rPr>
              <a:t>sistem</a:t>
            </a:r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Artımlı teslimin avantajları</a:t>
            </a:r>
            <a:endParaRPr lang="en-GB" dirty="0"/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smtClean="0"/>
              <a:t>Her artımda müşteriye değer sunulabilir. Böylece sistem işlevleri daha erken kullanılabilir olur.</a:t>
            </a:r>
          </a:p>
          <a:p>
            <a:r>
              <a:rPr lang="tr-TR" smtClean="0"/>
              <a:t>İlk artımlar, sonraki artımların gereksinimlerini ortaya çıkarmaya yardımcı olan prototipler gibi işlev görür.</a:t>
            </a:r>
          </a:p>
          <a:p>
            <a:r>
              <a:rPr lang="tr-TR" smtClean="0"/>
              <a:t>Projenin bütünüyle başarısız olma riski daha düşüktür.</a:t>
            </a:r>
          </a:p>
          <a:p>
            <a:r>
              <a:rPr lang="tr-TR" smtClean="0"/>
              <a:t>En yüksek öncelikli sistem hizmetleri genellikle en fazla test edilir.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dirty="0" smtClean="0"/>
              <a:t>Bölüm 2 Yazılım Süreçleri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Artımlı teslimin sorunları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00" y="1600200"/>
            <a:ext cx="8229600" cy="4525963"/>
          </a:xfrm>
        </p:spPr>
        <p:txBody>
          <a:bodyPr/>
          <a:lstStyle/>
          <a:p>
            <a:r>
              <a:rPr lang="tr-TR" dirty="0" smtClean="0"/>
              <a:t>Çoğu sistem, farklı bölümlerinin kullandığı bir dizi temel olanak gerektirir.</a:t>
            </a:r>
          </a:p>
          <a:p>
            <a:pPr lvl="1"/>
            <a:r>
              <a:rPr lang="tr-TR" dirty="0" smtClean="0"/>
              <a:t>Gereksinimler, bir artım gerçekleştirileceği zamana kadar ayrıntılı tanımlanmadığından, tüm artımların ihtiyaç duyduğu ortak olanakları belirlemek zor olabilir.</a:t>
            </a:r>
          </a:p>
          <a:p>
            <a:r>
              <a:rPr lang="tr-TR" dirty="0" smtClean="0"/>
              <a:t>Yinelemeli süreçlerin özü, belirtimin yazılımla birlikte geliştirilmesidir.</a:t>
            </a:r>
          </a:p>
          <a:p>
            <a:pPr lvl="1"/>
            <a:r>
              <a:rPr lang="tr-TR" dirty="0" smtClean="0"/>
              <a:t>Ancak bu, tam sistem belirtiminin geliştirme sözleşmesinin bir parçası olduğu birçok kuruluşun tedarik modeliyle çelişir.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27804"/>
            <a:ext cx="8229600" cy="1143000"/>
          </a:xfrm>
        </p:spPr>
        <p:txBody>
          <a:bodyPr/>
          <a:lstStyle/>
          <a:p>
            <a:pPr algn="ctr"/>
            <a:r>
              <a:rPr lang="tr-TR" dirty="0" smtClean="0"/>
              <a:t>Süreç iyileştirme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87055"/>
      </p:ext>
    </p:extLst>
  </p:cSld>
  <p:clrMapOvr>
    <a:masterClrMapping/>
  </p:clrMapOvr>
  <p:transition xmlns:p14="http://schemas.microsoft.com/office/powerpoint/2010/main"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Süreç iyileştirme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Birçok yazılım şirketi, yazılım kalitesini artırmak, maliyetleri azaltmak veya geliştirme süreçlerini hızlandırmak için yazılım süreci iyileştirmeye yönelmiştir.</a:t>
            </a:r>
          </a:p>
          <a:p>
            <a:r>
              <a:rPr lang="tr-TR" dirty="0" smtClean="0"/>
              <a:t>Süreç iyileştirme, mevcut süreçleri anlamak ve ürün kalitesini artırmak ve/veya maliyetleri ve geliştirme süresini azaltmak için bu süreçleri değiştirmek demektir.</a:t>
            </a:r>
            <a:endParaRPr lang="en-GB" dirty="0" smtClean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 smtClean="0"/>
              <a:t>Bölüm 2 Yazılım Süreçleri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42665"/>
      </p:ext>
    </p:extLst>
  </p:cSld>
  <p:clrMapOvr>
    <a:masterClrMapping/>
  </p:clrMapOvr>
  <p:transition xmlns:p14="http://schemas.microsoft.com/office/powerpoint/2010/main"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İyileştirme yaklaşımları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Süreç ve proje yönetimini iyileştirmeye ve iyi yazılım mühendisliği uygulamalarını kullanmaya odaklanan süreç olgunluğu yaklaşımı.</a:t>
            </a:r>
          </a:p>
          <a:p>
            <a:pPr lvl="1"/>
            <a:r>
              <a:rPr lang="tr-TR" dirty="0" smtClean="0"/>
              <a:t>Süreç olgunluğu düzeyi, kurumun yazılım geliştirme süreçlerinde iyi teknik ve yönetim uygulamalarının ne ölçüde benimsendiğini yansıtır.</a:t>
            </a:r>
            <a:endParaRPr lang="en-GB" dirty="0" smtClean="0"/>
          </a:p>
          <a:p>
            <a:r>
              <a:rPr lang="tr-TR" dirty="0" smtClean="0"/>
              <a:t>Yinelemeli geliştirmeye ve yazılım sürecindeki ek yüklerin azaltılmasına odaklanan çevik yaklaşım.</a:t>
            </a:r>
          </a:p>
          <a:p>
            <a:pPr lvl="1"/>
            <a:r>
              <a:rPr lang="tr-TR" dirty="0" smtClean="0"/>
              <a:t>Çevik yöntemlerin temel özellikleri, işlevlerin hızlı teslimi ve değişen müşteri gereksinimlerine duyarlılıktır.</a:t>
            </a:r>
            <a:endParaRPr lang="en-GB" dirty="0" smtClean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dirty="0"/>
              <a:t>Bölüm 2 Yazılım Süreçleri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36099"/>
      </p:ext>
    </p:extLst>
  </p:cSld>
  <p:clrMapOvr>
    <a:masterClrMapping/>
  </p:clrMapOvr>
  <p:transition xmlns:p14="http://schemas.microsoft.com/office/powerpoint/2010/main"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Süreç iyileştirme döngüsü</a:t>
            </a:r>
            <a:r>
              <a:rPr lang="tr-TR" dirty="0"/>
              <a:t/>
            </a:r>
            <a:r>
              <a:rPr lang="tr-TR" dirty="0" smtClean="0"/>
              <a:t/>
            </a:r>
            <a:endParaRPr lang="en-US" dirty="0"/>
          </a:p>
        </p:txBody>
      </p:sp>
      <p:pic>
        <p:nvPicPr>
          <p:cNvPr id="4" name="Content Placeholder 3" descr="26.3 Process improvement.eps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5976" b="-2227"/>
          <a:stretch/>
        </p:blipFill>
        <p:spPr>
          <a:xfrm>
            <a:off x="1760331" y="1698510"/>
            <a:ext cx="4876799" cy="4110668"/>
          </a:xfr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dirty="0"/>
              <a:t>Bölüm 2 Yazılım Süreçleri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7" name="Türkçe şema etiketi 7"/>
          <p:cNvSpPr txBox="1"/>
          <p:nvPr/>
        </p:nvSpPr>
        <p:spPr>
          <a:xfrm>
            <a:off x="1993485" y="4128721"/>
            <a:ext cx="984427" cy="3424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726" b="0">
                <a:solidFill>
                  <a:srgbClr val="000000"/>
                </a:solidFill>
                <a:latin typeface="Arial"/>
              </a:rPr>
              <a:t>Değiştir</a:t>
            </a:r>
          </a:p>
        </p:txBody>
      </p:sp>
      <p:sp>
        <p:nvSpPr>
          <p:cNvPr id="8" name="Türkçe şema etiketi 8"/>
          <p:cNvSpPr txBox="1"/>
          <p:nvPr/>
        </p:nvSpPr>
        <p:spPr>
          <a:xfrm>
            <a:off x="3677373" y="2041837"/>
            <a:ext cx="1049192" cy="3488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239" b="0">
                <a:solidFill>
                  <a:srgbClr val="000000"/>
                </a:solidFill>
                <a:latin typeface="Arial"/>
              </a:rPr>
              <a:t>Ölç</a:t>
            </a:r>
          </a:p>
        </p:txBody>
      </p:sp>
      <p:sp>
        <p:nvSpPr>
          <p:cNvPr id="9" name="Türkçe şema etiketi 9"/>
          <p:cNvSpPr txBox="1"/>
          <p:nvPr/>
        </p:nvSpPr>
        <p:spPr>
          <a:xfrm>
            <a:off x="5413073" y="4128721"/>
            <a:ext cx="1003856" cy="3424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726" b="0">
                <a:solidFill>
                  <a:srgbClr val="000000"/>
                </a:solidFill>
                <a:latin typeface="Arial"/>
              </a:rPr>
              <a:t>Analiz et</a:t>
            </a:r>
          </a:p>
        </p:txBody>
      </p:sp>
    </p:spTree>
    <p:extLst>
      <p:ext uri="{BB962C8B-B14F-4D97-AF65-F5344CB8AC3E}">
        <p14:creationId xmlns:p14="http://schemas.microsoft.com/office/powerpoint/2010/main" val="676002720"/>
      </p:ext>
    </p:extLst>
  </p:cSld>
  <p:clrMapOvr>
    <a:masterClrMapping/>
  </p:clrMapOvr>
  <p:transition xmlns:p14="http://schemas.microsoft.com/office/powerpoint/2010/main"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Süreç iyileştirme faaliyetleri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i="1" dirty="0" sz="2160"/>
              <a:t>Süreç ölçümü</a:t>
            </a:r>
            <a:endParaRPr lang="en-US" i="1" dirty="0" smtClean="0"/>
          </a:p>
          <a:p>
            <a:pPr lvl="1"/>
            <a:r>
              <a:rPr lang="tr-TR" dirty="0" smtClean="0" sz="1890"/>
              <a:t>Yazılım sürecinin veya ürünün bir veya daha fazla özelliğini ölçersiniz. Bu ölçümler, süreç iyileştirmelerinin etkili olup olmadığına karar vermeye yardımcı olan bir başlangıç düzeyi oluşturur.</a:t>
            </a:r>
            <a:r>
              <a:rPr lang="tr-TR" dirty="0" sz="1890"/>
              <a:t/>
            </a:r>
            <a:r>
              <a:rPr lang="tr-TR" dirty="0" smtClean="0" sz="1890"/>
              <a:t/>
            </a:r>
            <a:endParaRPr lang="en-GB" dirty="0"/>
          </a:p>
          <a:p>
            <a:r>
              <a:rPr lang="tr-TR" i="1" dirty="0" smtClean="0" sz="2160"/>
              <a:t>Süreç analizi</a:t>
            </a:r>
            <a:r>
              <a:rPr lang="tr-TR" i="1" dirty="0" sz="2160"/>
              <a:t/>
            </a:r>
            <a:r>
              <a:rPr lang="tr-TR" dirty="0" sz="2160"/>
              <a:t/>
            </a:r>
            <a:endParaRPr lang="en-US" dirty="0" smtClean="0"/>
          </a:p>
          <a:p>
            <a:pPr lvl="1"/>
            <a:r>
              <a:rPr lang="tr-TR" dirty="0" smtClean="0" sz="1890"/>
              <a:t>Mevcut süreç değerlendirilir, zayıflıklar ve darboğazlar belirlenir. Süreci tanımlayan süreç modelleri (bazen süreç haritaları denir) geliştirilebilir.</a:t>
            </a:r>
            <a:r>
              <a:rPr lang="tr-TR" dirty="0" sz="1890"/>
              <a:t/>
            </a:r>
            <a:r>
              <a:rPr lang="tr-TR" dirty="0" smtClean="0" sz="1890"/>
              <a:t/>
            </a:r>
            <a:r>
              <a:rPr lang="tr-TR" dirty="0" smtClean="0" sz="1890"/>
              <a:t/>
            </a:r>
            <a:endParaRPr lang="en-GB" dirty="0"/>
          </a:p>
          <a:p>
            <a:r>
              <a:rPr lang="tr-TR" i="1" dirty="0" smtClean="0" sz="2160"/>
              <a:t>Süreç değişikliği</a:t>
            </a:r>
            <a:r>
              <a:rPr lang="tr-TR" i="1" dirty="0" sz="2160"/>
              <a:t/>
            </a:r>
            <a:endParaRPr lang="en-US" i="1" dirty="0" smtClean="0"/>
          </a:p>
          <a:p>
            <a:pPr lvl="1"/>
            <a:r>
              <a:rPr lang="tr-TR" dirty="0" smtClean="0" sz="1890"/>
              <a:t>Belirlenen bazı süreç zayıflıklarını gidermek için değişiklikler önerilir. Bunlar uygulanır ve değişikliklerin etkinliğine ilişkin veri toplamak için döngü yeniden başlar.</a:t>
            </a:r>
            <a:r>
              <a:rPr lang="tr-TR" dirty="0" sz="1890"/>
              <a:t/>
            </a:r>
            <a:r>
              <a:rPr lang="tr-TR" dirty="0" smtClean="0" sz="1890"/>
              <a:t/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08528"/>
      </p:ext>
    </p:extLst>
  </p:cSld>
  <p:clrMapOvr>
    <a:masterClrMapping/>
  </p:clrMapOvr>
  <p:transition xmlns:p14="http://schemas.microsoft.com/office/powerpoint/2010/main"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tr-TR"/>
              <a:t>Süreç ölçümü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tr-TR" sz="2400"/>
              <a:t>Mümkün olduğunda nicel süreç verileri toplanmalıdır.</a:t>
            </a:r>
            <a:br>
              <a:rPr lang="tr-TR" sz="2400"/>
            </a:br>
            <a:r>
              <a:rPr lang="tr-TR" sz="2400"/>
              <a:t/>
            </a:r>
          </a:p>
          <a:p>
            <a:pPr lvl="1"/>
            <a:r>
              <a:rPr lang="tr-TR" sz="2000"/>
              <a:t>Ancak açıkça tanımlanmış süreç standartları olmayan kuruluşlarda, neyin ölçüleceği bilinmediği için bu çok zordur. Ölçüm yapılabilmesi için önce sürecin tanımlanması gerekebilir.</a:t>
            </a:r>
          </a:p>
          <a:p>
            <a:r>
              <a:rPr lang="tr-TR" sz="2400"/>
              <a:t>Süreç ölçümleri, süreç iyileştirmelerini değerlendirmek için kullanılmalıdır.</a:t>
            </a:r>
            <a:br>
              <a:rPr lang="tr-TR" sz="2400"/>
            </a:br>
            <a:r>
              <a:rPr lang="tr-TR" sz="2400"/>
              <a:t/>
            </a:r>
          </a:p>
          <a:p>
            <a:pPr lvl="1"/>
            <a:r>
              <a:rPr lang="tr-TR" sz="2000"/>
              <a:t>Ancak bu, iyileştirmeleri ölçümlerin yönlendirmesi gerektiği anlamına gelmez. İyileştirmelerin itici gücü, kurumsal hedefler olmalıdır.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dirty="0"/>
              <a:t>Bölüm 2 Yazılım Süreçleri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88252"/>
      </p:ext>
    </p:extLst>
  </p:cSld>
  <p:clrMapOvr>
    <a:masterClrMapping/>
  </p:clrMapOvr>
  <p:transition xmlns:p14="http://schemas.microsoft.com/office/powerpoint/2010/main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tr-TR" dirty="0" smtClean="0"/>
              <a:t>Süreç ölçütleri</a:t>
            </a:r>
            <a:endParaRPr lang="en-GB" dirty="0"/>
          </a:p>
        </p:txBody>
      </p:sp>
      <p:sp>
        <p:nvSpPr>
          <p:cNvPr id="34818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tr-TR"/>
              <a:t>Süreç faaliyetlerinin tamamlanması için geçen süre</a:t>
            </a:r>
            <a:br>
              <a:rPr lang="tr-TR"/>
            </a:br>
            <a:r>
              <a:rPr lang="tr-TR"/>
              <a:t/>
            </a:r>
          </a:p>
          <a:p>
            <a:pPr lvl="1"/>
            <a:r>
              <a:rPr lang="tr-TR"/>
              <a:t>Örneğin bir faaliyeti veya süreci tamamlamak için geçen takvim süresi veya harcanan çaba.</a:t>
            </a:r>
          </a:p>
          <a:p>
            <a:r>
              <a:rPr lang="tr-TR"/>
              <a:t>Süreçler veya faaliyetler için gerekli kaynaklar</a:t>
            </a:r>
          </a:p>
          <a:p>
            <a:pPr lvl="1"/>
            <a:r>
              <a:rPr lang="tr-TR"/>
              <a:t>Örneğin kişi-gün cinsinden toplam çaba.</a:t>
            </a:r>
          </a:p>
          <a:p>
            <a:r>
              <a:rPr lang="tr-TR"/>
              <a:t>Belirli bir olayın gerçekleşme sayısı</a:t>
            </a:r>
          </a:p>
          <a:p>
            <a:pPr lvl="1"/>
            <a:r>
              <a:rPr lang="tr-TR"/>
              <a:t>Örneğin bulunan kusur sayısı.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dirty="0"/>
              <a:t>Bölüm 2 Yazılım Süreçleri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27100"/>
      </p:ext>
    </p:extLst>
  </p:cSld>
  <p:clrMapOvr>
    <a:masterClrMapping/>
  </p:clrMapOvr>
  <p:transition xmlns:p14="http://schemas.microsoft.com/office/powerpoint/2010/main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Yetenek olgunluk düzeyleri</a:t>
            </a:r>
            <a:endParaRPr lang="en-US" dirty="0"/>
          </a:p>
        </p:txBody>
      </p:sp>
      <p:pic>
        <p:nvPicPr>
          <p:cNvPr id="4" name="Content Placeholder 3" descr="26.10 StagesCMMI.eps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12585" b="-4028"/>
          <a:stretch/>
        </p:blipFill>
        <p:spPr>
          <a:xfrm>
            <a:off x="938696" y="1567571"/>
            <a:ext cx="6681304" cy="5008625"/>
          </a:xfr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dirty="0"/>
              <a:t>Bölüm 2 Yazılım Süreçleri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7" name="Türkçe şema etiketi 7"/>
          <p:cNvSpPr txBox="1"/>
          <p:nvPr/>
        </p:nvSpPr>
        <p:spPr>
          <a:xfrm>
            <a:off x="6320858" y="2173681"/>
            <a:ext cx="1146302" cy="4535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160" b="0">
                <a:solidFill>
                  <a:srgbClr val="000000"/>
                </a:solidFill>
                <a:latin typeface="Arial"/>
              </a:rPr>
              <a:t>Düzey 5</a:t>
            </a:r>
          </a:p>
          <a:p>
            <a:pPr algn="ctr">
              <a:lnSpc>
                <a:spcPct val="100000"/>
              </a:lnSpc>
            </a:pPr>
            <a:r>
              <a:rPr lang="tr-TR" sz="1160" b="0">
                <a:solidFill>
                  <a:srgbClr val="000000"/>
                </a:solidFill>
                <a:latin typeface="Arial"/>
              </a:rPr>
              <a:t>İyileştirilen</a:t>
            </a:r>
          </a:p>
        </p:txBody>
      </p:sp>
      <p:sp>
        <p:nvSpPr>
          <p:cNvPr id="8" name="Türkçe şema etiketi 8"/>
          <p:cNvSpPr txBox="1"/>
          <p:nvPr/>
        </p:nvSpPr>
        <p:spPr>
          <a:xfrm>
            <a:off x="4983505" y="3058927"/>
            <a:ext cx="1162678" cy="55737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086" b="0">
                <a:solidFill>
                  <a:srgbClr val="000000"/>
                </a:solidFill>
                <a:latin typeface="Arial"/>
              </a:rPr>
              <a:t>Düzey 4</a:t>
            </a:r>
          </a:p>
          <a:p>
            <a:pPr algn="ctr">
              <a:lnSpc>
                <a:spcPct val="100000"/>
              </a:lnSpc>
            </a:pPr>
            <a:r>
              <a:rPr lang="tr-TR" sz="1086" b="0">
                <a:solidFill>
                  <a:srgbClr val="000000"/>
                </a:solidFill>
                <a:latin typeface="Arial"/>
              </a:rPr>
              <a:t>Nicel olarak</a:t>
            </a:r>
          </a:p>
          <a:p>
            <a:pPr algn="ctr">
              <a:lnSpc>
                <a:spcPct val="100000"/>
              </a:lnSpc>
            </a:pPr>
            <a:r>
              <a:rPr lang="tr-TR" sz="1086" b="0">
                <a:solidFill>
                  <a:srgbClr val="000000"/>
                </a:solidFill>
                <a:latin typeface="Arial"/>
              </a:rPr>
              <a:t>yönetilen</a:t>
            </a:r>
          </a:p>
        </p:txBody>
      </p:sp>
      <p:sp>
        <p:nvSpPr>
          <p:cNvPr id="9" name="Türkçe şema etiketi 9"/>
          <p:cNvSpPr txBox="1"/>
          <p:nvPr/>
        </p:nvSpPr>
        <p:spPr>
          <a:xfrm>
            <a:off x="3798993" y="3966031"/>
            <a:ext cx="900666" cy="4863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123" b="0">
                <a:solidFill>
                  <a:srgbClr val="000000"/>
                </a:solidFill>
                <a:latin typeface="Arial"/>
              </a:rPr>
              <a:t>Düzey 3</a:t>
            </a:r>
          </a:p>
          <a:p>
            <a:pPr algn="ctr">
              <a:lnSpc>
                <a:spcPct val="100000"/>
              </a:lnSpc>
            </a:pPr>
            <a:r>
              <a:rPr lang="tr-TR" sz="1123" b="0">
                <a:solidFill>
                  <a:srgbClr val="000000"/>
                </a:solidFill>
                <a:latin typeface="Arial"/>
              </a:rPr>
              <a:t>Tanımlı</a:t>
            </a:r>
          </a:p>
        </p:txBody>
      </p:sp>
      <p:sp>
        <p:nvSpPr>
          <p:cNvPr id="10" name="Türkçe şema etiketi 10"/>
          <p:cNvSpPr txBox="1"/>
          <p:nvPr/>
        </p:nvSpPr>
        <p:spPr>
          <a:xfrm>
            <a:off x="2456182" y="4873135"/>
            <a:ext cx="938876" cy="4863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160" b="0">
                <a:solidFill>
                  <a:srgbClr val="000000"/>
                </a:solidFill>
                <a:latin typeface="Arial"/>
              </a:rPr>
              <a:t>Düzey 2</a:t>
            </a:r>
          </a:p>
          <a:p>
            <a:pPr algn="ctr">
              <a:lnSpc>
                <a:spcPct val="100000"/>
              </a:lnSpc>
            </a:pPr>
            <a:r>
              <a:rPr lang="tr-TR" sz="1160" b="0">
                <a:solidFill>
                  <a:srgbClr val="000000"/>
                </a:solidFill>
                <a:latin typeface="Arial"/>
              </a:rPr>
              <a:t>Yönetilen</a:t>
            </a:r>
          </a:p>
        </p:txBody>
      </p:sp>
      <p:sp>
        <p:nvSpPr>
          <p:cNvPr id="11" name="Türkçe şema etiketi 11"/>
          <p:cNvSpPr txBox="1"/>
          <p:nvPr/>
        </p:nvSpPr>
        <p:spPr>
          <a:xfrm>
            <a:off x="1080619" y="5785704"/>
            <a:ext cx="1026213" cy="4535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tr-TR" sz="1048" b="0">
                <a:solidFill>
                  <a:srgbClr val="000000"/>
                </a:solidFill>
                <a:latin typeface="Arial"/>
              </a:rPr>
              <a:t>Düzey 1</a:t>
            </a:r>
          </a:p>
          <a:p>
            <a:pPr algn="ctr">
              <a:lnSpc>
                <a:spcPct val="100000"/>
              </a:lnSpc>
            </a:pPr>
            <a:r>
              <a:rPr lang="tr-TR" sz="1048" b="0">
                <a:solidFill>
                  <a:srgbClr val="000000"/>
                </a:solidFill>
                <a:latin typeface="Arial"/>
              </a:rPr>
              <a:t>Başlangıç</a:t>
            </a:r>
          </a:p>
        </p:txBody>
      </p:sp>
    </p:spTree>
    <p:extLst>
      <p:ext uri="{BB962C8B-B14F-4D97-AF65-F5344CB8AC3E}">
        <p14:creationId xmlns:p14="http://schemas.microsoft.com/office/powerpoint/2010/main" val="3949935750"/>
      </p:ext>
    </p:extLst>
  </p:cSld>
  <p:clrMapOvr>
    <a:masterClrMapping/>
  </p:clrMapOvr>
  <p:transition xmlns:p14="http://schemas.microsoft.com/office/powerpoint/2010/main" spd="med"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SEI yetenek olgunluk modeli</a:t>
            </a:r>
            <a:endParaRPr lang="en-GB" dirty="0"/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smtClean="0" sz="2160"/>
              <a:t>Başlangıç</a:t>
            </a:r>
          </a:p>
          <a:p>
            <a:pPr lvl="1"/>
            <a:r>
              <a:rPr lang="tr-TR" smtClean="0" sz="1890"/>
              <a:t>Esasen kontrolsüz</a:t>
            </a:r>
          </a:p>
          <a:p>
            <a:r>
              <a:rPr lang="tr-TR" smtClean="0" sz="2160"/>
              <a:t>Tekrarlanabilir</a:t>
            </a:r>
          </a:p>
          <a:p>
            <a:pPr lvl="1"/>
            <a:r>
              <a:rPr lang="tr-TR" smtClean="0" sz="1890"/>
              <a:t>Ürün yönetimi prosedürleri tanımlanmış ve kullanılıyor</a:t>
            </a:r>
          </a:p>
          <a:p>
            <a:r>
              <a:rPr lang="tr-TR" smtClean="0" sz="2160"/>
              <a:t>Tanımlı</a:t>
            </a:r>
          </a:p>
          <a:p>
            <a:pPr lvl="1"/>
            <a:r>
              <a:rPr lang="tr-TR" smtClean="0" sz="1890"/>
              <a:t>Süreç yönetimi prosedürleri ve stratejileri tanımlanmış ve kullanılıyor</a:t>
            </a:r>
            <a:br>
              <a:rPr lang="tr-TR" smtClean="0"/>
            </a:br>
            <a:r>
              <a:rPr lang="tr-TR" smtClean="0" sz="1890"/>
              <a:t/>
            </a:r>
          </a:p>
          <a:p>
            <a:r>
              <a:rPr lang="tr-TR" smtClean="0" sz="2160"/>
              <a:t>Yönetilen</a:t>
            </a:r>
          </a:p>
          <a:p>
            <a:pPr lvl="1"/>
            <a:r>
              <a:rPr lang="tr-TR" smtClean="0" sz="1890"/>
              <a:t>Kalite yönetimi stratejileri tanımlanmış ve kullanılıyor</a:t>
            </a:r>
          </a:p>
          <a:p>
            <a:r>
              <a:rPr lang="tr-TR" smtClean="0" sz="2160"/>
              <a:t>İyileştirilen</a:t>
            </a:r>
          </a:p>
          <a:p>
            <a:pPr lvl="1"/>
            <a:r>
              <a:rPr lang="tr-TR" smtClean="0" sz="1890"/>
              <a:t>Süreç iyileştirme stratejileri tanımlanmış ve kullanılıyor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dirty="0"/>
              <a:t>Bölüm 2 Yazılım Süreçleri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87285"/>
      </p:ext>
    </p:extLst>
  </p:cSld>
  <p:clrMapOvr>
    <a:masterClrMapping/>
  </p:clrMapOvr>
  <p:transition xmlns:p14="http://schemas.microsoft.com/office/powerpoint/2010/main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Temel noktalar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Yazılım süreçleri, bir yazılım sisteminin üretimindeki faaliyetlerdir. Yazılım süreci modelleri, bu süreçlerin soyut gösterimleridir.</a:t>
            </a:r>
          </a:p>
          <a:p>
            <a:r>
              <a:rPr lang="tr-TR" dirty="0" smtClean="0"/>
              <a:t>Genel süreç modelleri, yazılım süreçlerinin düzenini tanımlar.</a:t>
            </a:r>
          </a:p>
          <a:p>
            <a:pPr lvl="1"/>
            <a:r>
              <a:rPr lang="tr-TR" dirty="0" smtClean="0"/>
              <a:t>Bu genel modellere şelale modeli, artımlı geliştirme ve yeniden kullanım odaklı geliştirme örnek verilebilir.</a:t>
            </a:r>
          </a:p>
          <a:p>
            <a:r>
              <a:rPr lang="tr-TR" dirty="0"/>
              <a:t>Gereksinim mühendisliği, yazılım belirtimini geliştirme sürecidir.</a:t>
            </a:r>
            <a:r>
              <a:rPr lang="tr-TR" dirty="0" smtClean="0"/>
              <a:t/>
            </a:r>
            <a:r>
              <a:rPr lang="tr-TR" dirty="0"/>
              <a:t/>
            </a:r>
          </a:p>
          <a:p>
            <a:pPr lvl="1"/>
            <a:endParaRPr lang="en-GB" dirty="0" smtClean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79458"/>
      </p:ext>
    </p:extLst>
  </p:cSld>
  <p:clrMapOvr>
    <a:masterClrMapping/>
  </p:clrMapOvr>
  <p:transition xmlns:p14="http://schemas.microsoft.com/office/powerpoint/2010/main" spd="med"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Temel noktalar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Tasarım ve gerçekleştirme süreçleri, gereksinim belirtimini çalıştırılabilir bir yazılım sistemine dönüştürmekle ilgilenir.</a:t>
            </a:r>
          </a:p>
          <a:p>
            <a:r>
              <a:rPr lang="tr-TR" dirty="0" smtClean="0"/>
              <a:t>Yazılım geçerleme, sistemin belirtimine uyduğunu ve kullanıcılarının gerçek ihtiyaçlarını karşıladığını kontrol etme sürecidir.</a:t>
            </a:r>
          </a:p>
          <a:p>
            <a:r>
              <a:rPr lang="tr-TR" dirty="0" smtClean="0"/>
              <a:t>Yazılımın evrimi, mevcut yazılım sistemlerini yeni gereksinimleri karşılamak için değiştirdiğinizde gerçekleşir. Yazılım, kullanışlı kalabilmek için evrilmelidir.</a:t>
            </a:r>
          </a:p>
          <a:p>
            <a:r>
              <a:rPr lang="tr-TR" dirty="0"/>
              <a:t>Süreçler, değişimle başa çıkmak için prototipleme ve artımlı teslim gibi faaliyetler içermelidir.</a:t>
            </a:r>
            <a:r>
              <a:rPr lang="tr-TR" dirty="0" smtClean="0"/>
              <a:t/>
            </a:r>
            <a:r>
              <a:rPr lang="tr-TR" dirty="0"/>
              <a:t/>
            </a:r>
            <a:r>
              <a:rPr lang="tr-TR" dirty="0" smtClean="0"/>
              <a:t/>
            </a:r>
          </a:p>
          <a:p>
            <a:endParaRPr lang="en-GB" dirty="0" smtClean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00701"/>
      </p:ext>
    </p:extLst>
  </p:cSld>
  <p:clrMapOvr>
    <a:masterClrMapping/>
  </p:clrMapOvr>
  <p:transition xmlns:p14="http://schemas.microsoft.com/office/powerpoint/2010/main" spd="med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Temel noktalar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Süreçler, sistemin bütününü bozmadan değişiklik yapılabilmesi için yinelemeli geliştirme ve teslim biçiminde yapılandırılabilir.</a:t>
            </a:r>
          </a:p>
          <a:p>
            <a:r>
              <a:rPr lang="tr-TR" dirty="0"/>
              <a:t>Süreç iyileştirmenin başlıca yaklaşımları, süreç ek yüklerini azaltmaya yönelik çevik yaklaşımlar ile daha iyi süreç yönetimine ve iyi yazılım mühendisliği uygulamalarına dayanan olgunluk temelli yaklaşımlardır.</a:t>
            </a:r>
            <a:r>
              <a:rPr lang="tr-TR" dirty="0" smtClean="0"/>
              <a:t/>
            </a:r>
          </a:p>
          <a:p>
            <a:r>
              <a:rPr lang="tr-TR" dirty="0" smtClean="0"/>
              <a:t>SEI süreç olgunluğu çerçevesi, esas olarak iyi yazılım mühendisliği uygulamalarının kullanımına karşılık gelen olgunluk düzeylerini tanımlar.</a:t>
            </a:r>
            <a:endParaRPr lang="en-GB" dirty="0"/>
          </a:p>
          <a:p>
            <a:endParaRPr lang="en-GB" dirty="0" smtClean="0"/>
          </a:p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smtClean="0"/>
              <a:t>Bölüm 2 Yazılım Süreçleri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>
    <p:wipe dir="r"/>
  </p:transition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8998</TotalTime>
  <Words>3208</Words>
  <Application>Microsoft Macintosh PowerPoint</Application>
  <PresentationFormat>On-screen Show (4:3)</PresentationFormat>
  <Paragraphs>429</Paragraphs>
  <Slides>58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SE10 slides</vt:lpstr>
      <vt:lpstr>Chapter 2 – Software Processes</vt:lpstr>
      <vt:lpstr>Topics covered</vt:lpstr>
      <vt:lpstr>The software process</vt:lpstr>
      <vt:lpstr>Software process descriptions</vt:lpstr>
      <vt:lpstr>Plan-driven and agile processes</vt:lpstr>
      <vt:lpstr>Software process models</vt:lpstr>
      <vt:lpstr>Software process models</vt:lpstr>
      <vt:lpstr>The waterfall model </vt:lpstr>
      <vt:lpstr>Waterfall model phases</vt:lpstr>
      <vt:lpstr>Waterfall model problems</vt:lpstr>
      <vt:lpstr>Incremental development  </vt:lpstr>
      <vt:lpstr>Incremental development benefits</vt:lpstr>
      <vt:lpstr>Incremental development problems</vt:lpstr>
      <vt:lpstr>Integration and configuration</vt:lpstr>
      <vt:lpstr>Types of reusable software</vt:lpstr>
      <vt:lpstr>Reuse-oriented software engineering</vt:lpstr>
      <vt:lpstr>Key process stages</vt:lpstr>
      <vt:lpstr>Advantages and disadvantages</vt:lpstr>
      <vt:lpstr>Process activities</vt:lpstr>
      <vt:lpstr>Process activities</vt:lpstr>
      <vt:lpstr>The requirements engineering process </vt:lpstr>
      <vt:lpstr>Software specification</vt:lpstr>
      <vt:lpstr>Software design and implementation</vt:lpstr>
      <vt:lpstr>A general model of the design process  </vt:lpstr>
      <vt:lpstr>Design activities</vt:lpstr>
      <vt:lpstr>System implementation</vt:lpstr>
      <vt:lpstr>Software validation</vt:lpstr>
      <vt:lpstr>Stages of testing </vt:lpstr>
      <vt:lpstr>Testing stages</vt:lpstr>
      <vt:lpstr>Testing phases in a plan-driven software process (V-model)</vt:lpstr>
      <vt:lpstr>Software evolution</vt:lpstr>
      <vt:lpstr>System evolution </vt:lpstr>
      <vt:lpstr>Coping with change</vt:lpstr>
      <vt:lpstr>Coping with change</vt:lpstr>
      <vt:lpstr>Reducing the costs of rework</vt:lpstr>
      <vt:lpstr>Coping with changing requirements</vt:lpstr>
      <vt:lpstr>Software prototyping</vt:lpstr>
      <vt:lpstr>Benefits of prototyping</vt:lpstr>
      <vt:lpstr>The process of prototype development </vt:lpstr>
      <vt:lpstr>Prototype development</vt:lpstr>
      <vt:lpstr>Throw-away prototypes</vt:lpstr>
      <vt:lpstr>Incremental delivery</vt:lpstr>
      <vt:lpstr>Incremental development and delivery</vt:lpstr>
      <vt:lpstr>Incremental delivery </vt:lpstr>
      <vt:lpstr>Incremental delivery advantages</vt:lpstr>
      <vt:lpstr>Incremental delivery problems</vt:lpstr>
      <vt:lpstr>Process improvement</vt:lpstr>
      <vt:lpstr>Process improvement</vt:lpstr>
      <vt:lpstr>Approaches to improvement</vt:lpstr>
      <vt:lpstr>The process improvement cycle </vt:lpstr>
      <vt:lpstr>Process improvement activities</vt:lpstr>
      <vt:lpstr>Process measurement</vt:lpstr>
      <vt:lpstr>Process metrics</vt:lpstr>
      <vt:lpstr>Capability maturity levels</vt:lpstr>
      <vt:lpstr>The SEI capability maturity model</vt:lpstr>
      <vt:lpstr>Key points</vt:lpstr>
      <vt:lpstr>Key points</vt:lpstr>
      <vt:lpstr>Key points</vt:lpstr>
    </vt:vector>
  </TitlesOfParts>
  <Company>St Andrews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Figures-Chapter</dc:title>
  <dc:creator>Ian Sommerville</dc:creator>
  <cp:lastModifiedBy>Ian Sommerville</cp:lastModifiedBy>
  <cp:revision>26</cp:revision>
  <dcterms:created xsi:type="dcterms:W3CDTF">2010-01-06T19:57:16Z</dcterms:created>
  <dcterms:modified xsi:type="dcterms:W3CDTF">2014-10-30T13:46:38Z</dcterms:modified>
</cp:coreProperties>
</file>